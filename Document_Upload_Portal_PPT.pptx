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 id="257" r:id="rId6"/>
    <p:sldId id="258" r:id="rId7"/>
    <p:sldId id="259" r:id="rId8"/>
    <p:sldId id="260" r:id="rId9"/>
    <p:sldId id="261" r:id="rId10"/>
    <p:sldId id="262" r:id="rId11"/>
    <p:sldId id="263" r:id="rId12"/>
    <p:sldId id="282" r:id="rId13"/>
    <p:sldId id="283" r:id="rId14"/>
    <p:sldId id="266" r:id="rId15"/>
    <p:sldId id="284" r:id="rId16"/>
    <p:sldId id="285" r:id="rId17"/>
    <p:sldId id="269" r:id="rId18"/>
    <p:sldId id="271" r:id="rId19"/>
    <p:sldId id="273" r:id="rId20"/>
    <p:sldId id="274" r:id="rId21"/>
    <p:sldId id="275" r:id="rId22"/>
    <p:sldId id="276" r:id="rId23"/>
    <p:sldId id="277" r:id="rId24"/>
    <p:sldId id="278" r:id="rId25"/>
    <p:sldId id="279" r:id="rId26"/>
    <p:sldId id="280" r:id="rId27"/>
    <p:sldId id="281"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7B2CC6-26B4-48E7-B18F-CE55405DB2CD}" v="48" dt="2026-05-23T14:47:22.242"/>
    <p1510:client id="{D33C1811-CA99-58B1-0BE3-21D0396BB763}" v="2" dt="2026-05-24T12:31:17.8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snapToObjects="1">
      <p:cViewPr varScale="1">
        <p:scale>
          <a:sx n="83" d="100"/>
          <a:sy n="83" d="100"/>
        </p:scale>
        <p:origin x="435" y="4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bey, Manish (Cognizant)" userId="S::2371402@cognizant.com::a50a5a91-7942-4cd4-a0f5-47e4a96abf7f" providerId="AD" clId="Web-{D33C1811-CA99-58B1-0BE3-21D0396BB763}"/>
    <pc:docChg chg="sldOrd">
      <pc:chgData name="Dubey, Manish (Cognizant)" userId="S::2371402@cognizant.com::a50a5a91-7942-4cd4-a0f5-47e4a96abf7f" providerId="AD" clId="Web-{D33C1811-CA99-58B1-0BE3-21D0396BB763}" dt="2026-05-24T12:31:17.817" v="1"/>
      <pc:docMkLst>
        <pc:docMk/>
      </pc:docMkLst>
      <pc:sldChg chg="ord">
        <pc:chgData name="Dubey, Manish (Cognizant)" userId="S::2371402@cognizant.com::a50a5a91-7942-4cd4-a0f5-47e4a96abf7f" providerId="AD" clId="Web-{D33C1811-CA99-58B1-0BE3-21D0396BB763}" dt="2026-05-24T12:31:05.723" v="0"/>
        <pc:sldMkLst>
          <pc:docMk/>
          <pc:sldMk cId="0" sldId="280"/>
        </pc:sldMkLst>
      </pc:sldChg>
      <pc:sldChg chg="ord">
        <pc:chgData name="Dubey, Manish (Cognizant)" userId="S::2371402@cognizant.com::a50a5a91-7942-4cd4-a0f5-47e4a96abf7f" providerId="AD" clId="Web-{D33C1811-CA99-58B1-0BE3-21D0396BB763}" dt="2026-05-24T12:31:17.817" v="1"/>
        <pc:sldMkLst>
          <pc:docMk/>
          <pc:sldMk cId="0" sldId="281"/>
        </pc:sldMkLst>
      </pc:sldChg>
    </pc:docChg>
  </pc:docChgLst>
  <pc:docChgLst>
    <pc:chgData name="Vasapilli, Venkateswaramma (Cognizant)" userId="5d6181c3-31b7-4cdf-b869-a73168a4cc66" providerId="ADAL" clId="{831FCA6E-DA30-4629-8629-C2EC9055A6C7}"/>
    <pc:docChg chg="undo custSel modSld">
      <pc:chgData name="Vasapilli, Venkateswaramma (Cognizant)" userId="5d6181c3-31b7-4cdf-b869-a73168a4cc66" providerId="ADAL" clId="{831FCA6E-DA30-4629-8629-C2EC9055A6C7}" dt="2026-05-23T14:50:02.524" v="80" actId="20577"/>
      <pc:docMkLst>
        <pc:docMk/>
      </pc:docMkLst>
      <pc:sldChg chg="modSp mod modTransition">
        <pc:chgData name="Vasapilli, Venkateswaramma (Cognizant)" userId="5d6181c3-31b7-4cdf-b869-a73168a4cc66" providerId="ADAL" clId="{831FCA6E-DA30-4629-8629-C2EC9055A6C7}" dt="2026-05-23T14:41:41.207" v="38"/>
        <pc:sldMkLst>
          <pc:docMk/>
          <pc:sldMk cId="0" sldId="256"/>
        </pc:sldMkLst>
        <pc:spChg chg="mod">
          <ac:chgData name="Vasapilli, Venkateswaramma (Cognizant)" userId="5d6181c3-31b7-4cdf-b869-a73168a4cc66" providerId="ADAL" clId="{831FCA6E-DA30-4629-8629-C2EC9055A6C7}" dt="2026-05-23T14:33:14.057" v="1" actId="20577"/>
          <ac:spMkLst>
            <pc:docMk/>
            <pc:sldMk cId="0" sldId="256"/>
            <ac:spMk id="8" creationId="{00000000-0000-0000-0000-000000000000}"/>
          </ac:spMkLst>
        </pc:spChg>
      </pc:sldChg>
      <pc:sldChg chg="modTransition">
        <pc:chgData name="Vasapilli, Venkateswaramma (Cognizant)" userId="5d6181c3-31b7-4cdf-b869-a73168a4cc66" providerId="ADAL" clId="{831FCA6E-DA30-4629-8629-C2EC9055A6C7}" dt="2026-05-23T14:42:01.277" v="40"/>
        <pc:sldMkLst>
          <pc:docMk/>
          <pc:sldMk cId="0" sldId="257"/>
        </pc:sldMkLst>
      </pc:sldChg>
      <pc:sldChg chg="modTransition">
        <pc:chgData name="Vasapilli, Venkateswaramma (Cognizant)" userId="5d6181c3-31b7-4cdf-b869-a73168a4cc66" providerId="ADAL" clId="{831FCA6E-DA30-4629-8629-C2EC9055A6C7}" dt="2026-05-23T14:42:10.711" v="41"/>
        <pc:sldMkLst>
          <pc:docMk/>
          <pc:sldMk cId="0" sldId="258"/>
        </pc:sldMkLst>
      </pc:sldChg>
      <pc:sldChg chg="modTransition">
        <pc:chgData name="Vasapilli, Venkateswaramma (Cognizant)" userId="5d6181c3-31b7-4cdf-b869-a73168a4cc66" providerId="ADAL" clId="{831FCA6E-DA30-4629-8629-C2EC9055A6C7}" dt="2026-05-23T14:43:03.633" v="43"/>
        <pc:sldMkLst>
          <pc:docMk/>
          <pc:sldMk cId="0" sldId="259"/>
        </pc:sldMkLst>
      </pc:sldChg>
      <pc:sldChg chg="modTransition">
        <pc:chgData name="Vasapilli, Venkateswaramma (Cognizant)" userId="5d6181c3-31b7-4cdf-b869-a73168a4cc66" providerId="ADAL" clId="{831FCA6E-DA30-4629-8629-C2EC9055A6C7}" dt="2026-05-23T14:43:10.551" v="44"/>
        <pc:sldMkLst>
          <pc:docMk/>
          <pc:sldMk cId="0" sldId="260"/>
        </pc:sldMkLst>
      </pc:sldChg>
      <pc:sldChg chg="modSp mod modTransition">
        <pc:chgData name="Vasapilli, Venkateswaramma (Cognizant)" userId="5d6181c3-31b7-4cdf-b869-a73168a4cc66" providerId="ADAL" clId="{831FCA6E-DA30-4629-8629-C2EC9055A6C7}" dt="2026-05-23T14:43:24.214" v="45"/>
        <pc:sldMkLst>
          <pc:docMk/>
          <pc:sldMk cId="0" sldId="261"/>
        </pc:sldMkLst>
        <pc:picChg chg="mod">
          <ac:chgData name="Vasapilli, Venkateswaramma (Cognizant)" userId="5d6181c3-31b7-4cdf-b869-a73168a4cc66" providerId="ADAL" clId="{831FCA6E-DA30-4629-8629-C2EC9055A6C7}" dt="2026-05-23T14:36:59.157" v="7" actId="1440"/>
          <ac:picMkLst>
            <pc:docMk/>
            <pc:sldMk cId="0" sldId="261"/>
            <ac:picMk id="99" creationId="{00000000-0000-0000-0000-000000000000}"/>
          </ac:picMkLst>
        </pc:picChg>
      </pc:sldChg>
      <pc:sldChg chg="modTransition">
        <pc:chgData name="Vasapilli, Venkateswaramma (Cognizant)" userId="5d6181c3-31b7-4cdf-b869-a73168a4cc66" providerId="ADAL" clId="{831FCA6E-DA30-4629-8629-C2EC9055A6C7}" dt="2026-05-23T14:43:43.381" v="47"/>
        <pc:sldMkLst>
          <pc:docMk/>
          <pc:sldMk cId="0" sldId="262"/>
        </pc:sldMkLst>
      </pc:sldChg>
      <pc:sldChg chg="modSp mod modTransition">
        <pc:chgData name="Vasapilli, Venkateswaramma (Cognizant)" userId="5d6181c3-31b7-4cdf-b869-a73168a4cc66" providerId="ADAL" clId="{831FCA6E-DA30-4629-8629-C2EC9055A6C7}" dt="2026-05-23T14:43:54.570" v="48"/>
        <pc:sldMkLst>
          <pc:docMk/>
          <pc:sldMk cId="0" sldId="263"/>
        </pc:sldMkLst>
        <pc:picChg chg="mod">
          <ac:chgData name="Vasapilli, Venkateswaramma (Cognizant)" userId="5d6181c3-31b7-4cdf-b869-a73168a4cc66" providerId="ADAL" clId="{831FCA6E-DA30-4629-8629-C2EC9055A6C7}" dt="2026-05-23T14:37:26.868" v="8" actId="1440"/>
          <ac:picMkLst>
            <pc:docMk/>
            <pc:sldMk cId="0" sldId="263"/>
            <ac:picMk id="99" creationId="{00000000-0000-0000-0000-000000000000}"/>
          </ac:picMkLst>
        </pc:picChg>
      </pc:sldChg>
      <pc:sldChg chg="modSp mod modTransition">
        <pc:chgData name="Vasapilli, Venkateswaramma (Cognizant)" userId="5d6181c3-31b7-4cdf-b869-a73168a4cc66" providerId="ADAL" clId="{831FCA6E-DA30-4629-8629-C2EC9055A6C7}" dt="2026-05-23T14:44:05.209" v="49"/>
        <pc:sldMkLst>
          <pc:docMk/>
          <pc:sldMk cId="0" sldId="264"/>
        </pc:sldMkLst>
        <pc:picChg chg="mod">
          <ac:chgData name="Vasapilli, Venkateswaramma (Cognizant)" userId="5d6181c3-31b7-4cdf-b869-a73168a4cc66" providerId="ADAL" clId="{831FCA6E-DA30-4629-8629-C2EC9055A6C7}" dt="2026-05-23T14:38:02.697" v="10" actId="1440"/>
          <ac:picMkLst>
            <pc:docMk/>
            <pc:sldMk cId="0" sldId="264"/>
            <ac:picMk id="99" creationId="{00000000-0000-0000-0000-000000000000}"/>
          </ac:picMkLst>
        </pc:picChg>
      </pc:sldChg>
      <pc:sldChg chg="modSp mod modTransition">
        <pc:chgData name="Vasapilli, Venkateswaramma (Cognizant)" userId="5d6181c3-31b7-4cdf-b869-a73168a4cc66" providerId="ADAL" clId="{831FCA6E-DA30-4629-8629-C2EC9055A6C7}" dt="2026-05-23T14:44:17.876" v="50"/>
        <pc:sldMkLst>
          <pc:docMk/>
          <pc:sldMk cId="0" sldId="265"/>
        </pc:sldMkLst>
        <pc:picChg chg="mod">
          <ac:chgData name="Vasapilli, Venkateswaramma (Cognizant)" userId="5d6181c3-31b7-4cdf-b869-a73168a4cc66" providerId="ADAL" clId="{831FCA6E-DA30-4629-8629-C2EC9055A6C7}" dt="2026-05-23T14:38:18.813" v="11" actId="1440"/>
          <ac:picMkLst>
            <pc:docMk/>
            <pc:sldMk cId="0" sldId="265"/>
            <ac:picMk id="99" creationId="{00000000-0000-0000-0000-000000000000}"/>
          </ac:picMkLst>
        </pc:picChg>
      </pc:sldChg>
      <pc:sldChg chg="modTransition">
        <pc:chgData name="Vasapilli, Venkateswaramma (Cognizant)" userId="5d6181c3-31b7-4cdf-b869-a73168a4cc66" providerId="ADAL" clId="{831FCA6E-DA30-4629-8629-C2EC9055A6C7}" dt="2026-05-23T14:44:28.307" v="51"/>
        <pc:sldMkLst>
          <pc:docMk/>
          <pc:sldMk cId="0" sldId="266"/>
        </pc:sldMkLst>
      </pc:sldChg>
      <pc:sldChg chg="modSp mod modTransition">
        <pc:chgData name="Vasapilli, Venkateswaramma (Cognizant)" userId="5d6181c3-31b7-4cdf-b869-a73168a4cc66" providerId="ADAL" clId="{831FCA6E-DA30-4629-8629-C2EC9055A6C7}" dt="2026-05-23T14:44:37.096" v="52"/>
        <pc:sldMkLst>
          <pc:docMk/>
          <pc:sldMk cId="0" sldId="267"/>
        </pc:sldMkLst>
        <pc:picChg chg="mod">
          <ac:chgData name="Vasapilli, Venkateswaramma (Cognizant)" userId="5d6181c3-31b7-4cdf-b869-a73168a4cc66" providerId="ADAL" clId="{831FCA6E-DA30-4629-8629-C2EC9055A6C7}" dt="2026-05-23T14:38:31.130" v="12" actId="1440"/>
          <ac:picMkLst>
            <pc:docMk/>
            <pc:sldMk cId="0" sldId="267"/>
            <ac:picMk id="99" creationId="{00000000-0000-0000-0000-000000000000}"/>
          </ac:picMkLst>
        </pc:picChg>
      </pc:sldChg>
      <pc:sldChg chg="modSp mod modTransition">
        <pc:chgData name="Vasapilli, Venkateswaramma (Cognizant)" userId="5d6181c3-31b7-4cdf-b869-a73168a4cc66" providerId="ADAL" clId="{831FCA6E-DA30-4629-8629-C2EC9055A6C7}" dt="2026-05-23T14:44:50.829" v="53"/>
        <pc:sldMkLst>
          <pc:docMk/>
          <pc:sldMk cId="0" sldId="268"/>
        </pc:sldMkLst>
        <pc:picChg chg="mod">
          <ac:chgData name="Vasapilli, Venkateswaramma (Cognizant)" userId="5d6181c3-31b7-4cdf-b869-a73168a4cc66" providerId="ADAL" clId="{831FCA6E-DA30-4629-8629-C2EC9055A6C7}" dt="2026-05-23T14:39:12.937" v="18" actId="1440"/>
          <ac:picMkLst>
            <pc:docMk/>
            <pc:sldMk cId="0" sldId="268"/>
            <ac:picMk id="20" creationId="{00000000-0000-0000-0000-000000000000}"/>
          </ac:picMkLst>
        </pc:picChg>
        <pc:picChg chg="mod">
          <ac:chgData name="Vasapilli, Venkateswaramma (Cognizant)" userId="5d6181c3-31b7-4cdf-b869-a73168a4cc66" providerId="ADAL" clId="{831FCA6E-DA30-4629-8629-C2EC9055A6C7}" dt="2026-05-23T14:39:12.247" v="17" actId="1440"/>
          <ac:picMkLst>
            <pc:docMk/>
            <pc:sldMk cId="0" sldId="268"/>
            <ac:picMk id="21" creationId="{00000000-0000-0000-0000-000000000000}"/>
          </ac:picMkLst>
        </pc:picChg>
        <pc:picChg chg="mod">
          <ac:chgData name="Vasapilli, Venkateswaramma (Cognizant)" userId="5d6181c3-31b7-4cdf-b869-a73168a4cc66" providerId="ADAL" clId="{831FCA6E-DA30-4629-8629-C2EC9055A6C7}" dt="2026-05-23T14:39:11.513" v="16" actId="1440"/>
          <ac:picMkLst>
            <pc:docMk/>
            <pc:sldMk cId="0" sldId="268"/>
            <ac:picMk id="22" creationId="{00000000-0000-0000-0000-000000000000}"/>
          </ac:picMkLst>
        </pc:picChg>
      </pc:sldChg>
      <pc:sldChg chg="modSp mod modTransition">
        <pc:chgData name="Vasapilli, Venkateswaramma (Cognizant)" userId="5d6181c3-31b7-4cdf-b869-a73168a4cc66" providerId="ADAL" clId="{831FCA6E-DA30-4629-8629-C2EC9055A6C7}" dt="2026-05-23T14:45:03.075" v="54"/>
        <pc:sldMkLst>
          <pc:docMk/>
          <pc:sldMk cId="0" sldId="269"/>
        </pc:sldMkLst>
        <pc:picChg chg="mod">
          <ac:chgData name="Vasapilli, Venkateswaramma (Cognizant)" userId="5d6181c3-31b7-4cdf-b869-a73168a4cc66" providerId="ADAL" clId="{831FCA6E-DA30-4629-8629-C2EC9055A6C7}" dt="2026-05-23T14:39:32.344" v="19" actId="1440"/>
          <ac:picMkLst>
            <pc:docMk/>
            <pc:sldMk cId="0" sldId="269"/>
            <ac:picMk id="99" creationId="{00000000-0000-0000-0000-000000000000}"/>
          </ac:picMkLst>
        </pc:picChg>
      </pc:sldChg>
      <pc:sldChg chg="modSp mod modTransition">
        <pc:chgData name="Vasapilli, Venkateswaramma (Cognizant)" userId="5d6181c3-31b7-4cdf-b869-a73168a4cc66" providerId="ADAL" clId="{831FCA6E-DA30-4629-8629-C2EC9055A6C7}" dt="2026-05-23T14:45:13.163" v="55"/>
        <pc:sldMkLst>
          <pc:docMk/>
          <pc:sldMk cId="0" sldId="270"/>
        </pc:sldMkLst>
        <pc:picChg chg="mod">
          <ac:chgData name="Vasapilli, Venkateswaramma (Cognizant)" userId="5d6181c3-31b7-4cdf-b869-a73168a4cc66" providerId="ADAL" clId="{831FCA6E-DA30-4629-8629-C2EC9055A6C7}" dt="2026-05-23T14:39:46.264" v="20" actId="1440"/>
          <ac:picMkLst>
            <pc:docMk/>
            <pc:sldMk cId="0" sldId="270"/>
            <ac:picMk id="99" creationId="{00000000-0000-0000-0000-000000000000}"/>
          </ac:picMkLst>
        </pc:picChg>
      </pc:sldChg>
      <pc:sldChg chg="modSp mod modTransition">
        <pc:chgData name="Vasapilli, Venkateswaramma (Cognizant)" userId="5d6181c3-31b7-4cdf-b869-a73168a4cc66" providerId="ADAL" clId="{831FCA6E-DA30-4629-8629-C2EC9055A6C7}" dt="2026-05-23T14:45:22.771" v="56"/>
        <pc:sldMkLst>
          <pc:docMk/>
          <pc:sldMk cId="0" sldId="271"/>
        </pc:sldMkLst>
        <pc:picChg chg="mod">
          <ac:chgData name="Vasapilli, Venkateswaramma (Cognizant)" userId="5d6181c3-31b7-4cdf-b869-a73168a4cc66" providerId="ADAL" clId="{831FCA6E-DA30-4629-8629-C2EC9055A6C7}" dt="2026-05-23T14:39:56.306" v="21" actId="1440"/>
          <ac:picMkLst>
            <pc:docMk/>
            <pc:sldMk cId="0" sldId="271"/>
            <ac:picMk id="99" creationId="{00000000-0000-0000-0000-000000000000}"/>
          </ac:picMkLst>
        </pc:picChg>
      </pc:sldChg>
      <pc:sldChg chg="modSp mod modTransition">
        <pc:chgData name="Vasapilli, Venkateswaramma (Cognizant)" userId="5d6181c3-31b7-4cdf-b869-a73168a4cc66" providerId="ADAL" clId="{831FCA6E-DA30-4629-8629-C2EC9055A6C7}" dt="2026-05-23T14:45:41.135" v="58"/>
        <pc:sldMkLst>
          <pc:docMk/>
          <pc:sldMk cId="0" sldId="272"/>
        </pc:sldMkLst>
        <pc:picChg chg="mod">
          <ac:chgData name="Vasapilli, Venkateswaramma (Cognizant)" userId="5d6181c3-31b7-4cdf-b869-a73168a4cc66" providerId="ADAL" clId="{831FCA6E-DA30-4629-8629-C2EC9055A6C7}" dt="2026-05-23T14:40:04.573" v="22" actId="1440"/>
          <ac:picMkLst>
            <pc:docMk/>
            <pc:sldMk cId="0" sldId="272"/>
            <ac:picMk id="99" creationId="{00000000-0000-0000-0000-000000000000}"/>
          </ac:picMkLst>
        </pc:picChg>
      </pc:sldChg>
      <pc:sldChg chg="modSp mod modTransition">
        <pc:chgData name="Vasapilli, Venkateswaramma (Cognizant)" userId="5d6181c3-31b7-4cdf-b869-a73168a4cc66" providerId="ADAL" clId="{831FCA6E-DA30-4629-8629-C2EC9055A6C7}" dt="2026-05-23T14:45:49.423" v="59"/>
        <pc:sldMkLst>
          <pc:docMk/>
          <pc:sldMk cId="0" sldId="273"/>
        </pc:sldMkLst>
        <pc:picChg chg="mod">
          <ac:chgData name="Vasapilli, Venkateswaramma (Cognizant)" userId="5d6181c3-31b7-4cdf-b869-a73168a4cc66" providerId="ADAL" clId="{831FCA6E-DA30-4629-8629-C2EC9055A6C7}" dt="2026-05-23T14:40:12.922" v="23" actId="1440"/>
          <ac:picMkLst>
            <pc:docMk/>
            <pc:sldMk cId="0" sldId="273"/>
            <ac:picMk id="99" creationId="{00000000-0000-0000-0000-000000000000}"/>
          </ac:picMkLst>
        </pc:picChg>
      </pc:sldChg>
      <pc:sldChg chg="modTransition">
        <pc:chgData name="Vasapilli, Venkateswaramma (Cognizant)" userId="5d6181c3-31b7-4cdf-b869-a73168a4cc66" providerId="ADAL" clId="{831FCA6E-DA30-4629-8629-C2EC9055A6C7}" dt="2026-05-23T14:45:55.918" v="60"/>
        <pc:sldMkLst>
          <pc:docMk/>
          <pc:sldMk cId="0" sldId="274"/>
        </pc:sldMkLst>
      </pc:sldChg>
      <pc:sldChg chg="modTransition">
        <pc:chgData name="Vasapilli, Venkateswaramma (Cognizant)" userId="5d6181c3-31b7-4cdf-b869-a73168a4cc66" providerId="ADAL" clId="{831FCA6E-DA30-4629-8629-C2EC9055A6C7}" dt="2026-05-23T14:46:04.700" v="61"/>
        <pc:sldMkLst>
          <pc:docMk/>
          <pc:sldMk cId="0" sldId="275"/>
        </pc:sldMkLst>
      </pc:sldChg>
      <pc:sldChg chg="modSp mod modTransition">
        <pc:chgData name="Vasapilli, Venkateswaramma (Cognizant)" userId="5d6181c3-31b7-4cdf-b869-a73168a4cc66" providerId="ADAL" clId="{831FCA6E-DA30-4629-8629-C2EC9055A6C7}" dt="2026-05-23T14:46:20.999" v="64"/>
        <pc:sldMkLst>
          <pc:docMk/>
          <pc:sldMk cId="0" sldId="276"/>
        </pc:sldMkLst>
        <pc:picChg chg="mod">
          <ac:chgData name="Vasapilli, Venkateswaramma (Cognizant)" userId="5d6181c3-31b7-4cdf-b869-a73168a4cc66" providerId="ADAL" clId="{831FCA6E-DA30-4629-8629-C2EC9055A6C7}" dt="2026-05-23T14:40:21.718" v="24" actId="1440"/>
          <ac:picMkLst>
            <pc:docMk/>
            <pc:sldMk cId="0" sldId="276"/>
            <ac:picMk id="20" creationId="{00000000-0000-0000-0000-000000000000}"/>
          </ac:picMkLst>
        </pc:picChg>
      </pc:sldChg>
      <pc:sldChg chg="modSp mod modTransition">
        <pc:chgData name="Vasapilli, Venkateswaramma (Cognizant)" userId="5d6181c3-31b7-4cdf-b869-a73168a4cc66" providerId="ADAL" clId="{831FCA6E-DA30-4629-8629-C2EC9055A6C7}" dt="2026-05-23T14:46:33.473" v="67"/>
        <pc:sldMkLst>
          <pc:docMk/>
          <pc:sldMk cId="0" sldId="277"/>
        </pc:sldMkLst>
        <pc:picChg chg="mod">
          <ac:chgData name="Vasapilli, Venkateswaramma (Cognizant)" userId="5d6181c3-31b7-4cdf-b869-a73168a4cc66" providerId="ADAL" clId="{831FCA6E-DA30-4629-8629-C2EC9055A6C7}" dt="2026-05-23T14:40:29.371" v="25" actId="1440"/>
          <ac:picMkLst>
            <pc:docMk/>
            <pc:sldMk cId="0" sldId="277"/>
            <ac:picMk id="20" creationId="{00000000-0000-0000-0000-000000000000}"/>
          </ac:picMkLst>
        </pc:picChg>
      </pc:sldChg>
      <pc:sldChg chg="modTransition">
        <pc:chgData name="Vasapilli, Venkateswaramma (Cognizant)" userId="5d6181c3-31b7-4cdf-b869-a73168a4cc66" providerId="ADAL" clId="{831FCA6E-DA30-4629-8629-C2EC9055A6C7}" dt="2026-05-23T14:46:44.448" v="68"/>
        <pc:sldMkLst>
          <pc:docMk/>
          <pc:sldMk cId="0" sldId="278"/>
        </pc:sldMkLst>
      </pc:sldChg>
      <pc:sldChg chg="modSp mod modTransition">
        <pc:chgData name="Vasapilli, Venkateswaramma (Cognizant)" userId="5d6181c3-31b7-4cdf-b869-a73168a4cc66" providerId="ADAL" clId="{831FCA6E-DA30-4629-8629-C2EC9055A6C7}" dt="2026-05-23T14:46:55.638" v="69"/>
        <pc:sldMkLst>
          <pc:docMk/>
          <pc:sldMk cId="0" sldId="279"/>
        </pc:sldMkLst>
        <pc:picChg chg="mod">
          <ac:chgData name="Vasapilli, Venkateswaramma (Cognizant)" userId="5d6181c3-31b7-4cdf-b869-a73168a4cc66" providerId="ADAL" clId="{831FCA6E-DA30-4629-8629-C2EC9055A6C7}" dt="2026-05-23T14:40:37.902" v="26" actId="1440"/>
          <ac:picMkLst>
            <pc:docMk/>
            <pc:sldMk cId="0" sldId="279"/>
            <ac:picMk id="99" creationId="{00000000-0000-0000-0000-000000000000}"/>
          </ac:picMkLst>
        </pc:picChg>
      </pc:sldChg>
      <pc:sldChg chg="modSp mod modTransition">
        <pc:chgData name="Vasapilli, Venkateswaramma (Cognizant)" userId="5d6181c3-31b7-4cdf-b869-a73168a4cc66" providerId="ADAL" clId="{831FCA6E-DA30-4629-8629-C2EC9055A6C7}" dt="2026-05-23T14:47:02.733" v="70"/>
        <pc:sldMkLst>
          <pc:docMk/>
          <pc:sldMk cId="0" sldId="280"/>
        </pc:sldMkLst>
        <pc:spChg chg="mod">
          <ac:chgData name="Vasapilli, Venkateswaramma (Cognizant)" userId="5d6181c3-31b7-4cdf-b869-a73168a4cc66" providerId="ADAL" clId="{831FCA6E-DA30-4629-8629-C2EC9055A6C7}" dt="2026-05-23T14:35:16.563" v="6"/>
          <ac:spMkLst>
            <pc:docMk/>
            <pc:sldMk cId="0" sldId="280"/>
            <ac:spMk id="7" creationId="{00000000-0000-0000-0000-000000000000}"/>
          </ac:spMkLst>
        </pc:spChg>
      </pc:sldChg>
      <pc:sldChg chg="modSp mod modTransition">
        <pc:chgData name="Vasapilli, Venkateswaramma (Cognizant)" userId="5d6181c3-31b7-4cdf-b869-a73168a4cc66" providerId="ADAL" clId="{831FCA6E-DA30-4629-8629-C2EC9055A6C7}" dt="2026-05-23T14:50:02.524" v="80" actId="20577"/>
        <pc:sldMkLst>
          <pc:docMk/>
          <pc:sldMk cId="0" sldId="281"/>
        </pc:sldMkLst>
        <pc:spChg chg="mod">
          <ac:chgData name="Vasapilli, Venkateswaramma (Cognizant)" userId="5d6181c3-31b7-4cdf-b869-a73168a4cc66" providerId="ADAL" clId="{831FCA6E-DA30-4629-8629-C2EC9055A6C7}" dt="2026-05-23T14:50:02.524" v="80" actId="20577"/>
          <ac:spMkLst>
            <pc:docMk/>
            <pc:sldMk cId="0" sldId="281"/>
            <ac:spMk id="7"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p:blipFill>
        <p:spPr>
          <a:xfrm>
            <a:off x="0" y="0"/>
            <a:ext cx="12192000" cy="6858000"/>
          </a:xfrm>
          <a:prstGeom prst="rect">
            <a:avLst/>
          </a:prstGeom>
        </p:spPr>
      </p:pic>
      <p:pic>
        <p:nvPicPr>
          <p:cNvPr id="6" name="CognizantLogo"/>
          <p:cNvPicPr>
            <a:picLocks noChangeAspect="1"/>
          </p:cNvPicPr>
          <p:nvPr/>
        </p:nvPicPr>
        <p:blipFill>
          <a:blip r:embed="rId3"/>
          <a:stretch/>
        </p:blipFill>
        <p:spPr>
          <a:xfrm>
            <a:off x="457200" y="411480"/>
            <a:ext cx="2286000" cy="411480"/>
          </a:xfrm>
          <a:prstGeom prst="rect">
            <a:avLst/>
          </a:prstGeom>
        </p:spPr>
      </p:pic>
      <p:sp>
        <p:nvSpPr>
          <p:cNvPr id="7" name="TextBox 6"/>
          <p:cNvSpPr txBox="1"/>
          <p:nvPr/>
        </p:nvSpPr>
        <p:spPr>
          <a:xfrm>
            <a:off x="640080" y="2103120"/>
            <a:ext cx="7772400" cy="1393138"/>
          </a:xfrm>
          <a:prstGeom prst="rect">
            <a:avLst/>
          </a:prstGeom>
          <a:noFill/>
        </p:spPr>
        <p:txBody>
          <a:bodyPr wrap="square" lIns="0" tIns="0" rIns="0" bIns="0" anchor="t">
            <a:spAutoFit/>
          </a:bodyPr>
          <a:lstStyle/>
          <a:p>
            <a:pPr algn="l">
              <a:lnSpc>
                <a:spcPct val="105000"/>
              </a:lnSpc>
            </a:pPr>
            <a:r>
              <a:rPr lang="en-US" sz="4400" b="1" dirty="0">
                <a:solidFill>
                  <a:srgbClr val="FFFFFF"/>
                </a:solidFill>
                <a:latin typeface="Calibri"/>
              </a:rPr>
              <a:t>Document Upload Portal</a:t>
            </a:r>
            <a:r>
              <a:rPr sz="4400" b="1" dirty="0">
                <a:solidFill>
                  <a:srgbClr val="FFFFFF"/>
                </a:solidFill>
                <a:latin typeface="Calibri"/>
              </a:rPr>
              <a:t> –</a:t>
            </a:r>
          </a:p>
          <a:p>
            <a:pPr algn="l">
              <a:lnSpc>
                <a:spcPct val="105000"/>
              </a:lnSpc>
            </a:pPr>
            <a:r>
              <a:rPr sz="4400" b="1" dirty="0">
                <a:solidFill>
                  <a:srgbClr val="FFFFFF"/>
                </a:solidFill>
                <a:latin typeface="Calibri"/>
              </a:rPr>
              <a:t>ARCHITECTURE &amp; DESIGN</a:t>
            </a:r>
          </a:p>
        </p:txBody>
      </p:sp>
      <p:sp>
        <p:nvSpPr>
          <p:cNvPr id="8" name="TextBox 7"/>
          <p:cNvSpPr txBox="1"/>
          <p:nvPr/>
        </p:nvSpPr>
        <p:spPr>
          <a:xfrm>
            <a:off x="640080" y="4114800"/>
            <a:ext cx="7315200" cy="299826"/>
          </a:xfrm>
          <a:prstGeom prst="rect">
            <a:avLst/>
          </a:prstGeom>
          <a:noFill/>
        </p:spPr>
        <p:txBody>
          <a:bodyPr wrap="square" lIns="0" tIns="0" rIns="0" bIns="0" anchor="t">
            <a:spAutoFit/>
          </a:bodyPr>
          <a:lstStyle/>
          <a:p>
            <a:pPr algn="l">
              <a:lnSpc>
                <a:spcPct val="115000"/>
              </a:lnSpc>
            </a:pPr>
            <a:r>
              <a:rPr lang="en-US" sz="1800" b="0" dirty="0">
                <a:solidFill>
                  <a:srgbClr val="E8ECF4"/>
                </a:solidFill>
                <a:latin typeface="Calibri"/>
              </a:rPr>
              <a:t>Sprint</a:t>
            </a:r>
            <a:r>
              <a:rPr sz="1800" b="0" dirty="0">
                <a:solidFill>
                  <a:srgbClr val="E8ECF4"/>
                </a:solidFill>
                <a:latin typeface="Calibri"/>
              </a:rPr>
              <a:t> </a:t>
            </a:r>
            <a:r>
              <a:rPr lang="en-IN" dirty="0">
                <a:solidFill>
                  <a:srgbClr val="E8ECF4"/>
                </a:solidFill>
                <a:latin typeface="Calibri"/>
              </a:rPr>
              <a:t>1</a:t>
            </a:r>
            <a:r>
              <a:rPr sz="1800" b="0" dirty="0">
                <a:solidFill>
                  <a:srgbClr val="E8ECF4"/>
                </a:solidFill>
                <a:latin typeface="Calibri"/>
              </a:rPr>
              <a:t> – UPGRADE </a:t>
            </a:r>
            <a:r>
              <a:rPr lang="en-US" sz="1800" b="0" dirty="0">
                <a:solidFill>
                  <a:srgbClr val="E8ECF4"/>
                </a:solidFill>
                <a:latin typeface="Calibri"/>
              </a:rPr>
              <a:t>2</a:t>
            </a:r>
            <a:r>
              <a:rPr sz="1800" b="0" dirty="0">
                <a:solidFill>
                  <a:srgbClr val="E8ECF4"/>
                </a:solidFill>
                <a:latin typeface="Calibri"/>
              </a:rPr>
              <a:t> ARCHITECT</a:t>
            </a:r>
          </a:p>
        </p:txBody>
      </p:sp>
      <p:sp>
        <p:nvSpPr>
          <p:cNvPr id="9" name="TextBox 8"/>
          <p:cNvSpPr txBox="1"/>
          <p:nvPr/>
        </p:nvSpPr>
        <p:spPr>
          <a:xfrm>
            <a:off x="640080" y="4572000"/>
            <a:ext cx="7315200" cy="233205"/>
          </a:xfrm>
          <a:prstGeom prst="rect">
            <a:avLst/>
          </a:prstGeom>
          <a:noFill/>
        </p:spPr>
        <p:txBody>
          <a:bodyPr wrap="square" lIns="0" tIns="0" rIns="0" bIns="0" anchor="t">
            <a:spAutoFit/>
          </a:bodyPr>
          <a:lstStyle/>
          <a:p>
            <a:pPr algn="l">
              <a:lnSpc>
                <a:spcPct val="115000"/>
              </a:lnSpc>
            </a:pPr>
            <a:r>
              <a:rPr lang="en-US" sz="1400" b="1" dirty="0">
                <a:solidFill>
                  <a:srgbClr val="B8C6E3"/>
                </a:solidFill>
                <a:latin typeface="Calibri"/>
              </a:rPr>
              <a:t>June</a:t>
            </a:r>
            <a:r>
              <a:rPr sz="1400" b="1" dirty="0">
                <a:solidFill>
                  <a:srgbClr val="B8C6E3"/>
                </a:solidFill>
                <a:latin typeface="Calibri"/>
              </a:rPr>
              <a:t> 2026</a:t>
            </a:r>
          </a:p>
        </p:txBody>
      </p:sp>
      <p:sp>
        <p:nvSpPr>
          <p:cNvPr id="10" name="TextBox 9"/>
          <p:cNvSpPr txBox="1"/>
          <p:nvPr/>
        </p:nvSpPr>
        <p:spPr>
          <a:xfrm>
            <a:off x="640080" y="5120640"/>
            <a:ext cx="7315200" cy="199927"/>
          </a:xfrm>
          <a:prstGeom prst="rect">
            <a:avLst/>
          </a:prstGeom>
          <a:noFill/>
        </p:spPr>
        <p:txBody>
          <a:bodyPr wrap="square" lIns="0" tIns="0" rIns="0" bIns="0" anchor="t">
            <a:spAutoFit/>
          </a:bodyPr>
          <a:lstStyle/>
          <a:p>
            <a:pPr algn="l">
              <a:lnSpc>
                <a:spcPct val="115000"/>
              </a:lnSpc>
            </a:pPr>
            <a:r>
              <a:rPr lang="en-US" sz="1200" dirty="0">
                <a:solidFill>
                  <a:srgbClr val="B8C6E3"/>
                </a:solidFill>
                <a:latin typeface="Calibri"/>
              </a:rPr>
              <a:t>Shashi Shekhar</a:t>
            </a:r>
            <a:r>
              <a:rPr sz="1200" b="0" dirty="0">
                <a:solidFill>
                  <a:srgbClr val="B8C6E3"/>
                </a:solidFill>
                <a:latin typeface="Calibri"/>
              </a:rPr>
              <a:t>  ·  Technical Lead</a:t>
            </a:r>
          </a:p>
        </p:txBody>
      </p:sp>
      <p:sp>
        <p:nvSpPr>
          <p:cNvPr id="11" name="TextBox 10"/>
          <p:cNvSpPr txBox="1"/>
          <p:nvPr/>
        </p:nvSpPr>
        <p:spPr>
          <a:xfrm>
            <a:off x="457200" y="6492240"/>
            <a:ext cx="548640" cy="228600"/>
          </a:xfrm>
          <a:prstGeom prst="rect">
            <a:avLst/>
          </a:prstGeom>
          <a:noFill/>
        </p:spPr>
        <p:txBody>
          <a:bodyPr wrap="square" lIns="0" tIns="0" rIns="0" bIns="0" anchor="t">
            <a:spAutoFit/>
          </a:bodyPr>
          <a:lstStyle/>
          <a:p>
            <a:pPr algn="l">
              <a:lnSpc>
                <a:spcPct val="115000"/>
              </a:lnSpc>
            </a:pPr>
            <a:r>
              <a:rPr sz="1000" b="0">
                <a:solidFill>
                  <a:srgbClr val="B8C6E3"/>
                </a:solidFill>
                <a:latin typeface="Calibri"/>
              </a:rPr>
              <a:t>1</a:t>
            </a:r>
          </a:p>
        </p:txBody>
      </p:sp>
      <p:sp>
        <p:nvSpPr>
          <p:cNvPr id="12" name="TextBox 11"/>
          <p:cNvSpPr txBox="1"/>
          <p:nvPr/>
        </p:nvSpPr>
        <p:spPr>
          <a:xfrm>
            <a:off x="1005840" y="6492240"/>
            <a:ext cx="7315200" cy="228600"/>
          </a:xfrm>
          <a:prstGeom prst="rect">
            <a:avLst/>
          </a:prstGeom>
          <a:noFill/>
        </p:spPr>
        <p:txBody>
          <a:bodyPr wrap="square" lIns="0" tIns="0" rIns="0" bIns="0" anchor="t">
            <a:spAutoFit/>
          </a:bodyPr>
          <a:lstStyle/>
          <a:p>
            <a:pPr algn="l">
              <a:lnSpc>
                <a:spcPct val="115000"/>
              </a:lnSpc>
            </a:pPr>
            <a:r>
              <a:rPr sz="900" b="0">
                <a:solidFill>
                  <a:srgbClr val="B8C6E3"/>
                </a:solidFill>
                <a:latin typeface="Calibri"/>
              </a:rPr>
              <a:t>© 2026 Cognizant | Confidential &amp; Proprietary</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p:blipFill>
        <p:spPr>
          <a:xfrm>
            <a:off x="0" y="0"/>
            <a:ext cx="12192000" cy="6858000"/>
          </a:xfrm>
          <a:prstGeom prst="rect">
            <a:avLst/>
          </a:prstGeom>
        </p:spPr>
      </p:pic>
      <p:pic>
        <p:nvPicPr>
          <p:cNvPr id="3" name="CognizantLogo"/>
          <p:cNvPicPr>
            <a:picLocks noChangeAspect="1"/>
          </p:cNvPicPr>
          <p:nvPr/>
        </p:nvPicPr>
        <p:blipFill>
          <a:blip r:embed="rId3"/>
          <a:stretch/>
        </p:blipFill>
        <p:spPr>
          <a:xfrm>
            <a:off x="457200" y="411480"/>
            <a:ext cx="2286000" cy="411480"/>
          </a:xfrm>
          <a:prstGeom prst="rect">
            <a:avLst/>
          </a:prstGeom>
        </p:spPr>
      </p:pic>
      <p:sp>
        <p:nvSpPr>
          <p:cNvPr id="4" name="TextBox 3"/>
          <p:cNvSpPr txBox="1"/>
          <p:nvPr/>
        </p:nvSpPr>
        <p:spPr>
          <a:xfrm>
            <a:off x="731520" y="2377440"/>
            <a:ext cx="8229600" cy="1097280"/>
          </a:xfrm>
          <a:prstGeom prst="rect">
            <a:avLst/>
          </a:prstGeom>
          <a:noFill/>
        </p:spPr>
        <p:txBody>
          <a:bodyPr wrap="square" lIns="0" tIns="0" rIns="0" bIns="0" anchor="t">
            <a:spAutoFit/>
          </a:bodyPr>
          <a:lstStyle/>
          <a:p>
            <a:pPr algn="l">
              <a:lnSpc>
                <a:spcPct val="110000"/>
              </a:lnSpc>
            </a:pPr>
            <a:r>
              <a:rPr sz="4000" b="1">
                <a:solidFill>
                  <a:srgbClr val="FFFFFF"/>
                </a:solidFill>
                <a:latin typeface="Calibri"/>
              </a:rPr>
              <a:t>Architecture</a:t>
            </a:r>
          </a:p>
        </p:txBody>
      </p:sp>
      <p:sp>
        <p:nvSpPr>
          <p:cNvPr id="5" name="TextBox 4"/>
          <p:cNvSpPr txBox="1"/>
          <p:nvPr/>
        </p:nvSpPr>
        <p:spPr>
          <a:xfrm>
            <a:off x="731520" y="4023360"/>
            <a:ext cx="8229600" cy="548640"/>
          </a:xfrm>
          <a:prstGeom prst="rect">
            <a:avLst/>
          </a:prstGeom>
          <a:noFill/>
        </p:spPr>
        <p:txBody>
          <a:bodyPr wrap="square" lIns="0" tIns="0" rIns="0" bIns="0" anchor="t">
            <a:spAutoFit/>
          </a:bodyPr>
          <a:lstStyle/>
          <a:p>
            <a:pPr algn="l">
              <a:lnSpc>
                <a:spcPct val="115000"/>
              </a:lnSpc>
            </a:pPr>
            <a:r>
              <a:rPr sz="1600" b="0">
                <a:solidFill>
                  <a:srgbClr val="B8C6E3"/>
                </a:solidFill>
                <a:latin typeface="Calibri"/>
              </a:rPr>
              <a:t>Problem · Requirements · Stack · HLD</a:t>
            </a:r>
          </a:p>
        </p:txBody>
      </p:sp>
      <p:sp>
        <p:nvSpPr>
          <p:cNvPr id="6" name="TextBox 5"/>
          <p:cNvSpPr txBox="1"/>
          <p:nvPr/>
        </p:nvSpPr>
        <p:spPr>
          <a:xfrm>
            <a:off x="457200" y="6492240"/>
            <a:ext cx="548640" cy="228600"/>
          </a:xfrm>
          <a:prstGeom prst="rect">
            <a:avLst/>
          </a:prstGeom>
          <a:noFill/>
        </p:spPr>
        <p:txBody>
          <a:bodyPr wrap="square" lIns="0" tIns="0" rIns="0" bIns="0" anchor="t">
            <a:spAutoFit/>
          </a:bodyPr>
          <a:lstStyle/>
          <a:p>
            <a:pPr algn="l">
              <a:lnSpc>
                <a:spcPct val="115000"/>
              </a:lnSpc>
            </a:pPr>
            <a:r>
              <a:rPr sz="1000" b="0">
                <a:solidFill>
                  <a:srgbClr val="B8C6E3"/>
                </a:solidFill>
                <a:latin typeface="Calibri"/>
              </a:rPr>
              <a:t>2</a:t>
            </a:r>
          </a:p>
        </p:txBody>
      </p:sp>
      <p:sp>
        <p:nvSpPr>
          <p:cNvPr id="7" name="TextBox 6"/>
          <p:cNvSpPr txBox="1"/>
          <p:nvPr/>
        </p:nvSpPr>
        <p:spPr>
          <a:xfrm>
            <a:off x="1005840" y="6492240"/>
            <a:ext cx="7315200" cy="228600"/>
          </a:xfrm>
          <a:prstGeom prst="rect">
            <a:avLst/>
          </a:prstGeom>
          <a:noFill/>
        </p:spPr>
        <p:txBody>
          <a:bodyPr wrap="square" lIns="0" tIns="0" rIns="0" bIns="0" anchor="t">
            <a:spAutoFit/>
          </a:bodyPr>
          <a:lstStyle/>
          <a:p>
            <a:pPr algn="l">
              <a:lnSpc>
                <a:spcPct val="115000"/>
              </a:lnSpc>
            </a:pPr>
            <a:r>
              <a:rPr sz="900" b="0">
                <a:solidFill>
                  <a:srgbClr val="B8C6E3"/>
                </a:solidFill>
                <a:latin typeface="Calibri"/>
              </a:rPr>
              <a:t>© 2026 Cognizant | Confidential &amp; Proprietary</a:t>
            </a:r>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20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0058400" cy="640080"/>
          </a:xfrm>
          <a:prstGeom prst="rect">
            <a:avLst/>
          </a:prstGeom>
          <a:noFill/>
        </p:spPr>
        <p:txBody>
          <a:bodyPr wrap="square" lIns="0" tIns="0" rIns="0" bIns="0" anchor="t">
            <a:spAutoFit/>
          </a:bodyPr>
          <a:lstStyle/>
          <a:p>
            <a:pPr algn="l">
              <a:lnSpc>
                <a:spcPct val="115000"/>
              </a:lnSpc>
            </a:pPr>
            <a:r>
              <a:rPr sz="2600" b="1">
                <a:solidFill>
                  <a:srgbClr val="FFFFFF"/>
                </a:solidFill>
                <a:latin typeface="Calibri"/>
              </a:rPr>
              <a:t>AGENDA</a:t>
            </a:r>
          </a:p>
        </p:txBody>
      </p:sp>
      <p:sp>
        <p:nvSpPr>
          <p:cNvPr id="4" name="Rectangle 3"/>
          <p:cNvSpPr/>
          <p:nvPr/>
        </p:nvSpPr>
        <p:spPr>
          <a:xfrm>
            <a:off x="548640" y="1097280"/>
            <a:ext cx="502920" cy="381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554480"/>
            <a:ext cx="2697480" cy="4572000"/>
          </a:xfrm>
          <a:prstGeom prst="roundRect">
            <a:avLst>
              <a:gd name="adj" fmla="val 10000"/>
            </a:avLst>
          </a:prstGeom>
          <a:solidFill>
            <a:srgbClr val="294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691640"/>
            <a:ext cx="2423160" cy="548640"/>
          </a:xfrm>
          <a:prstGeom prst="rect">
            <a:avLst/>
          </a:prstGeom>
          <a:noFill/>
        </p:spPr>
        <p:txBody>
          <a:bodyPr wrap="square" lIns="0" tIns="0" rIns="0" bIns="0" anchor="t">
            <a:spAutoFit/>
          </a:bodyPr>
          <a:lstStyle/>
          <a:p>
            <a:pPr algn="r">
              <a:lnSpc>
                <a:spcPct val="115000"/>
              </a:lnSpc>
            </a:pPr>
            <a:r>
              <a:rPr sz="2000" b="1">
                <a:solidFill>
                  <a:srgbClr val="FFFFFF"/>
                </a:solidFill>
                <a:latin typeface="Calibri"/>
              </a:rPr>
              <a:t>Architecture</a:t>
            </a:r>
          </a:p>
        </p:txBody>
      </p:sp>
      <p:sp>
        <p:nvSpPr>
          <p:cNvPr id="7" name="TextBox 6"/>
          <p:cNvSpPr txBox="1"/>
          <p:nvPr/>
        </p:nvSpPr>
        <p:spPr>
          <a:xfrm>
            <a:off x="685800" y="2468880"/>
            <a:ext cx="2423160" cy="365760"/>
          </a:xfrm>
          <a:prstGeom prst="rect">
            <a:avLst/>
          </a:prstGeom>
          <a:noFill/>
        </p:spPr>
        <p:txBody>
          <a:bodyPr wrap="square" lIns="0" tIns="0" rIns="0" bIns="0" anchor="t">
            <a:spAutoFit/>
          </a:bodyPr>
          <a:lstStyle/>
          <a:p>
            <a:pPr algn="l">
              <a:lnSpc>
                <a:spcPct val="115000"/>
              </a:lnSpc>
            </a:pPr>
            <a:r>
              <a:rPr sz="1100" b="1">
                <a:solidFill>
                  <a:srgbClr val="1E88E5"/>
                </a:solidFill>
                <a:latin typeface="Calibri"/>
              </a:rPr>
              <a:t>Section 01</a:t>
            </a:r>
          </a:p>
        </p:txBody>
      </p:sp>
      <p:sp>
        <p:nvSpPr>
          <p:cNvPr id="8" name="TextBox 7"/>
          <p:cNvSpPr txBox="1"/>
          <p:nvPr/>
        </p:nvSpPr>
        <p:spPr>
          <a:xfrm>
            <a:off x="731520" y="3108960"/>
            <a:ext cx="2331720" cy="2743200"/>
          </a:xfrm>
          <a:prstGeom prst="rect">
            <a:avLst/>
          </a:prstGeom>
          <a:noFill/>
        </p:spPr>
        <p:txBody>
          <a:bodyPr wrap="square" lIns="0" tIns="0">
            <a:spAutoFit/>
          </a:bodyPr>
          <a:lstStyle/>
          <a:p>
            <a:pPr algn="l">
              <a:lnSpc>
                <a:spcPct val="125000"/>
              </a:lnSpc>
            </a:pPr>
            <a:r>
              <a:rPr sz="1100">
                <a:solidFill>
                  <a:srgbClr val="E8ECF4"/>
                </a:solidFill>
                <a:latin typeface="Calibri"/>
              </a:rPr>
              <a:t>•  Problem statement &amp; requirements</a:t>
            </a:r>
          </a:p>
          <a:p>
            <a:pPr algn="l">
              <a:lnSpc>
                <a:spcPct val="125000"/>
              </a:lnSpc>
            </a:pPr>
            <a:r>
              <a:rPr sz="1100">
                <a:solidFill>
                  <a:srgbClr val="E8ECF4"/>
                </a:solidFill>
                <a:latin typeface="Calibri"/>
              </a:rPr>
              <a:t>•  Technology stack</a:t>
            </a:r>
          </a:p>
          <a:p>
            <a:pPr algn="l">
              <a:lnSpc>
                <a:spcPct val="125000"/>
              </a:lnSpc>
            </a:pPr>
            <a:r>
              <a:rPr sz="1100">
                <a:solidFill>
                  <a:srgbClr val="E8ECF4"/>
                </a:solidFill>
                <a:latin typeface="Calibri"/>
              </a:rPr>
              <a:t>•  High-level &amp; application architecture</a:t>
            </a:r>
          </a:p>
        </p:txBody>
      </p:sp>
      <p:sp>
        <p:nvSpPr>
          <p:cNvPr id="9" name="Rounded Rectangle 8"/>
          <p:cNvSpPr/>
          <p:nvPr/>
        </p:nvSpPr>
        <p:spPr>
          <a:xfrm>
            <a:off x="3364992" y="1554480"/>
            <a:ext cx="2697480" cy="4572000"/>
          </a:xfrm>
          <a:prstGeom prst="roundRect">
            <a:avLst>
              <a:gd name="adj" fmla="val 10000"/>
            </a:avLst>
          </a:prstGeom>
          <a:solidFill>
            <a:srgbClr val="294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502152" y="1691640"/>
            <a:ext cx="2423160" cy="548640"/>
          </a:xfrm>
          <a:prstGeom prst="rect">
            <a:avLst/>
          </a:prstGeom>
          <a:noFill/>
        </p:spPr>
        <p:txBody>
          <a:bodyPr wrap="square" lIns="0" tIns="0" rIns="0" bIns="0" anchor="t">
            <a:spAutoFit/>
          </a:bodyPr>
          <a:lstStyle/>
          <a:p>
            <a:pPr algn="r">
              <a:lnSpc>
                <a:spcPct val="115000"/>
              </a:lnSpc>
            </a:pPr>
            <a:r>
              <a:rPr sz="2000" b="1">
                <a:solidFill>
                  <a:srgbClr val="FFFFFF"/>
                </a:solidFill>
                <a:latin typeface="Calibri"/>
              </a:rPr>
              <a:t>Design</a:t>
            </a:r>
          </a:p>
        </p:txBody>
      </p:sp>
      <p:sp>
        <p:nvSpPr>
          <p:cNvPr id="11" name="TextBox 10"/>
          <p:cNvSpPr txBox="1"/>
          <p:nvPr/>
        </p:nvSpPr>
        <p:spPr>
          <a:xfrm>
            <a:off x="3502152" y="2468880"/>
            <a:ext cx="2423160" cy="365760"/>
          </a:xfrm>
          <a:prstGeom prst="rect">
            <a:avLst/>
          </a:prstGeom>
          <a:noFill/>
        </p:spPr>
        <p:txBody>
          <a:bodyPr wrap="square" lIns="0" tIns="0" rIns="0" bIns="0" anchor="t">
            <a:spAutoFit/>
          </a:bodyPr>
          <a:lstStyle/>
          <a:p>
            <a:pPr algn="l">
              <a:lnSpc>
                <a:spcPct val="115000"/>
              </a:lnSpc>
            </a:pPr>
            <a:r>
              <a:rPr sz="1100" b="1">
                <a:solidFill>
                  <a:srgbClr val="1E88E5"/>
                </a:solidFill>
                <a:latin typeface="Calibri"/>
              </a:rPr>
              <a:t>Section 02</a:t>
            </a:r>
          </a:p>
        </p:txBody>
      </p:sp>
      <p:sp>
        <p:nvSpPr>
          <p:cNvPr id="12" name="TextBox 11"/>
          <p:cNvSpPr txBox="1"/>
          <p:nvPr/>
        </p:nvSpPr>
        <p:spPr>
          <a:xfrm>
            <a:off x="3547872" y="3108960"/>
            <a:ext cx="2331720" cy="2743200"/>
          </a:xfrm>
          <a:prstGeom prst="rect">
            <a:avLst/>
          </a:prstGeom>
          <a:noFill/>
        </p:spPr>
        <p:txBody>
          <a:bodyPr wrap="square" lIns="0" tIns="0">
            <a:spAutoFit/>
          </a:bodyPr>
          <a:lstStyle/>
          <a:p>
            <a:pPr algn="l">
              <a:lnSpc>
                <a:spcPct val="125000"/>
              </a:lnSpc>
            </a:pPr>
            <a:r>
              <a:rPr sz="1100">
                <a:solidFill>
                  <a:srgbClr val="E8ECF4"/>
                </a:solidFill>
                <a:latin typeface="Calibri"/>
              </a:rPr>
              <a:t>•  Authentication &amp; API design</a:t>
            </a:r>
          </a:p>
          <a:p>
            <a:pPr algn="l">
              <a:lnSpc>
                <a:spcPct val="125000"/>
              </a:lnSpc>
            </a:pPr>
            <a:r>
              <a:rPr sz="1100">
                <a:solidFill>
                  <a:srgbClr val="E8ECF4"/>
                </a:solidFill>
                <a:latin typeface="Calibri"/>
              </a:rPr>
              <a:t>•  Database ER diagram</a:t>
            </a:r>
          </a:p>
          <a:p>
            <a:pPr algn="l">
              <a:lnSpc>
                <a:spcPct val="125000"/>
              </a:lnSpc>
            </a:pPr>
            <a:r>
              <a:rPr sz="1100">
                <a:solidFill>
                  <a:srgbClr val="E8ECF4"/>
                </a:solidFill>
                <a:latin typeface="Calibri"/>
              </a:rPr>
              <a:t>•  Class &amp; sequence diagrams</a:t>
            </a:r>
          </a:p>
        </p:txBody>
      </p:sp>
      <p:sp>
        <p:nvSpPr>
          <p:cNvPr id="13" name="Rounded Rectangle 12"/>
          <p:cNvSpPr/>
          <p:nvPr/>
        </p:nvSpPr>
        <p:spPr>
          <a:xfrm>
            <a:off x="6181344" y="1554480"/>
            <a:ext cx="2697480" cy="4572000"/>
          </a:xfrm>
          <a:prstGeom prst="roundRect">
            <a:avLst>
              <a:gd name="adj" fmla="val 10000"/>
            </a:avLst>
          </a:prstGeom>
          <a:solidFill>
            <a:srgbClr val="294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18504" y="1691640"/>
            <a:ext cx="2423160" cy="548640"/>
          </a:xfrm>
          <a:prstGeom prst="rect">
            <a:avLst/>
          </a:prstGeom>
          <a:noFill/>
        </p:spPr>
        <p:txBody>
          <a:bodyPr wrap="square" lIns="0" tIns="0" rIns="0" bIns="0" anchor="t">
            <a:spAutoFit/>
          </a:bodyPr>
          <a:lstStyle/>
          <a:p>
            <a:pPr algn="r">
              <a:lnSpc>
                <a:spcPct val="115000"/>
              </a:lnSpc>
            </a:pPr>
            <a:r>
              <a:rPr sz="2000" b="1">
                <a:solidFill>
                  <a:srgbClr val="FFFFFF"/>
                </a:solidFill>
                <a:latin typeface="Calibri"/>
              </a:rPr>
              <a:t>Infrastructure</a:t>
            </a:r>
          </a:p>
        </p:txBody>
      </p:sp>
      <p:sp>
        <p:nvSpPr>
          <p:cNvPr id="15" name="TextBox 14"/>
          <p:cNvSpPr txBox="1"/>
          <p:nvPr/>
        </p:nvSpPr>
        <p:spPr>
          <a:xfrm>
            <a:off x="6318504" y="2468880"/>
            <a:ext cx="2423160" cy="365760"/>
          </a:xfrm>
          <a:prstGeom prst="rect">
            <a:avLst/>
          </a:prstGeom>
          <a:noFill/>
        </p:spPr>
        <p:txBody>
          <a:bodyPr wrap="square" lIns="0" tIns="0" rIns="0" bIns="0" anchor="t">
            <a:spAutoFit/>
          </a:bodyPr>
          <a:lstStyle/>
          <a:p>
            <a:pPr algn="l">
              <a:lnSpc>
                <a:spcPct val="115000"/>
              </a:lnSpc>
            </a:pPr>
            <a:r>
              <a:rPr sz="1100" b="1">
                <a:solidFill>
                  <a:srgbClr val="1E88E5"/>
                </a:solidFill>
                <a:latin typeface="Calibri"/>
              </a:rPr>
              <a:t>Section 03</a:t>
            </a:r>
          </a:p>
        </p:txBody>
      </p:sp>
      <p:sp>
        <p:nvSpPr>
          <p:cNvPr id="16" name="TextBox 15"/>
          <p:cNvSpPr txBox="1"/>
          <p:nvPr/>
        </p:nvSpPr>
        <p:spPr>
          <a:xfrm>
            <a:off x="6364224" y="3108960"/>
            <a:ext cx="2331720" cy="2743200"/>
          </a:xfrm>
          <a:prstGeom prst="rect">
            <a:avLst/>
          </a:prstGeom>
          <a:noFill/>
        </p:spPr>
        <p:txBody>
          <a:bodyPr wrap="square" lIns="0" tIns="0">
            <a:spAutoFit/>
          </a:bodyPr>
          <a:lstStyle/>
          <a:p>
            <a:pPr algn="l">
              <a:lnSpc>
                <a:spcPct val="125000"/>
              </a:lnSpc>
            </a:pPr>
            <a:r>
              <a:rPr sz="1100">
                <a:solidFill>
                  <a:srgbClr val="E8ECF4"/>
                </a:solidFill>
                <a:latin typeface="Calibri"/>
              </a:rPr>
              <a:t>•  Component diagram</a:t>
            </a:r>
          </a:p>
          <a:p>
            <a:pPr algn="l">
              <a:lnSpc>
                <a:spcPct val="125000"/>
              </a:lnSpc>
            </a:pPr>
            <a:r>
              <a:rPr sz="1100">
                <a:solidFill>
                  <a:srgbClr val="E8ECF4"/>
                </a:solidFill>
                <a:latin typeface="Calibri"/>
              </a:rPr>
              <a:t>•  Deployment architecture</a:t>
            </a:r>
          </a:p>
          <a:p>
            <a:pPr algn="l">
              <a:lnSpc>
                <a:spcPct val="125000"/>
              </a:lnSpc>
            </a:pPr>
            <a:r>
              <a:rPr sz="1100">
                <a:solidFill>
                  <a:srgbClr val="E8ECF4"/>
                </a:solidFill>
                <a:latin typeface="Calibri"/>
              </a:rPr>
              <a:t>•  CI/CD pipeline</a:t>
            </a:r>
          </a:p>
        </p:txBody>
      </p:sp>
      <p:sp>
        <p:nvSpPr>
          <p:cNvPr id="17" name="Rounded Rectangle 16"/>
          <p:cNvSpPr/>
          <p:nvPr/>
        </p:nvSpPr>
        <p:spPr>
          <a:xfrm>
            <a:off x="8997696" y="1554480"/>
            <a:ext cx="2697480" cy="4572000"/>
          </a:xfrm>
          <a:prstGeom prst="roundRect">
            <a:avLst>
              <a:gd name="adj" fmla="val 10000"/>
            </a:avLst>
          </a:prstGeom>
          <a:solidFill>
            <a:srgbClr val="294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34856" y="1691640"/>
            <a:ext cx="2423160" cy="548640"/>
          </a:xfrm>
          <a:prstGeom prst="rect">
            <a:avLst/>
          </a:prstGeom>
          <a:noFill/>
        </p:spPr>
        <p:txBody>
          <a:bodyPr wrap="square" lIns="0" tIns="0" rIns="0" bIns="0" anchor="t">
            <a:spAutoFit/>
          </a:bodyPr>
          <a:lstStyle/>
          <a:p>
            <a:pPr algn="r">
              <a:lnSpc>
                <a:spcPct val="115000"/>
              </a:lnSpc>
            </a:pPr>
            <a:r>
              <a:rPr sz="2000" b="1">
                <a:solidFill>
                  <a:srgbClr val="FFFFFF"/>
                </a:solidFill>
                <a:latin typeface="Calibri"/>
              </a:rPr>
              <a:t>Operations</a:t>
            </a:r>
          </a:p>
        </p:txBody>
      </p:sp>
      <p:sp>
        <p:nvSpPr>
          <p:cNvPr id="19" name="TextBox 18"/>
          <p:cNvSpPr txBox="1"/>
          <p:nvPr/>
        </p:nvSpPr>
        <p:spPr>
          <a:xfrm>
            <a:off x="9134856" y="2468880"/>
            <a:ext cx="2423160" cy="365760"/>
          </a:xfrm>
          <a:prstGeom prst="rect">
            <a:avLst/>
          </a:prstGeom>
          <a:noFill/>
        </p:spPr>
        <p:txBody>
          <a:bodyPr wrap="square" lIns="0" tIns="0" rIns="0" bIns="0" anchor="t">
            <a:spAutoFit/>
          </a:bodyPr>
          <a:lstStyle/>
          <a:p>
            <a:pPr algn="l">
              <a:lnSpc>
                <a:spcPct val="115000"/>
              </a:lnSpc>
            </a:pPr>
            <a:r>
              <a:rPr sz="1100" b="1">
                <a:solidFill>
                  <a:srgbClr val="1E88E5"/>
                </a:solidFill>
                <a:latin typeface="Calibri"/>
              </a:rPr>
              <a:t>Section 04</a:t>
            </a:r>
          </a:p>
        </p:txBody>
      </p:sp>
      <p:sp>
        <p:nvSpPr>
          <p:cNvPr id="20" name="TextBox 19"/>
          <p:cNvSpPr txBox="1"/>
          <p:nvPr/>
        </p:nvSpPr>
        <p:spPr>
          <a:xfrm>
            <a:off x="9180576" y="3108960"/>
            <a:ext cx="2331720" cy="2743200"/>
          </a:xfrm>
          <a:prstGeom prst="rect">
            <a:avLst/>
          </a:prstGeom>
          <a:noFill/>
        </p:spPr>
        <p:txBody>
          <a:bodyPr wrap="square" lIns="0" tIns="0">
            <a:spAutoFit/>
          </a:bodyPr>
          <a:lstStyle/>
          <a:p>
            <a:pPr algn="l">
              <a:lnSpc>
                <a:spcPct val="125000"/>
              </a:lnSpc>
            </a:pPr>
            <a:r>
              <a:rPr sz="1100">
                <a:solidFill>
                  <a:srgbClr val="E8ECF4"/>
                </a:solidFill>
                <a:latin typeface="Calibri"/>
              </a:rPr>
              <a:t>•  Security &amp; compliance</a:t>
            </a:r>
          </a:p>
          <a:p>
            <a:pPr algn="l">
              <a:lnSpc>
                <a:spcPct val="125000"/>
              </a:lnSpc>
            </a:pPr>
            <a:r>
              <a:rPr sz="1100">
                <a:solidFill>
                  <a:srgbClr val="E8ECF4"/>
                </a:solidFill>
                <a:latin typeface="Calibri"/>
              </a:rPr>
              <a:t>•  Monitoring &amp; logging</a:t>
            </a:r>
          </a:p>
          <a:p>
            <a:pPr algn="l">
              <a:lnSpc>
                <a:spcPct val="125000"/>
              </a:lnSpc>
            </a:pPr>
            <a:r>
              <a:rPr sz="1100">
                <a:solidFill>
                  <a:srgbClr val="E8ECF4"/>
                </a:solidFill>
                <a:latin typeface="Calibri"/>
              </a:rPr>
              <a:t>•  Performance, scalability &amp; future-state</a:t>
            </a:r>
          </a:p>
        </p:txBody>
      </p:sp>
      <p:sp>
        <p:nvSpPr>
          <p:cNvPr id="21" name="TextBox 20"/>
          <p:cNvSpPr txBox="1"/>
          <p:nvPr/>
        </p:nvSpPr>
        <p:spPr>
          <a:xfrm>
            <a:off x="457200" y="6492240"/>
            <a:ext cx="548640" cy="228600"/>
          </a:xfrm>
          <a:prstGeom prst="rect">
            <a:avLst/>
          </a:prstGeom>
          <a:noFill/>
        </p:spPr>
        <p:txBody>
          <a:bodyPr wrap="square" lIns="0" tIns="0" rIns="0" bIns="0" anchor="t">
            <a:spAutoFit/>
          </a:bodyPr>
          <a:lstStyle/>
          <a:p>
            <a:pPr algn="l">
              <a:lnSpc>
                <a:spcPct val="115000"/>
              </a:lnSpc>
            </a:pPr>
            <a:r>
              <a:rPr sz="1000" b="0">
                <a:solidFill>
                  <a:srgbClr val="B8C6E3"/>
                </a:solidFill>
                <a:latin typeface="Calibri"/>
              </a:rPr>
              <a:t>3</a:t>
            </a:r>
          </a:p>
        </p:txBody>
      </p:sp>
      <p:sp>
        <p:nvSpPr>
          <p:cNvPr id="22" name="TextBox 21"/>
          <p:cNvSpPr txBox="1"/>
          <p:nvPr/>
        </p:nvSpPr>
        <p:spPr>
          <a:xfrm>
            <a:off x="1005840" y="6492240"/>
            <a:ext cx="7315200" cy="228600"/>
          </a:xfrm>
          <a:prstGeom prst="rect">
            <a:avLst/>
          </a:prstGeom>
          <a:noFill/>
        </p:spPr>
        <p:txBody>
          <a:bodyPr wrap="square" lIns="0" tIns="0" rIns="0" bIns="0" anchor="t">
            <a:spAutoFit/>
          </a:bodyPr>
          <a:lstStyle/>
          <a:p>
            <a:pPr algn="l">
              <a:lnSpc>
                <a:spcPct val="115000"/>
              </a:lnSpc>
            </a:pPr>
            <a:r>
              <a:rPr sz="900" b="0">
                <a:solidFill>
                  <a:srgbClr val="B8C6E3"/>
                </a:solidFill>
                <a:latin typeface="Calibri"/>
              </a:rPr>
              <a:t>© 2026 Cognizant | Confidential &amp; Proprietary</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9991"/>
            <a:ext cx="12191695" cy="6858000"/>
          </a:xfrm>
          <a:prstGeom prst="rect">
            <a:avLst/>
          </a:prstGeom>
          <a:solidFill>
            <a:srgbClr val="020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0058400" cy="640080"/>
          </a:xfrm>
          <a:prstGeom prst="rect">
            <a:avLst/>
          </a:prstGeom>
          <a:noFill/>
        </p:spPr>
        <p:txBody>
          <a:bodyPr wrap="square" lIns="0" tIns="0" rIns="0" bIns="0" anchor="t">
            <a:spAutoFit/>
          </a:bodyPr>
          <a:lstStyle/>
          <a:p>
            <a:pPr algn="l">
              <a:lnSpc>
                <a:spcPct val="115000"/>
              </a:lnSpc>
            </a:pPr>
            <a:r>
              <a:rPr sz="2600" b="1">
                <a:solidFill>
                  <a:srgbClr val="FFFFFF"/>
                </a:solidFill>
                <a:latin typeface="Calibri"/>
              </a:rPr>
              <a:t>PROBLEM STATEMENT</a:t>
            </a:r>
          </a:p>
        </p:txBody>
      </p:sp>
      <p:sp>
        <p:nvSpPr>
          <p:cNvPr id="4" name="Rectangle 3"/>
          <p:cNvSpPr/>
          <p:nvPr/>
        </p:nvSpPr>
        <p:spPr>
          <a:xfrm>
            <a:off x="548640" y="1097280"/>
            <a:ext cx="502920" cy="381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463040"/>
            <a:ext cx="5943600" cy="1639423"/>
          </a:xfrm>
          <a:prstGeom prst="rect">
            <a:avLst/>
          </a:prstGeom>
          <a:noFill/>
        </p:spPr>
        <p:txBody>
          <a:bodyPr wrap="square" lIns="0" tIns="0" rIns="0" bIns="0" anchor="t">
            <a:spAutoFit/>
          </a:bodyPr>
          <a:lstStyle/>
          <a:p>
            <a:pPr>
              <a:lnSpc>
                <a:spcPct val="130000"/>
              </a:lnSpc>
            </a:pPr>
            <a:r>
              <a:rPr lang="en-IN" dirty="0"/>
              <a:t> </a:t>
            </a:r>
            <a:r>
              <a:rPr lang="en-IN" sz="1300" dirty="0">
                <a:solidFill>
                  <a:srgbClr val="E8ECF4"/>
                </a:solidFill>
                <a:latin typeface="Calibri"/>
              </a:rPr>
              <a:t>Organizations require a secure and centralized platform to upload, store, and preview image documents while enforcing role-based access controls. Existing manual or shared-storage approaches lack proper authentication, ownership tracking, scalability, auditability, and secure document management. The Document Upload Portal addresses these challenges by providing a cloud-native solution built on Microsoft Azure for secure image upload, storage, retrieval, and governance.</a:t>
            </a:r>
            <a:endParaRPr lang="en-US" sz="1300" dirty="0">
              <a:solidFill>
                <a:srgbClr val="E8ECF4"/>
              </a:solidFill>
              <a:latin typeface="Calibri"/>
            </a:endParaRPr>
          </a:p>
        </p:txBody>
      </p:sp>
      <p:sp>
        <p:nvSpPr>
          <p:cNvPr id="6" name="TextBox 5"/>
          <p:cNvSpPr txBox="1"/>
          <p:nvPr/>
        </p:nvSpPr>
        <p:spPr>
          <a:xfrm>
            <a:off x="6583680" y="1463040"/>
            <a:ext cx="5120640" cy="457200"/>
          </a:xfrm>
          <a:prstGeom prst="rect">
            <a:avLst/>
          </a:prstGeom>
          <a:noFill/>
        </p:spPr>
        <p:txBody>
          <a:bodyPr wrap="square" lIns="0" tIns="0" rIns="0" bIns="0" anchor="t">
            <a:spAutoFit/>
          </a:bodyPr>
          <a:lstStyle/>
          <a:p>
            <a:pPr algn="l">
              <a:lnSpc>
                <a:spcPct val="115000"/>
              </a:lnSpc>
            </a:pPr>
            <a:r>
              <a:rPr sz="1400" b="1" dirty="0">
                <a:solidFill>
                  <a:srgbClr val="FFFFFF"/>
                </a:solidFill>
                <a:latin typeface="Calibri"/>
              </a:rPr>
              <a:t>Key challenges driving this initiative:</a:t>
            </a:r>
          </a:p>
        </p:txBody>
      </p:sp>
      <p:sp>
        <p:nvSpPr>
          <p:cNvPr id="7" name="TextBox 6"/>
          <p:cNvSpPr txBox="1"/>
          <p:nvPr/>
        </p:nvSpPr>
        <p:spPr>
          <a:xfrm>
            <a:off x="6583680" y="1920240"/>
            <a:ext cx="5120640" cy="3478581"/>
          </a:xfrm>
          <a:prstGeom prst="rect">
            <a:avLst/>
          </a:prstGeom>
          <a:noFill/>
        </p:spPr>
        <p:txBody>
          <a:bodyPr wrap="square" lIns="0" tIns="0">
            <a:spAutoFit/>
          </a:bodyPr>
          <a:lstStyle/>
          <a:p>
            <a:r>
              <a:rPr lang="en-IN" sz="1300" dirty="0">
                <a:solidFill>
                  <a:srgbClr val="E8ECF4"/>
                </a:solidFill>
                <a:latin typeface="Calibri"/>
              </a:rPr>
              <a:t>• Secure Authentication &amp; Authorization – Ensure only authorized users can access and manage documents using Azure Entra ID and RBAC.</a:t>
            </a:r>
          </a:p>
          <a:p>
            <a:r>
              <a:rPr lang="en-IN" sz="1300" dirty="0">
                <a:solidFill>
                  <a:srgbClr val="E8ECF4"/>
                </a:solidFill>
                <a:latin typeface="Calibri"/>
              </a:rPr>
              <a:t>• Centralized Document Management – Provide a single platform for uploading, storing, and previewing image files.</a:t>
            </a:r>
          </a:p>
          <a:p>
            <a:r>
              <a:rPr lang="en-IN" sz="1300" dirty="0">
                <a:solidFill>
                  <a:srgbClr val="E8ECF4"/>
                </a:solidFill>
                <a:latin typeface="Calibri"/>
              </a:rPr>
              <a:t>• Ownership &amp; Access Control – Restrict document access based on user roles and ownership.</a:t>
            </a:r>
          </a:p>
          <a:p>
            <a:r>
              <a:rPr lang="en-IN" sz="1300" dirty="0">
                <a:solidFill>
                  <a:srgbClr val="E8ECF4"/>
                </a:solidFill>
                <a:latin typeface="Calibri"/>
              </a:rPr>
              <a:t>• Scalability &amp; Performance – Support growing document volumes and concurrent users without impacting performance.</a:t>
            </a:r>
          </a:p>
          <a:p>
            <a:r>
              <a:rPr lang="en-IN" sz="1300" dirty="0">
                <a:solidFill>
                  <a:srgbClr val="E8ECF4"/>
                </a:solidFill>
                <a:latin typeface="Calibri"/>
              </a:rPr>
              <a:t>• Secure Storage &amp; Metadata Management – Store image files securely in Azure Blob Storage while maintaining metadata in Azure SQL Database.</a:t>
            </a:r>
          </a:p>
          <a:p>
            <a:r>
              <a:rPr lang="en-IN" sz="1300" dirty="0">
                <a:solidFill>
                  <a:srgbClr val="E8ECF4"/>
                </a:solidFill>
                <a:latin typeface="Calibri"/>
              </a:rPr>
              <a:t>• Compliance &amp; Auditability – Enable logging, monitoring, and traceability of user activities.</a:t>
            </a:r>
          </a:p>
          <a:p>
            <a:r>
              <a:rPr lang="en-IN" sz="1300" dirty="0">
                <a:solidFill>
                  <a:srgbClr val="E8ECF4"/>
                </a:solidFill>
                <a:latin typeface="Calibri"/>
              </a:rPr>
              <a:t>• Operational Visibility – Provide real-time monitoring, telemetry, alerting, and health insights for proactive support.</a:t>
            </a:r>
          </a:p>
          <a:p>
            <a:r>
              <a:rPr lang="en-IN" sz="1300" dirty="0">
                <a:solidFill>
                  <a:srgbClr val="E8ECF4"/>
                </a:solidFill>
                <a:latin typeface="Calibri"/>
              </a:rPr>
              <a:t>• Cloud-Native Architecture – Leverage Azure managed services to improve reliability, security, maintainability, and cost efficiency.</a:t>
            </a:r>
          </a:p>
          <a:p>
            <a:pPr algn="l">
              <a:lnSpc>
                <a:spcPct val="125000"/>
              </a:lnSpc>
            </a:pPr>
            <a:endParaRPr sz="1300" dirty="0">
              <a:solidFill>
                <a:srgbClr val="E8ECF4"/>
              </a:solidFill>
              <a:latin typeface="Calibri"/>
            </a:endParaRPr>
          </a:p>
        </p:txBody>
      </p:sp>
      <p:sp>
        <p:nvSpPr>
          <p:cNvPr id="8" name="TextBox 7"/>
          <p:cNvSpPr txBox="1"/>
          <p:nvPr/>
        </p:nvSpPr>
        <p:spPr>
          <a:xfrm>
            <a:off x="457200" y="6492240"/>
            <a:ext cx="548640" cy="228600"/>
          </a:xfrm>
          <a:prstGeom prst="rect">
            <a:avLst/>
          </a:prstGeom>
          <a:noFill/>
        </p:spPr>
        <p:txBody>
          <a:bodyPr wrap="square" lIns="0" tIns="0" rIns="0" bIns="0" anchor="t">
            <a:spAutoFit/>
          </a:bodyPr>
          <a:lstStyle/>
          <a:p>
            <a:pPr algn="l">
              <a:lnSpc>
                <a:spcPct val="115000"/>
              </a:lnSpc>
            </a:pPr>
            <a:r>
              <a:rPr sz="1000" b="0">
                <a:solidFill>
                  <a:srgbClr val="B8C6E3"/>
                </a:solidFill>
                <a:latin typeface="Calibri"/>
              </a:rPr>
              <a:t>4</a:t>
            </a:r>
          </a:p>
        </p:txBody>
      </p:sp>
      <p:sp>
        <p:nvSpPr>
          <p:cNvPr id="9" name="TextBox 8"/>
          <p:cNvSpPr txBox="1"/>
          <p:nvPr/>
        </p:nvSpPr>
        <p:spPr>
          <a:xfrm>
            <a:off x="1005840" y="6492240"/>
            <a:ext cx="7315200" cy="228600"/>
          </a:xfrm>
          <a:prstGeom prst="rect">
            <a:avLst/>
          </a:prstGeom>
          <a:noFill/>
        </p:spPr>
        <p:txBody>
          <a:bodyPr wrap="square" lIns="0" tIns="0" rIns="0" bIns="0" anchor="t">
            <a:spAutoFit/>
          </a:bodyPr>
          <a:lstStyle/>
          <a:p>
            <a:pPr algn="l">
              <a:lnSpc>
                <a:spcPct val="115000"/>
              </a:lnSpc>
            </a:pPr>
            <a:r>
              <a:rPr sz="900" b="0">
                <a:solidFill>
                  <a:srgbClr val="B8C6E3"/>
                </a:solidFill>
                <a:latin typeface="Calibri"/>
              </a:rPr>
              <a:t>© 2026 Cognizant | Confidential &amp; Proprietary</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20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0058400" cy="640080"/>
          </a:xfrm>
          <a:prstGeom prst="rect">
            <a:avLst/>
          </a:prstGeom>
          <a:noFill/>
        </p:spPr>
        <p:txBody>
          <a:bodyPr wrap="square" lIns="0" tIns="0" rIns="0" bIns="0" anchor="t">
            <a:spAutoFit/>
          </a:bodyPr>
          <a:lstStyle/>
          <a:p>
            <a:pPr algn="l">
              <a:lnSpc>
                <a:spcPct val="115000"/>
              </a:lnSpc>
            </a:pPr>
            <a:r>
              <a:rPr sz="2600" b="1">
                <a:solidFill>
                  <a:srgbClr val="FFFFFF"/>
                </a:solidFill>
                <a:latin typeface="Calibri"/>
              </a:rPr>
              <a:t>REQUIREMENTS OVERVIEW</a:t>
            </a:r>
          </a:p>
        </p:txBody>
      </p:sp>
      <p:sp>
        <p:nvSpPr>
          <p:cNvPr id="4" name="Rectangle 3"/>
          <p:cNvSpPr/>
          <p:nvPr/>
        </p:nvSpPr>
        <p:spPr>
          <a:xfrm>
            <a:off x="548640" y="1097280"/>
            <a:ext cx="502920" cy="381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30352" y="1417320"/>
            <a:ext cx="2697480" cy="4846320"/>
          </a:xfrm>
          <a:prstGeom prst="roundRect">
            <a:avLst>
              <a:gd name="adj" fmla="val 10000"/>
            </a:avLst>
          </a:prstGeom>
          <a:solidFill>
            <a:srgbClr val="294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554480"/>
            <a:ext cx="2423160" cy="548640"/>
          </a:xfrm>
          <a:prstGeom prst="rect">
            <a:avLst/>
          </a:prstGeom>
          <a:noFill/>
        </p:spPr>
        <p:txBody>
          <a:bodyPr wrap="square" lIns="0" tIns="0" rIns="0" bIns="0" anchor="t">
            <a:spAutoFit/>
          </a:bodyPr>
          <a:lstStyle/>
          <a:p>
            <a:pPr algn="r">
              <a:lnSpc>
                <a:spcPct val="115000"/>
              </a:lnSpc>
            </a:pPr>
            <a:r>
              <a:rPr sz="1800" b="1">
                <a:solidFill>
                  <a:srgbClr val="FFFFFF"/>
                </a:solidFill>
                <a:latin typeface="Calibri"/>
              </a:rPr>
              <a:t>Functional</a:t>
            </a:r>
          </a:p>
        </p:txBody>
      </p:sp>
      <p:sp>
        <p:nvSpPr>
          <p:cNvPr id="8" name="TextBox 7"/>
          <p:cNvSpPr txBox="1"/>
          <p:nvPr/>
        </p:nvSpPr>
        <p:spPr>
          <a:xfrm>
            <a:off x="731520" y="2270174"/>
            <a:ext cx="2331720" cy="1723292"/>
          </a:xfrm>
          <a:prstGeom prst="rect">
            <a:avLst/>
          </a:prstGeom>
          <a:noFill/>
        </p:spPr>
        <p:txBody>
          <a:bodyPr wrap="square" lIns="0" tIns="0">
            <a:spAutoFit/>
          </a:bodyPr>
          <a:lstStyle/>
          <a:p>
            <a:pPr>
              <a:lnSpc>
                <a:spcPct val="125000"/>
              </a:lnSpc>
            </a:pPr>
            <a:r>
              <a:rPr lang="en-IN" sz="1100" dirty="0">
                <a:solidFill>
                  <a:srgbClr val="E8ECF4"/>
                </a:solidFill>
                <a:latin typeface="Calibri"/>
              </a:rPr>
              <a:t>• User Authentication</a:t>
            </a:r>
            <a:br>
              <a:rPr lang="en-IN" sz="1100" dirty="0">
                <a:solidFill>
                  <a:srgbClr val="E8ECF4"/>
                </a:solidFill>
                <a:latin typeface="Calibri"/>
              </a:rPr>
            </a:br>
            <a:r>
              <a:rPr lang="en-IN" sz="1100" dirty="0">
                <a:solidFill>
                  <a:srgbClr val="E8ECF4"/>
                </a:solidFill>
                <a:latin typeface="Calibri"/>
              </a:rPr>
              <a:t>• Role-Based Access Control (Admin, Uploader, Viewer)</a:t>
            </a:r>
            <a:br>
              <a:rPr lang="en-IN" sz="1100" dirty="0">
                <a:solidFill>
                  <a:srgbClr val="E8ECF4"/>
                </a:solidFill>
                <a:latin typeface="Calibri"/>
              </a:rPr>
            </a:br>
            <a:r>
              <a:rPr lang="en-IN" sz="1100" dirty="0">
                <a:solidFill>
                  <a:srgbClr val="E8ECF4"/>
                </a:solidFill>
                <a:latin typeface="Calibri"/>
              </a:rPr>
              <a:t>• Secure Image Upload (JPG, PNG, GIF)</a:t>
            </a:r>
            <a:br>
              <a:rPr lang="en-IN" sz="1100" dirty="0">
                <a:solidFill>
                  <a:srgbClr val="E8ECF4"/>
                </a:solidFill>
                <a:latin typeface="Calibri"/>
              </a:rPr>
            </a:br>
            <a:r>
              <a:rPr lang="en-IN" sz="1100" dirty="0">
                <a:solidFill>
                  <a:srgbClr val="E8ECF4"/>
                </a:solidFill>
                <a:latin typeface="Calibri"/>
              </a:rPr>
              <a:t>• Image Preview and Retrieval</a:t>
            </a:r>
            <a:br>
              <a:rPr lang="en-IN" sz="1100" dirty="0">
                <a:solidFill>
                  <a:srgbClr val="E8ECF4"/>
                </a:solidFill>
                <a:latin typeface="Calibri"/>
              </a:rPr>
            </a:br>
            <a:r>
              <a:rPr lang="en-IN" sz="1100" dirty="0">
                <a:solidFill>
                  <a:srgbClr val="E8ECF4"/>
                </a:solidFill>
                <a:latin typeface="Calibri"/>
              </a:rPr>
              <a:t>• Image Metadata Management</a:t>
            </a:r>
            <a:br>
              <a:rPr lang="en-IN" sz="1100" dirty="0">
                <a:solidFill>
                  <a:srgbClr val="E8ECF4"/>
                </a:solidFill>
                <a:latin typeface="Calibri"/>
              </a:rPr>
            </a:br>
            <a:r>
              <a:rPr lang="en-IN" sz="1100" dirty="0">
                <a:solidFill>
                  <a:srgbClr val="E8ECF4"/>
                </a:solidFill>
                <a:latin typeface="Calibri"/>
              </a:rPr>
              <a:t>• Dashboard and Upload Status Tracking</a:t>
            </a:r>
            <a:endParaRPr sz="1100" dirty="0">
              <a:solidFill>
                <a:srgbClr val="E8ECF4"/>
              </a:solidFill>
              <a:latin typeface="Calibri"/>
            </a:endParaRPr>
          </a:p>
        </p:txBody>
      </p:sp>
      <p:sp>
        <p:nvSpPr>
          <p:cNvPr id="9" name="Rounded Rectangle 8"/>
          <p:cNvSpPr/>
          <p:nvPr/>
        </p:nvSpPr>
        <p:spPr>
          <a:xfrm>
            <a:off x="3346704" y="1417320"/>
            <a:ext cx="2697480" cy="4846320"/>
          </a:xfrm>
          <a:prstGeom prst="roundRect">
            <a:avLst>
              <a:gd name="adj" fmla="val 10000"/>
            </a:avLst>
          </a:prstGeom>
          <a:solidFill>
            <a:srgbClr val="294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TextBox 9"/>
          <p:cNvSpPr txBox="1"/>
          <p:nvPr/>
        </p:nvSpPr>
        <p:spPr>
          <a:xfrm>
            <a:off x="3502152" y="1554480"/>
            <a:ext cx="2423160" cy="548640"/>
          </a:xfrm>
          <a:prstGeom prst="rect">
            <a:avLst/>
          </a:prstGeom>
          <a:noFill/>
        </p:spPr>
        <p:txBody>
          <a:bodyPr wrap="square" lIns="0" tIns="0" rIns="0" bIns="0" anchor="t">
            <a:spAutoFit/>
          </a:bodyPr>
          <a:lstStyle/>
          <a:p>
            <a:pPr algn="r">
              <a:lnSpc>
                <a:spcPct val="115000"/>
              </a:lnSpc>
            </a:pPr>
            <a:r>
              <a:rPr sz="1800" b="1">
                <a:solidFill>
                  <a:srgbClr val="FFFFFF"/>
                </a:solidFill>
                <a:latin typeface="Calibri"/>
              </a:rPr>
              <a:t>Features</a:t>
            </a:r>
          </a:p>
        </p:txBody>
      </p:sp>
      <p:sp>
        <p:nvSpPr>
          <p:cNvPr id="12" name="TextBox 11"/>
          <p:cNvSpPr txBox="1"/>
          <p:nvPr/>
        </p:nvSpPr>
        <p:spPr>
          <a:xfrm>
            <a:off x="3547872" y="2240280"/>
            <a:ext cx="2331720" cy="1934889"/>
          </a:xfrm>
          <a:prstGeom prst="rect">
            <a:avLst/>
          </a:prstGeom>
          <a:noFill/>
        </p:spPr>
        <p:txBody>
          <a:bodyPr wrap="square" lIns="0" tIns="0">
            <a:spAutoFit/>
          </a:bodyPr>
          <a:lstStyle/>
          <a:p>
            <a:pPr>
              <a:lnSpc>
                <a:spcPct val="125000"/>
              </a:lnSpc>
            </a:pPr>
            <a:r>
              <a:rPr lang="en-IN" sz="1100" dirty="0">
                <a:solidFill>
                  <a:srgbClr val="E8ECF4"/>
                </a:solidFill>
                <a:latin typeface="Calibri"/>
              </a:rPr>
              <a:t>• Centralized Document/Image Repository</a:t>
            </a:r>
            <a:br>
              <a:rPr lang="en-IN" sz="1100" dirty="0">
                <a:solidFill>
                  <a:srgbClr val="E8ECF4"/>
                </a:solidFill>
                <a:latin typeface="Calibri"/>
              </a:rPr>
            </a:br>
            <a:r>
              <a:rPr lang="en-IN" sz="1100" dirty="0">
                <a:solidFill>
                  <a:srgbClr val="E8ECF4"/>
                </a:solidFill>
                <a:latin typeface="Calibri"/>
              </a:rPr>
              <a:t>• Azure Blob Storage Integration</a:t>
            </a:r>
            <a:br>
              <a:rPr lang="en-IN" sz="1100" dirty="0">
                <a:solidFill>
                  <a:srgbClr val="E8ECF4"/>
                </a:solidFill>
                <a:latin typeface="Calibri"/>
              </a:rPr>
            </a:br>
            <a:r>
              <a:rPr lang="en-IN" sz="1100" dirty="0">
                <a:solidFill>
                  <a:srgbClr val="E8ECF4"/>
                </a:solidFill>
                <a:latin typeface="Calibri"/>
              </a:rPr>
              <a:t>• Metadata Storage in Azure SQL Database</a:t>
            </a:r>
            <a:br>
              <a:rPr lang="en-IN" sz="1100" dirty="0">
                <a:solidFill>
                  <a:srgbClr val="E8ECF4"/>
                </a:solidFill>
                <a:latin typeface="Calibri"/>
              </a:rPr>
            </a:br>
            <a:r>
              <a:rPr lang="en-IN" sz="1100" dirty="0">
                <a:solidFill>
                  <a:srgbClr val="E8ECF4"/>
                </a:solidFill>
                <a:latin typeface="Calibri"/>
              </a:rPr>
              <a:t>• JWT-Based Secure API Communication</a:t>
            </a:r>
            <a:br>
              <a:rPr lang="en-IN" sz="1100" dirty="0">
                <a:solidFill>
                  <a:srgbClr val="E8ECF4"/>
                </a:solidFill>
                <a:latin typeface="Calibri"/>
              </a:rPr>
            </a:br>
            <a:r>
              <a:rPr lang="en-IN" sz="1100" dirty="0">
                <a:solidFill>
                  <a:srgbClr val="E8ECF4"/>
                </a:solidFill>
                <a:latin typeface="Calibri"/>
              </a:rPr>
              <a:t>• Real-Time Monitoring and Alerting</a:t>
            </a:r>
            <a:br>
              <a:rPr lang="en-IN" sz="1100" dirty="0">
                <a:solidFill>
                  <a:srgbClr val="E8ECF4"/>
                </a:solidFill>
                <a:latin typeface="Calibri"/>
              </a:rPr>
            </a:br>
            <a:r>
              <a:rPr lang="en-IN" sz="1100" dirty="0">
                <a:solidFill>
                  <a:srgbClr val="E8ECF4"/>
                </a:solidFill>
                <a:latin typeface="Calibri"/>
              </a:rPr>
              <a:t>• Audit Logging and Activity Tracking</a:t>
            </a:r>
          </a:p>
        </p:txBody>
      </p:sp>
      <p:sp>
        <p:nvSpPr>
          <p:cNvPr id="13" name="Rounded Rectangle 12"/>
          <p:cNvSpPr/>
          <p:nvPr/>
        </p:nvSpPr>
        <p:spPr>
          <a:xfrm>
            <a:off x="6227064" y="1417320"/>
            <a:ext cx="2697480" cy="4846320"/>
          </a:xfrm>
          <a:prstGeom prst="roundRect">
            <a:avLst>
              <a:gd name="adj" fmla="val 10000"/>
            </a:avLst>
          </a:prstGeom>
          <a:solidFill>
            <a:srgbClr val="294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18504" y="1554480"/>
            <a:ext cx="2423160" cy="548640"/>
          </a:xfrm>
          <a:prstGeom prst="rect">
            <a:avLst/>
          </a:prstGeom>
          <a:noFill/>
        </p:spPr>
        <p:txBody>
          <a:bodyPr wrap="square" lIns="0" tIns="0" rIns="0" bIns="0" anchor="t">
            <a:spAutoFit/>
          </a:bodyPr>
          <a:lstStyle/>
          <a:p>
            <a:pPr algn="r">
              <a:lnSpc>
                <a:spcPct val="115000"/>
              </a:lnSpc>
            </a:pPr>
            <a:r>
              <a:rPr sz="1800" b="1">
                <a:solidFill>
                  <a:srgbClr val="FFFFFF"/>
                </a:solidFill>
                <a:latin typeface="Calibri"/>
              </a:rPr>
              <a:t>Non-Functional</a:t>
            </a:r>
          </a:p>
        </p:txBody>
      </p:sp>
      <p:sp>
        <p:nvSpPr>
          <p:cNvPr id="16" name="TextBox 15"/>
          <p:cNvSpPr txBox="1"/>
          <p:nvPr/>
        </p:nvSpPr>
        <p:spPr>
          <a:xfrm>
            <a:off x="6483096" y="2240280"/>
            <a:ext cx="2331720" cy="2781274"/>
          </a:xfrm>
          <a:prstGeom prst="rect">
            <a:avLst/>
          </a:prstGeom>
          <a:noFill/>
        </p:spPr>
        <p:txBody>
          <a:bodyPr wrap="square" lIns="0" tIns="0">
            <a:spAutoFit/>
          </a:bodyPr>
          <a:lstStyle/>
          <a:p>
            <a:pPr>
              <a:lnSpc>
                <a:spcPct val="125000"/>
              </a:lnSpc>
            </a:pPr>
            <a:r>
              <a:rPr lang="en-IN" sz="1100" dirty="0">
                <a:solidFill>
                  <a:srgbClr val="E8ECF4"/>
                </a:solidFill>
                <a:latin typeface="Calibri"/>
              </a:rPr>
              <a:t>• High Availability and Reliability</a:t>
            </a:r>
            <a:br>
              <a:rPr lang="en-IN" sz="1100" dirty="0">
                <a:solidFill>
                  <a:srgbClr val="E8ECF4"/>
                </a:solidFill>
                <a:latin typeface="Calibri"/>
              </a:rPr>
            </a:br>
            <a:r>
              <a:rPr lang="en-IN" sz="1100" dirty="0">
                <a:solidFill>
                  <a:srgbClr val="E8ECF4"/>
                </a:solidFill>
                <a:latin typeface="Calibri"/>
              </a:rPr>
              <a:t>• Scalable Architecture for Future Growth</a:t>
            </a:r>
            <a:br>
              <a:rPr lang="en-IN" sz="1100" dirty="0">
                <a:solidFill>
                  <a:srgbClr val="E8ECF4"/>
                </a:solidFill>
                <a:latin typeface="Calibri"/>
              </a:rPr>
            </a:br>
            <a:r>
              <a:rPr lang="en-IN" sz="1100" dirty="0">
                <a:solidFill>
                  <a:srgbClr val="E8ECF4"/>
                </a:solidFill>
                <a:latin typeface="Calibri"/>
              </a:rPr>
              <a:t>• Enterprise-Grade Security and Compliance</a:t>
            </a:r>
            <a:br>
              <a:rPr lang="en-IN" sz="1100" dirty="0">
                <a:solidFill>
                  <a:srgbClr val="E8ECF4"/>
                </a:solidFill>
                <a:latin typeface="Calibri"/>
              </a:rPr>
            </a:br>
            <a:r>
              <a:rPr lang="en-IN" sz="1100" dirty="0">
                <a:solidFill>
                  <a:srgbClr val="E8ECF4"/>
                </a:solidFill>
                <a:latin typeface="Calibri"/>
              </a:rPr>
              <a:t>• Optimized Performance and Low Latency</a:t>
            </a:r>
            <a:br>
              <a:rPr lang="en-IN" sz="1100" dirty="0">
                <a:solidFill>
                  <a:srgbClr val="E8ECF4"/>
                </a:solidFill>
                <a:latin typeface="Calibri"/>
              </a:rPr>
            </a:br>
            <a:r>
              <a:rPr lang="en-IN" sz="1100" dirty="0">
                <a:solidFill>
                  <a:srgbClr val="E8ECF4"/>
                </a:solidFill>
                <a:latin typeface="Calibri"/>
              </a:rPr>
              <a:t>• Secure Data Storage and Encryption</a:t>
            </a:r>
            <a:br>
              <a:rPr lang="en-IN" sz="1100" dirty="0">
                <a:solidFill>
                  <a:srgbClr val="E8ECF4"/>
                </a:solidFill>
                <a:latin typeface="Calibri"/>
              </a:rPr>
            </a:br>
            <a:r>
              <a:rPr lang="en-IN" sz="1100" dirty="0">
                <a:solidFill>
                  <a:srgbClr val="E8ECF4"/>
                </a:solidFill>
                <a:latin typeface="Calibri"/>
              </a:rPr>
              <a:t>• Comprehensive Logging and Monitoring</a:t>
            </a:r>
            <a:br>
              <a:rPr lang="en-IN" sz="1100" dirty="0">
                <a:solidFill>
                  <a:srgbClr val="E8ECF4"/>
                </a:solidFill>
                <a:latin typeface="Calibri"/>
              </a:rPr>
            </a:br>
            <a:r>
              <a:rPr lang="en-IN" sz="1100" dirty="0">
                <a:solidFill>
                  <a:srgbClr val="E8ECF4"/>
                </a:solidFill>
                <a:latin typeface="Calibri"/>
              </a:rPr>
              <a:t>• Maintainable and Modular Design</a:t>
            </a:r>
            <a:br>
              <a:rPr lang="en-IN" sz="1100" dirty="0">
                <a:solidFill>
                  <a:srgbClr val="E8ECF4"/>
                </a:solidFill>
                <a:latin typeface="Calibri"/>
              </a:rPr>
            </a:br>
            <a:r>
              <a:rPr lang="en-IN" sz="1100" dirty="0">
                <a:solidFill>
                  <a:srgbClr val="E8ECF4"/>
                </a:solidFill>
                <a:latin typeface="Calibri"/>
              </a:rPr>
              <a:t>• Disaster Recovery and Backup Readiness</a:t>
            </a:r>
            <a:endParaRPr sz="1100" dirty="0">
              <a:solidFill>
                <a:srgbClr val="E8ECF4"/>
              </a:solidFill>
              <a:latin typeface="Calibri"/>
            </a:endParaRPr>
          </a:p>
        </p:txBody>
      </p:sp>
      <p:sp>
        <p:nvSpPr>
          <p:cNvPr id="17" name="Rounded Rectangle 16"/>
          <p:cNvSpPr/>
          <p:nvPr/>
        </p:nvSpPr>
        <p:spPr>
          <a:xfrm>
            <a:off x="8997696" y="1417320"/>
            <a:ext cx="2697480" cy="4846320"/>
          </a:xfrm>
          <a:prstGeom prst="roundRect">
            <a:avLst>
              <a:gd name="adj" fmla="val 10000"/>
            </a:avLst>
          </a:prstGeom>
          <a:solidFill>
            <a:srgbClr val="294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34856" y="1554480"/>
            <a:ext cx="2423160" cy="548640"/>
          </a:xfrm>
          <a:prstGeom prst="rect">
            <a:avLst/>
          </a:prstGeom>
          <a:noFill/>
        </p:spPr>
        <p:txBody>
          <a:bodyPr wrap="square" lIns="0" tIns="0" rIns="0" bIns="0" anchor="t">
            <a:spAutoFit/>
          </a:bodyPr>
          <a:lstStyle/>
          <a:p>
            <a:pPr algn="r">
              <a:lnSpc>
                <a:spcPct val="115000"/>
              </a:lnSpc>
            </a:pPr>
            <a:r>
              <a:rPr sz="1800" b="1">
                <a:solidFill>
                  <a:srgbClr val="FFFFFF"/>
                </a:solidFill>
                <a:latin typeface="Calibri"/>
              </a:rPr>
              <a:t>Quality</a:t>
            </a:r>
          </a:p>
        </p:txBody>
      </p:sp>
      <p:sp>
        <p:nvSpPr>
          <p:cNvPr id="20" name="TextBox 19"/>
          <p:cNvSpPr txBox="1"/>
          <p:nvPr/>
        </p:nvSpPr>
        <p:spPr>
          <a:xfrm>
            <a:off x="9142907" y="2248342"/>
            <a:ext cx="2331720" cy="2146485"/>
          </a:xfrm>
          <a:prstGeom prst="rect">
            <a:avLst/>
          </a:prstGeom>
          <a:noFill/>
        </p:spPr>
        <p:txBody>
          <a:bodyPr wrap="square" lIns="0" tIns="0">
            <a:spAutoFit/>
          </a:bodyPr>
          <a:lstStyle/>
          <a:p>
            <a:pPr marL="171450" indent="-171450">
              <a:lnSpc>
                <a:spcPct val="125000"/>
              </a:lnSpc>
              <a:buFont typeface="Arial" panose="020B0604020202020204" pitchFamily="34" charset="0"/>
              <a:buChar char="•"/>
            </a:pPr>
            <a:r>
              <a:rPr lang="en-IN" sz="1100" dirty="0">
                <a:solidFill>
                  <a:srgbClr val="E8ECF4"/>
                </a:solidFill>
                <a:latin typeface="Calibri"/>
              </a:rPr>
              <a:t>Secure Authentication &amp; Authorization </a:t>
            </a:r>
          </a:p>
          <a:p>
            <a:pPr marL="171450" indent="-171450">
              <a:lnSpc>
                <a:spcPct val="125000"/>
              </a:lnSpc>
              <a:buFont typeface="Arial" panose="020B0604020202020204" pitchFamily="34" charset="0"/>
              <a:buChar char="•"/>
            </a:pPr>
            <a:r>
              <a:rPr lang="en-IN" sz="1100" dirty="0">
                <a:solidFill>
                  <a:srgbClr val="E8ECF4"/>
                </a:solidFill>
                <a:latin typeface="Calibri"/>
              </a:rPr>
              <a:t>Role-Based Access Control (RBAC) </a:t>
            </a:r>
          </a:p>
          <a:p>
            <a:pPr marL="171450" indent="-171450">
              <a:lnSpc>
                <a:spcPct val="125000"/>
              </a:lnSpc>
              <a:buFont typeface="Arial" panose="020B0604020202020204" pitchFamily="34" charset="0"/>
              <a:buChar char="•"/>
            </a:pPr>
            <a:r>
              <a:rPr lang="en-IN" sz="1100" dirty="0">
                <a:solidFill>
                  <a:srgbClr val="E8ECF4"/>
                </a:solidFill>
                <a:latin typeface="Calibri"/>
              </a:rPr>
              <a:t>Image Upload &amp; Preview Management </a:t>
            </a:r>
          </a:p>
          <a:p>
            <a:pPr marL="171450" indent="-171450">
              <a:lnSpc>
                <a:spcPct val="125000"/>
              </a:lnSpc>
              <a:buFont typeface="Arial" panose="020B0604020202020204" pitchFamily="34" charset="0"/>
              <a:buChar char="•"/>
            </a:pPr>
            <a:r>
              <a:rPr lang="en-IN" sz="1100" dirty="0">
                <a:solidFill>
                  <a:srgbClr val="E8ECF4"/>
                </a:solidFill>
                <a:latin typeface="Calibri"/>
              </a:rPr>
              <a:t>Azure Blob Storage Integration </a:t>
            </a:r>
          </a:p>
          <a:p>
            <a:pPr marL="171450" indent="-171450">
              <a:lnSpc>
                <a:spcPct val="125000"/>
              </a:lnSpc>
              <a:buFont typeface="Arial" panose="020B0604020202020204" pitchFamily="34" charset="0"/>
              <a:buChar char="•"/>
            </a:pPr>
            <a:r>
              <a:rPr lang="en-IN" sz="1100" dirty="0">
                <a:solidFill>
                  <a:srgbClr val="E8ECF4"/>
                </a:solidFill>
                <a:latin typeface="Calibri"/>
              </a:rPr>
              <a:t>Azure SQL Metadata Management </a:t>
            </a:r>
          </a:p>
          <a:p>
            <a:pPr marL="171450" indent="-171450">
              <a:lnSpc>
                <a:spcPct val="125000"/>
              </a:lnSpc>
              <a:buFont typeface="Arial" panose="020B0604020202020204" pitchFamily="34" charset="0"/>
              <a:buChar char="•"/>
            </a:pPr>
            <a:r>
              <a:rPr lang="en-IN" sz="1100" dirty="0">
                <a:solidFill>
                  <a:srgbClr val="E8ECF4"/>
                </a:solidFill>
                <a:latin typeface="Calibri"/>
              </a:rPr>
              <a:t>Monitoring, Logging &amp; Auditability </a:t>
            </a:r>
          </a:p>
          <a:p>
            <a:pPr algn="l">
              <a:lnSpc>
                <a:spcPct val="125000"/>
              </a:lnSpc>
            </a:pPr>
            <a:endParaRPr lang="en-IN" sz="1100" dirty="0">
              <a:solidFill>
                <a:srgbClr val="E8ECF4"/>
              </a:solidFill>
              <a:latin typeface="Calibri"/>
            </a:endParaRPr>
          </a:p>
          <a:p>
            <a:pPr algn="l">
              <a:lnSpc>
                <a:spcPct val="125000"/>
              </a:lnSpc>
            </a:pPr>
            <a:endParaRPr lang="en-IN" sz="1100" dirty="0">
              <a:solidFill>
                <a:srgbClr val="E8ECF4"/>
              </a:solidFill>
              <a:latin typeface="Calibri"/>
            </a:endParaRPr>
          </a:p>
        </p:txBody>
      </p:sp>
      <p:sp>
        <p:nvSpPr>
          <p:cNvPr id="21" name="TextBox 20"/>
          <p:cNvSpPr txBox="1"/>
          <p:nvPr/>
        </p:nvSpPr>
        <p:spPr>
          <a:xfrm>
            <a:off x="457200" y="6492240"/>
            <a:ext cx="548640" cy="228600"/>
          </a:xfrm>
          <a:prstGeom prst="rect">
            <a:avLst/>
          </a:prstGeom>
          <a:noFill/>
        </p:spPr>
        <p:txBody>
          <a:bodyPr wrap="square" lIns="0" tIns="0" rIns="0" bIns="0" anchor="t">
            <a:spAutoFit/>
          </a:bodyPr>
          <a:lstStyle/>
          <a:p>
            <a:pPr algn="l">
              <a:lnSpc>
                <a:spcPct val="115000"/>
              </a:lnSpc>
            </a:pPr>
            <a:r>
              <a:rPr sz="1000" b="0">
                <a:solidFill>
                  <a:srgbClr val="B8C6E3"/>
                </a:solidFill>
                <a:latin typeface="Calibri"/>
              </a:rPr>
              <a:t>5</a:t>
            </a:r>
          </a:p>
        </p:txBody>
      </p:sp>
      <p:sp>
        <p:nvSpPr>
          <p:cNvPr id="22" name="TextBox 21"/>
          <p:cNvSpPr txBox="1"/>
          <p:nvPr/>
        </p:nvSpPr>
        <p:spPr>
          <a:xfrm>
            <a:off x="1005840" y="6492240"/>
            <a:ext cx="7315200" cy="228600"/>
          </a:xfrm>
          <a:prstGeom prst="rect">
            <a:avLst/>
          </a:prstGeom>
          <a:noFill/>
        </p:spPr>
        <p:txBody>
          <a:bodyPr wrap="square" lIns="0" tIns="0" rIns="0" bIns="0" anchor="t">
            <a:spAutoFit/>
          </a:bodyPr>
          <a:lstStyle/>
          <a:p>
            <a:pPr algn="l">
              <a:lnSpc>
                <a:spcPct val="115000"/>
              </a:lnSpc>
            </a:pPr>
            <a:r>
              <a:rPr sz="900" b="0">
                <a:solidFill>
                  <a:srgbClr val="B8C6E3"/>
                </a:solidFill>
                <a:latin typeface="Calibri"/>
              </a:rPr>
              <a:t>© 2026 Cognizant | Confidential &amp; Proprietary</a:t>
            </a:r>
          </a:p>
        </p:txBody>
      </p:sp>
    </p:spTree>
  </p:cSld>
  <p:clrMapOvr>
    <a:masterClrMapping/>
  </p:clrMapOvr>
  <mc:AlternateContent xmlns:mc="http://schemas.openxmlformats.org/markup-compatibility/2006" xmlns:p14="http://schemas.microsoft.com/office/powerpoint/2010/main">
    <mc:Choice Requires="p14">
      <p:transition spd="slow" p14:dur="4400">
        <p14:honeycomb/>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Rect"/>
          <p:cNvSpPr/>
          <p:nvPr/>
        </p:nvSpPr>
        <p:spPr>
          <a:xfrm>
            <a:off x="0" y="0"/>
            <a:ext cx="12192000" cy="6858000"/>
          </a:xfrm>
          <a:prstGeom prst="rect">
            <a:avLst/>
          </a:prstGeom>
          <a:solidFill>
            <a:srgbClr val="02082E"/>
          </a:solidFill>
          <a:ln>
            <a:noFill/>
          </a:ln>
        </p:spPr>
        <p:txBody>
          <a:bodyPr rtlCol="0" anchor="ctr"/>
          <a:lstStyle/>
          <a:p>
            <a:endParaRPr/>
          </a:p>
        </p:txBody>
      </p:sp>
      <p:sp>
        <p:nvSpPr>
          <p:cNvPr id="3" name="Title"/>
          <p:cNvSpPr txBox="1"/>
          <p:nvPr/>
        </p:nvSpPr>
        <p:spPr>
          <a:xfrm>
            <a:off x="548640" y="411480"/>
            <a:ext cx="11094720" cy="433067"/>
          </a:xfrm>
          <a:prstGeom prst="rect">
            <a:avLst/>
          </a:prstGeom>
          <a:noFill/>
        </p:spPr>
        <p:txBody>
          <a:bodyPr wrap="square" lIns="0" tIns="0" rIns="0" bIns="0" anchor="t">
            <a:spAutoFit/>
          </a:bodyPr>
          <a:lstStyle/>
          <a:p>
            <a:pPr algn="l">
              <a:lnSpc>
                <a:spcPct val="115000"/>
              </a:lnSpc>
            </a:pPr>
            <a:r>
              <a:rPr lang="en-US" sz="2600" b="1" dirty="0">
                <a:solidFill>
                  <a:srgbClr val="FFFFFF"/>
                </a:solidFill>
                <a:latin typeface="Calibri"/>
              </a:rPr>
              <a:t>Document Upload Portal</a:t>
            </a:r>
            <a:r>
              <a:rPr sz="2600" b="1" dirty="0">
                <a:solidFill>
                  <a:srgbClr val="FFFFFF"/>
                </a:solidFill>
                <a:latin typeface="Calibri"/>
              </a:rPr>
              <a:t>— TECHNOLOGY STACK</a:t>
            </a:r>
          </a:p>
        </p:txBody>
      </p:sp>
      <p:sp>
        <p:nvSpPr>
          <p:cNvPr id="4" name="AccentBar"/>
          <p:cNvSpPr/>
          <p:nvPr/>
        </p:nvSpPr>
        <p:spPr>
          <a:xfrm>
            <a:off x="548640" y="1097280"/>
            <a:ext cx="502920" cy="38100"/>
          </a:xfrm>
          <a:prstGeom prst="rect">
            <a:avLst/>
          </a:prstGeom>
          <a:solidFill>
            <a:srgbClr val="1E88E5"/>
          </a:solidFill>
          <a:ln>
            <a:noFill/>
          </a:ln>
        </p:spPr>
        <p:txBody>
          <a:bodyPr/>
          <a:lstStyle/>
          <a:p>
            <a:endParaRPr/>
          </a:p>
        </p:txBody>
      </p:sp>
      <p:sp>
        <p:nvSpPr>
          <p:cNvPr id="10" name="Explain"/>
          <p:cNvSpPr txBox="1"/>
          <p:nvPr/>
        </p:nvSpPr>
        <p:spPr>
          <a:xfrm>
            <a:off x="548639" y="1250000"/>
            <a:ext cx="7542937" cy="3290581"/>
          </a:xfrm>
          <a:prstGeom prst="rect">
            <a:avLst/>
          </a:prstGeom>
          <a:noFill/>
        </p:spPr>
        <p:txBody>
          <a:bodyPr wrap="square" lIns="91440" tIns="45720" rIns="91440" bIns="45720">
            <a:spAutoFit/>
          </a:bodyPr>
          <a:lstStyle/>
          <a:p>
            <a:pPr>
              <a:lnSpc>
                <a:spcPct val="130000"/>
              </a:lnSpc>
            </a:pPr>
            <a:r>
              <a:rPr lang="en-IN" sz="1400" b="1" dirty="0">
                <a:solidFill>
                  <a:srgbClr val="00BFFF"/>
                </a:solidFill>
              </a:rPr>
              <a:t>Frontend — .NET Core Web </a:t>
            </a:r>
          </a:p>
          <a:p>
            <a:pPr algn="l">
              <a:lnSpc>
                <a:spcPct val="130000"/>
              </a:lnSpc>
            </a:pPr>
            <a:r>
              <a:rPr sz="1400" b="0" dirty="0">
                <a:solidFill>
                  <a:srgbClr val="E8ECF4"/>
                </a:solidFill>
                <a:latin typeface="Calibri"/>
              </a:rPr>
              <a:t>• </a:t>
            </a:r>
            <a:r>
              <a:rPr lang="en-US" sz="1400" b="0" dirty="0">
                <a:solidFill>
                  <a:srgbClr val="E8ECF4"/>
                </a:solidFill>
                <a:latin typeface="Calibri"/>
              </a:rPr>
              <a:t>Creating Monolith, N-Tier Architecture Web Application using .NET Core Web .</a:t>
            </a:r>
            <a:endParaRPr sz="1400" b="0" dirty="0">
              <a:solidFill>
                <a:srgbClr val="E8ECF4"/>
              </a:solidFill>
              <a:latin typeface="Calibri"/>
            </a:endParaRPr>
          </a:p>
          <a:p>
            <a:pPr algn="l">
              <a:lnSpc>
                <a:spcPct val="130000"/>
              </a:lnSpc>
            </a:pPr>
            <a:r>
              <a:rPr sz="1400" b="0" dirty="0">
                <a:solidFill>
                  <a:srgbClr val="E8ECF4"/>
                </a:solidFill>
                <a:latin typeface="Calibri"/>
              </a:rPr>
              <a:t>• JWT interceptor attaches Bearer token;</a:t>
            </a:r>
          </a:p>
          <a:p>
            <a:pPr algn="l">
              <a:lnSpc>
                <a:spcPct val="130000"/>
              </a:lnSpc>
            </a:pPr>
            <a:endParaRPr sz="1050" b="0" dirty="0">
              <a:solidFill>
                <a:srgbClr val="E8ECF4"/>
              </a:solidFill>
              <a:latin typeface="Calibri"/>
            </a:endParaRPr>
          </a:p>
          <a:p>
            <a:pPr>
              <a:lnSpc>
                <a:spcPct val="130000"/>
              </a:lnSpc>
            </a:pPr>
            <a:r>
              <a:rPr sz="1400" b="1" dirty="0">
                <a:solidFill>
                  <a:srgbClr val="00BFFF"/>
                </a:solidFill>
              </a:rPr>
              <a:t>Backend — .NET Web API </a:t>
            </a:r>
            <a:endParaRPr lang="en-US" sz="1400" b="1" dirty="0">
              <a:solidFill>
                <a:srgbClr val="00BFFF"/>
              </a:solidFill>
            </a:endParaRPr>
          </a:p>
          <a:p>
            <a:pPr>
              <a:lnSpc>
                <a:spcPct val="130000"/>
              </a:lnSpc>
            </a:pPr>
            <a:r>
              <a:rPr sz="1400" dirty="0">
                <a:solidFill>
                  <a:srgbClr val="E8ECF4"/>
                </a:solidFill>
                <a:latin typeface="Calibri"/>
              </a:rPr>
              <a:t>• Clean Architecture monolith</a:t>
            </a:r>
            <a:endParaRPr lang="en-US" sz="1400" dirty="0">
              <a:solidFill>
                <a:srgbClr val="E8ECF4"/>
              </a:solidFill>
              <a:latin typeface="Calibri"/>
            </a:endParaRPr>
          </a:p>
          <a:p>
            <a:pPr>
              <a:lnSpc>
                <a:spcPct val="130000"/>
              </a:lnSpc>
            </a:pPr>
            <a:r>
              <a:rPr sz="1400" dirty="0">
                <a:solidFill>
                  <a:srgbClr val="E8ECF4"/>
                </a:solidFill>
                <a:latin typeface="Calibri"/>
              </a:rPr>
              <a:t>• Swagger at /swagger; health probe at /health; </a:t>
            </a:r>
            <a:r>
              <a:rPr sz="1400" dirty="0" err="1">
                <a:solidFill>
                  <a:srgbClr val="E8ECF4"/>
                </a:solidFill>
                <a:latin typeface="Calibri"/>
              </a:rPr>
              <a:t>Serilog</a:t>
            </a:r>
            <a:r>
              <a:rPr sz="1400" dirty="0">
                <a:solidFill>
                  <a:srgbClr val="E8ECF4"/>
                </a:solidFill>
                <a:latin typeface="Calibri"/>
              </a:rPr>
              <a:t> → App Insights → Log Analytics</a:t>
            </a:r>
          </a:p>
          <a:p>
            <a:pPr algn="l">
              <a:lnSpc>
                <a:spcPct val="130000"/>
              </a:lnSpc>
            </a:pPr>
            <a:endParaRPr sz="1050" b="0" dirty="0">
              <a:solidFill>
                <a:srgbClr val="E8ECF4"/>
              </a:solidFill>
              <a:latin typeface="Calibri"/>
            </a:endParaRPr>
          </a:p>
          <a:p>
            <a:pPr>
              <a:lnSpc>
                <a:spcPct val="130000"/>
              </a:lnSpc>
            </a:pPr>
            <a:r>
              <a:rPr sz="1400" b="1" dirty="0">
                <a:solidFill>
                  <a:srgbClr val="00BFFF"/>
                </a:solidFill>
              </a:rPr>
              <a:t>Data &amp; Cloud — Azure Managed Services</a:t>
            </a:r>
          </a:p>
          <a:p>
            <a:pPr algn="l">
              <a:lnSpc>
                <a:spcPct val="130000"/>
              </a:lnSpc>
            </a:pPr>
            <a:r>
              <a:rPr sz="1400" dirty="0">
                <a:solidFill>
                  <a:srgbClr val="E8ECF4"/>
                </a:solidFill>
                <a:latin typeface="Calibri"/>
              </a:rPr>
              <a:t>• Azure SQL Database — </a:t>
            </a:r>
            <a:r>
              <a:rPr lang="en-US" sz="1400" dirty="0">
                <a:solidFill>
                  <a:srgbClr val="E8ECF4"/>
                </a:solidFill>
                <a:latin typeface="Calibri"/>
              </a:rPr>
              <a:t>Manage Metadata</a:t>
            </a:r>
          </a:p>
          <a:p>
            <a:pPr marL="171450" indent="-171450">
              <a:lnSpc>
                <a:spcPct val="130000"/>
              </a:lnSpc>
              <a:buFont typeface="Arial" panose="020B0604020202020204" pitchFamily="34" charset="0"/>
              <a:buChar char="•"/>
            </a:pPr>
            <a:r>
              <a:rPr lang="en-US" sz="1400" dirty="0">
                <a:solidFill>
                  <a:srgbClr val="E8ECF4"/>
                </a:solidFill>
                <a:latin typeface="Calibri"/>
              </a:rPr>
              <a:t>Azure BLOB Storage – Store Image</a:t>
            </a:r>
            <a:endParaRPr sz="1400" dirty="0">
              <a:solidFill>
                <a:srgbClr val="E8ECF4"/>
              </a:solidFill>
              <a:latin typeface="Calibri"/>
            </a:endParaRPr>
          </a:p>
          <a:p>
            <a:pPr algn="l">
              <a:lnSpc>
                <a:spcPct val="130000"/>
              </a:lnSpc>
            </a:pPr>
            <a:r>
              <a:rPr sz="1400" dirty="0">
                <a:solidFill>
                  <a:srgbClr val="E8ECF4"/>
                </a:solidFill>
                <a:latin typeface="Calibri"/>
              </a:rPr>
              <a:t>• Azure Key Vault — secrets via Managed Identity; Application Insights — APM &amp; alerts</a:t>
            </a:r>
          </a:p>
        </p:txBody>
      </p:sp>
      <p:sp>
        <p:nvSpPr>
          <p:cNvPr id="90" name="SlideNum"/>
          <p:cNvSpPr txBox="1"/>
          <p:nvPr/>
        </p:nvSpPr>
        <p:spPr>
          <a:xfrm>
            <a:off x="457200" y="6492240"/>
            <a:ext cx="548640" cy="228600"/>
          </a:xfrm>
          <a:prstGeom prst="rect">
            <a:avLst/>
          </a:prstGeom>
          <a:noFill/>
        </p:spPr>
        <p:txBody>
          <a:bodyPr wrap="square" lIns="0" tIns="0" rIns="0" bIns="0" anchor="t">
            <a:spAutoFit/>
          </a:bodyPr>
          <a:lstStyle/>
          <a:p>
            <a:pPr algn="l"/>
            <a:r>
              <a:rPr sz="1000" b="0">
                <a:solidFill>
                  <a:srgbClr val="B8C6E3"/>
                </a:solidFill>
                <a:latin typeface="Calibri"/>
              </a:rPr>
              <a:t>6</a:t>
            </a:r>
          </a:p>
        </p:txBody>
      </p:sp>
      <p:sp>
        <p:nvSpPr>
          <p:cNvPr id="91" name="Copyright"/>
          <p:cNvSpPr txBox="1"/>
          <p:nvPr/>
        </p:nvSpPr>
        <p:spPr>
          <a:xfrm>
            <a:off x="1005840" y="6492240"/>
            <a:ext cx="7315200" cy="228600"/>
          </a:xfrm>
          <a:prstGeom prst="rect">
            <a:avLst/>
          </a:prstGeom>
          <a:noFill/>
        </p:spPr>
        <p:txBody>
          <a:bodyPr wrap="square" lIns="0" tIns="0" rIns="0" bIns="0" anchor="t">
            <a:spAutoFit/>
          </a:bodyPr>
          <a:lstStyle/>
          <a:p>
            <a:pPr algn="l"/>
            <a:r>
              <a:rPr sz="900" b="0">
                <a:solidFill>
                  <a:srgbClr val="B8C6E3"/>
                </a:solidFill>
                <a:latin typeface="Calibri"/>
              </a:rPr>
              <a:t>© 2026 Cognizant | Confidential &amp; Proprietary</a:t>
            </a:r>
          </a:p>
        </p:txBody>
      </p:sp>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Background"/>
          <p:cNvPicPr>
            <a:picLocks noChangeAspect="1"/>
          </p:cNvPicPr>
          <p:nvPr/>
        </p:nvPicPr>
        <p:blipFill>
          <a:blip r:embed="rId2"/>
          <a:stretch/>
        </p:blipFill>
        <p:spPr>
          <a:xfrm>
            <a:off x="0" y="0"/>
            <a:ext cx="12192000" cy="6858000"/>
          </a:xfrm>
          <a:prstGeom prst="rect">
            <a:avLst/>
          </a:prstGeom>
        </p:spPr>
      </p:pic>
      <p:pic>
        <p:nvPicPr>
          <p:cNvPr id="3" name="CognizantLogo"/>
          <p:cNvPicPr>
            <a:picLocks noChangeAspect="1"/>
          </p:cNvPicPr>
          <p:nvPr/>
        </p:nvPicPr>
        <p:blipFill>
          <a:blip r:embed="rId3"/>
          <a:stretch/>
        </p:blipFill>
        <p:spPr>
          <a:xfrm>
            <a:off x="457200" y="411480"/>
            <a:ext cx="2286000" cy="411480"/>
          </a:xfrm>
          <a:prstGeom prst="rect">
            <a:avLst/>
          </a:prstGeom>
        </p:spPr>
      </p:pic>
      <p:sp>
        <p:nvSpPr>
          <p:cNvPr id="4" name="TextBox 3"/>
          <p:cNvSpPr txBox="1"/>
          <p:nvPr/>
        </p:nvSpPr>
        <p:spPr>
          <a:xfrm>
            <a:off x="731520" y="2377440"/>
            <a:ext cx="8229600" cy="1097280"/>
          </a:xfrm>
          <a:prstGeom prst="rect">
            <a:avLst/>
          </a:prstGeom>
          <a:noFill/>
        </p:spPr>
        <p:txBody>
          <a:bodyPr wrap="square" lIns="0" tIns="0" rIns="0" bIns="0" anchor="t">
            <a:spAutoFit/>
          </a:bodyPr>
          <a:lstStyle/>
          <a:p>
            <a:pPr algn="l">
              <a:lnSpc>
                <a:spcPct val="110000"/>
              </a:lnSpc>
            </a:pPr>
            <a:r>
              <a:rPr sz="4000" b="1">
                <a:solidFill>
                  <a:srgbClr val="FFFFFF"/>
                </a:solidFill>
                <a:latin typeface="Calibri"/>
              </a:rPr>
              <a:t>Design</a:t>
            </a:r>
          </a:p>
        </p:txBody>
      </p:sp>
      <p:sp>
        <p:nvSpPr>
          <p:cNvPr id="5" name="TextBox 4"/>
          <p:cNvSpPr txBox="1"/>
          <p:nvPr/>
        </p:nvSpPr>
        <p:spPr>
          <a:xfrm>
            <a:off x="731520" y="4023360"/>
            <a:ext cx="8229600" cy="548640"/>
          </a:xfrm>
          <a:prstGeom prst="rect">
            <a:avLst/>
          </a:prstGeom>
          <a:noFill/>
        </p:spPr>
        <p:txBody>
          <a:bodyPr wrap="square" lIns="0" tIns="0" rIns="0" bIns="0" anchor="t">
            <a:spAutoFit/>
          </a:bodyPr>
          <a:lstStyle/>
          <a:p>
            <a:pPr algn="l">
              <a:lnSpc>
                <a:spcPct val="115000"/>
              </a:lnSpc>
            </a:pPr>
            <a:r>
              <a:rPr sz="1600" b="0">
                <a:solidFill>
                  <a:srgbClr val="B8C6E3"/>
                </a:solidFill>
                <a:latin typeface="Calibri"/>
              </a:rPr>
              <a:t>Auth · API · ER · Class · Sequence</a:t>
            </a:r>
          </a:p>
        </p:txBody>
      </p:sp>
      <p:sp>
        <p:nvSpPr>
          <p:cNvPr id="6" name="TextBox 5"/>
          <p:cNvSpPr txBox="1"/>
          <p:nvPr/>
        </p:nvSpPr>
        <p:spPr>
          <a:xfrm>
            <a:off x="457200" y="6492240"/>
            <a:ext cx="548640" cy="228600"/>
          </a:xfrm>
          <a:prstGeom prst="rect">
            <a:avLst/>
          </a:prstGeom>
          <a:noFill/>
        </p:spPr>
        <p:txBody>
          <a:bodyPr wrap="square" lIns="0" tIns="0" rIns="0" bIns="0" anchor="t">
            <a:spAutoFit/>
          </a:bodyPr>
          <a:lstStyle/>
          <a:p>
            <a:pPr algn="l">
              <a:lnSpc>
                <a:spcPct val="115000"/>
              </a:lnSpc>
            </a:pPr>
            <a:r>
              <a:rPr sz="1000" b="0">
                <a:solidFill>
                  <a:srgbClr val="B8C6E3"/>
                </a:solidFill>
                <a:latin typeface="Calibri"/>
              </a:rPr>
              <a:t>7</a:t>
            </a:r>
          </a:p>
        </p:txBody>
      </p:sp>
      <p:sp>
        <p:nvSpPr>
          <p:cNvPr id="7" name="TextBox 6"/>
          <p:cNvSpPr txBox="1"/>
          <p:nvPr/>
        </p:nvSpPr>
        <p:spPr>
          <a:xfrm>
            <a:off x="1005840" y="6492240"/>
            <a:ext cx="7315200" cy="228600"/>
          </a:xfrm>
          <a:prstGeom prst="rect">
            <a:avLst/>
          </a:prstGeom>
          <a:noFill/>
        </p:spPr>
        <p:txBody>
          <a:bodyPr wrap="square" lIns="0" tIns="0" rIns="0" bIns="0" anchor="t">
            <a:spAutoFit/>
          </a:bodyPr>
          <a:lstStyle/>
          <a:p>
            <a:pPr algn="l">
              <a:lnSpc>
                <a:spcPct val="115000"/>
              </a:lnSpc>
            </a:pPr>
            <a:r>
              <a:rPr sz="900" b="0">
                <a:solidFill>
                  <a:srgbClr val="B8C6E3"/>
                </a:solidFill>
                <a:latin typeface="Calibri"/>
              </a:rPr>
              <a:t>© 2026 Cognizant | Confidential &amp; Proprietary</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Rect"/>
          <p:cNvSpPr/>
          <p:nvPr/>
        </p:nvSpPr>
        <p:spPr>
          <a:xfrm>
            <a:off x="0" y="0"/>
            <a:ext cx="12192000" cy="6858000"/>
          </a:xfrm>
          <a:prstGeom prst="rect">
            <a:avLst/>
          </a:prstGeom>
          <a:solidFill>
            <a:srgbClr val="02082E"/>
          </a:solidFill>
          <a:ln>
            <a:noFill/>
          </a:ln>
        </p:spPr>
        <p:txBody>
          <a:bodyPr rtlCol="0" anchor="ctr"/>
          <a:lstStyle/>
          <a:p>
            <a:endParaRPr dirty="0"/>
          </a:p>
        </p:txBody>
      </p:sp>
      <p:sp>
        <p:nvSpPr>
          <p:cNvPr id="3" name="Title"/>
          <p:cNvSpPr txBox="1"/>
          <p:nvPr/>
        </p:nvSpPr>
        <p:spPr>
          <a:xfrm>
            <a:off x="548640" y="411480"/>
            <a:ext cx="11094720" cy="433067"/>
          </a:xfrm>
          <a:prstGeom prst="rect">
            <a:avLst/>
          </a:prstGeom>
          <a:noFill/>
        </p:spPr>
        <p:txBody>
          <a:bodyPr wrap="square" lIns="0" tIns="0" rIns="0" bIns="0" anchor="t">
            <a:spAutoFit/>
          </a:bodyPr>
          <a:lstStyle/>
          <a:p>
            <a:pPr algn="l">
              <a:lnSpc>
                <a:spcPct val="115000"/>
              </a:lnSpc>
            </a:pPr>
            <a:r>
              <a:rPr sz="2600" b="1" dirty="0">
                <a:solidFill>
                  <a:srgbClr val="FFFFFF"/>
                </a:solidFill>
                <a:latin typeface="Calibri"/>
              </a:rPr>
              <a:t>HIGH-LEVEL ARCHITECTURE</a:t>
            </a:r>
          </a:p>
        </p:txBody>
      </p:sp>
      <p:sp>
        <p:nvSpPr>
          <p:cNvPr id="4" name="AccentBar"/>
          <p:cNvSpPr/>
          <p:nvPr/>
        </p:nvSpPr>
        <p:spPr>
          <a:xfrm>
            <a:off x="548640" y="1097280"/>
            <a:ext cx="502920" cy="38100"/>
          </a:xfrm>
          <a:prstGeom prst="rect">
            <a:avLst/>
          </a:prstGeom>
          <a:solidFill>
            <a:srgbClr val="1E88E5"/>
          </a:solidFill>
          <a:ln>
            <a:noFill/>
          </a:ln>
        </p:spPr>
        <p:txBody>
          <a:bodyPr/>
          <a:lstStyle/>
          <a:p>
            <a:endParaRPr/>
          </a:p>
        </p:txBody>
      </p:sp>
      <p:sp>
        <p:nvSpPr>
          <p:cNvPr id="10" name="Explain"/>
          <p:cNvSpPr txBox="1"/>
          <p:nvPr/>
        </p:nvSpPr>
        <p:spPr>
          <a:xfrm>
            <a:off x="548640" y="1148927"/>
            <a:ext cx="5079345" cy="6167009"/>
          </a:xfrm>
          <a:prstGeom prst="rect">
            <a:avLst/>
          </a:prstGeom>
          <a:noFill/>
        </p:spPr>
        <p:txBody>
          <a:bodyPr wrap="square" lIns="91440" tIns="45720" rIns="91440" bIns="45720">
            <a:spAutoFit/>
          </a:bodyPr>
          <a:lstStyle/>
          <a:p>
            <a:pPr>
              <a:lnSpc>
                <a:spcPct val="130000"/>
              </a:lnSpc>
            </a:pPr>
            <a:r>
              <a:rPr lang="en-US" sz="1300" dirty="0">
                <a:solidFill>
                  <a:srgbClr val="E8ECF4"/>
                </a:solidFill>
                <a:latin typeface="Calibri"/>
              </a:rPr>
              <a:t>The Document Upload Portal follows a layered Azure-based architecture with a .NET Core Web Application as the presentation layer and a .NET Core Web API as the backend API layer.</a:t>
            </a:r>
            <a:endParaRPr lang="en-IN" sz="1300" dirty="0">
              <a:solidFill>
                <a:srgbClr val="E8ECF4"/>
              </a:solidFill>
              <a:latin typeface="Calibri"/>
            </a:endParaRPr>
          </a:p>
          <a:p>
            <a:pPr>
              <a:lnSpc>
                <a:spcPct val="130000"/>
              </a:lnSpc>
            </a:pPr>
            <a:r>
              <a:rPr lang="en-US" sz="1300" dirty="0">
                <a:solidFill>
                  <a:srgbClr val="E8ECF4"/>
                </a:solidFill>
                <a:latin typeface="Calibri"/>
              </a:rPr>
              <a:t>Users upload and preview images through the Web UI. The API validates and handles JWT authentication and RBAC for Admin/Uploader Roles. Secrets such as SQL connection strings, JWT secrets are securely stored in Azure Key Vault.</a:t>
            </a:r>
            <a:endParaRPr lang="en-IN" sz="1300" dirty="0">
              <a:solidFill>
                <a:srgbClr val="E8ECF4"/>
              </a:solidFill>
              <a:latin typeface="Calibri"/>
            </a:endParaRPr>
          </a:p>
          <a:p>
            <a:pPr>
              <a:lnSpc>
                <a:spcPct val="130000"/>
              </a:lnSpc>
            </a:pPr>
            <a:r>
              <a:rPr lang="en-US" sz="1300" dirty="0">
                <a:solidFill>
                  <a:srgbClr val="E8ECF4"/>
                </a:solidFill>
                <a:latin typeface="Calibri"/>
              </a:rPr>
              <a:t>Images are stored in Azure BLOB Storage, while metadata such as image ID, type, size, path, and uploaded user details are stored in Azure SQL Server.</a:t>
            </a:r>
          </a:p>
          <a:p>
            <a:pPr>
              <a:lnSpc>
                <a:spcPct val="130000"/>
              </a:lnSpc>
            </a:pPr>
            <a:endParaRPr lang="en-US" sz="1300" dirty="0">
              <a:solidFill>
                <a:srgbClr val="E8ECF4"/>
              </a:solidFill>
              <a:latin typeface="Calibri"/>
            </a:endParaRPr>
          </a:p>
          <a:p>
            <a:pPr>
              <a:lnSpc>
                <a:spcPct val="130000"/>
              </a:lnSpc>
            </a:pPr>
            <a:r>
              <a:rPr lang="en-IN" sz="1300" dirty="0">
                <a:solidFill>
                  <a:srgbClr val="E8ECF4"/>
                </a:solidFill>
                <a:latin typeface="Calibri"/>
              </a:rPr>
              <a:t>The Document Upload Portal is designed as a secure, Azure-native solution that enables role-based image upload and preview capabilities. Azure Entra ID provides centralized authentication and authorization, while Azure Application Gateway secures inbound traffic. The application, hosted on Azure App Service, processes image upload and preview requests, stores image files in Azure Blob Storage, and maintains metadata in Azure SQL Database. Azure Key Vault secures application secrets, and Azure Monitor with Application Insights delivers centralized monitoring, logging, and operational visibility, ensuring a scalable, secure, and enterprise-ready platform.</a:t>
            </a:r>
          </a:p>
          <a:p>
            <a:pPr>
              <a:lnSpc>
                <a:spcPct val="130000"/>
              </a:lnSpc>
            </a:pPr>
            <a:endParaRPr lang="en-IN" sz="1050" dirty="0">
              <a:solidFill>
                <a:srgbClr val="E8ECF4"/>
              </a:solidFill>
              <a:latin typeface="Calibri"/>
            </a:endParaRPr>
          </a:p>
          <a:p>
            <a:pPr algn="l">
              <a:lnSpc>
                <a:spcPct val="130000"/>
              </a:lnSpc>
            </a:pPr>
            <a:endParaRPr lang="en-IN" sz="1050" dirty="0">
              <a:solidFill>
                <a:srgbClr val="E8ECF4"/>
              </a:solidFill>
              <a:latin typeface="Calibri"/>
            </a:endParaRPr>
          </a:p>
          <a:p>
            <a:pPr algn="l">
              <a:lnSpc>
                <a:spcPct val="130000"/>
              </a:lnSpc>
            </a:pPr>
            <a:endParaRPr sz="1050" b="0" dirty="0">
              <a:solidFill>
                <a:srgbClr val="E8ECF4"/>
              </a:solidFill>
              <a:latin typeface="Calibri"/>
            </a:endParaRPr>
          </a:p>
        </p:txBody>
      </p:sp>
      <p:sp>
        <p:nvSpPr>
          <p:cNvPr id="90" name="SlideNum"/>
          <p:cNvSpPr txBox="1"/>
          <p:nvPr/>
        </p:nvSpPr>
        <p:spPr>
          <a:xfrm>
            <a:off x="457200" y="6492240"/>
            <a:ext cx="548640" cy="228600"/>
          </a:xfrm>
          <a:prstGeom prst="rect">
            <a:avLst/>
          </a:prstGeom>
          <a:noFill/>
        </p:spPr>
        <p:txBody>
          <a:bodyPr wrap="square" lIns="0" tIns="0" rIns="0" bIns="0" anchor="t">
            <a:spAutoFit/>
          </a:bodyPr>
          <a:lstStyle/>
          <a:p>
            <a:pPr algn="l"/>
            <a:r>
              <a:rPr sz="1000" b="0">
                <a:solidFill>
                  <a:srgbClr val="B8C6E3"/>
                </a:solidFill>
                <a:latin typeface="Calibri"/>
              </a:rPr>
              <a:t>8</a:t>
            </a:r>
          </a:p>
        </p:txBody>
      </p:sp>
      <p:sp>
        <p:nvSpPr>
          <p:cNvPr id="91" name="Copyright"/>
          <p:cNvSpPr txBox="1"/>
          <p:nvPr/>
        </p:nvSpPr>
        <p:spPr>
          <a:xfrm>
            <a:off x="1005840" y="6446520"/>
            <a:ext cx="7315200" cy="228600"/>
          </a:xfrm>
          <a:prstGeom prst="rect">
            <a:avLst/>
          </a:prstGeom>
          <a:noFill/>
        </p:spPr>
        <p:txBody>
          <a:bodyPr wrap="square" lIns="0" tIns="0" rIns="0" bIns="0" anchor="t">
            <a:spAutoFit/>
          </a:bodyPr>
          <a:lstStyle/>
          <a:p>
            <a:pPr algn="l"/>
            <a:r>
              <a:rPr sz="900" b="0" dirty="0">
                <a:solidFill>
                  <a:srgbClr val="B8C6E3"/>
                </a:solidFill>
                <a:latin typeface="Calibri"/>
              </a:rPr>
              <a:t>© 2026 Cognizant | Confidential &amp; Proprietary</a:t>
            </a:r>
          </a:p>
        </p:txBody>
      </p:sp>
      <p:pic>
        <p:nvPicPr>
          <p:cNvPr id="3077" name="Picture 5">
            <a:extLst>
              <a:ext uri="{FF2B5EF4-FFF2-40B4-BE49-F238E27FC236}">
                <a16:creationId xmlns:a16="http://schemas.microsoft.com/office/drawing/2014/main" id="{F5EFE7FA-0D9C-4678-9854-C32D5BA6F2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0362" y="896702"/>
            <a:ext cx="6206122" cy="5238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43359-4B1D-D5C4-FF71-7A381AE422BD}"/>
            </a:ext>
          </a:extLst>
        </p:cNvPr>
        <p:cNvGrpSpPr/>
        <p:nvPr/>
      </p:nvGrpSpPr>
      <p:grpSpPr>
        <a:xfrm>
          <a:off x="0" y="0"/>
          <a:ext cx="0" cy="0"/>
          <a:chOff x="0" y="0"/>
          <a:chExt cx="0" cy="0"/>
        </a:xfrm>
      </p:grpSpPr>
      <p:sp>
        <p:nvSpPr>
          <p:cNvPr id="2" name="BgRect">
            <a:extLst>
              <a:ext uri="{FF2B5EF4-FFF2-40B4-BE49-F238E27FC236}">
                <a16:creationId xmlns:a16="http://schemas.microsoft.com/office/drawing/2014/main" id="{C3FF8CC1-2314-7923-1EBE-7C4A9D038AD9}"/>
              </a:ext>
            </a:extLst>
          </p:cNvPr>
          <p:cNvSpPr/>
          <p:nvPr/>
        </p:nvSpPr>
        <p:spPr>
          <a:xfrm>
            <a:off x="0" y="0"/>
            <a:ext cx="12192000" cy="6858000"/>
          </a:xfrm>
          <a:prstGeom prst="rect">
            <a:avLst/>
          </a:prstGeom>
          <a:solidFill>
            <a:srgbClr val="02082E"/>
          </a:solidFill>
          <a:ln>
            <a:noFill/>
          </a:ln>
        </p:spPr>
        <p:txBody>
          <a:bodyPr rtlCol="0" anchor="ctr"/>
          <a:lstStyle/>
          <a:p>
            <a:r>
              <a:rPr lang="en-US" dirty="0"/>
              <a:t>     </a:t>
            </a:r>
            <a:endParaRPr dirty="0"/>
          </a:p>
        </p:txBody>
      </p:sp>
      <p:sp>
        <p:nvSpPr>
          <p:cNvPr id="3" name="Title">
            <a:extLst>
              <a:ext uri="{FF2B5EF4-FFF2-40B4-BE49-F238E27FC236}">
                <a16:creationId xmlns:a16="http://schemas.microsoft.com/office/drawing/2014/main" id="{60CE5DFE-8391-7340-8E43-6A87D6023334}"/>
              </a:ext>
            </a:extLst>
          </p:cNvPr>
          <p:cNvSpPr txBox="1"/>
          <p:nvPr/>
        </p:nvSpPr>
        <p:spPr>
          <a:xfrm>
            <a:off x="548640" y="411480"/>
            <a:ext cx="11094720" cy="433067"/>
          </a:xfrm>
          <a:prstGeom prst="rect">
            <a:avLst/>
          </a:prstGeom>
          <a:noFill/>
        </p:spPr>
        <p:txBody>
          <a:bodyPr wrap="square" lIns="0" tIns="0" rIns="0" bIns="0" anchor="t">
            <a:spAutoFit/>
          </a:bodyPr>
          <a:lstStyle/>
          <a:p>
            <a:pPr algn="l">
              <a:lnSpc>
                <a:spcPct val="115000"/>
              </a:lnSpc>
            </a:pPr>
            <a:r>
              <a:rPr lang="en-US" sz="2600" b="1" dirty="0">
                <a:solidFill>
                  <a:srgbClr val="FFFFFF"/>
                </a:solidFill>
                <a:latin typeface="Calibri"/>
              </a:rPr>
              <a:t>APPLICATION ARCHITECTURE DIAGRAM</a:t>
            </a:r>
            <a:endParaRPr sz="2600" b="1" dirty="0">
              <a:solidFill>
                <a:srgbClr val="FFFFFF"/>
              </a:solidFill>
              <a:latin typeface="Calibri"/>
            </a:endParaRPr>
          </a:p>
        </p:txBody>
      </p:sp>
      <p:sp>
        <p:nvSpPr>
          <p:cNvPr id="4" name="AccentBar">
            <a:extLst>
              <a:ext uri="{FF2B5EF4-FFF2-40B4-BE49-F238E27FC236}">
                <a16:creationId xmlns:a16="http://schemas.microsoft.com/office/drawing/2014/main" id="{A5C2C994-32B5-0866-C709-9F3832F7B375}"/>
              </a:ext>
            </a:extLst>
          </p:cNvPr>
          <p:cNvSpPr/>
          <p:nvPr/>
        </p:nvSpPr>
        <p:spPr>
          <a:xfrm>
            <a:off x="548640" y="1097280"/>
            <a:ext cx="502920" cy="38100"/>
          </a:xfrm>
          <a:prstGeom prst="rect">
            <a:avLst/>
          </a:prstGeom>
          <a:solidFill>
            <a:srgbClr val="1E88E5"/>
          </a:solidFill>
          <a:ln>
            <a:noFill/>
          </a:ln>
        </p:spPr>
        <p:txBody>
          <a:bodyPr/>
          <a:lstStyle/>
          <a:p>
            <a:endParaRPr/>
          </a:p>
        </p:txBody>
      </p:sp>
      <p:sp>
        <p:nvSpPr>
          <p:cNvPr id="10" name="Explain">
            <a:extLst>
              <a:ext uri="{FF2B5EF4-FFF2-40B4-BE49-F238E27FC236}">
                <a16:creationId xmlns:a16="http://schemas.microsoft.com/office/drawing/2014/main" id="{22D46A54-8402-8DFB-20C5-47ADB1CF36F7}"/>
              </a:ext>
            </a:extLst>
          </p:cNvPr>
          <p:cNvSpPr txBox="1"/>
          <p:nvPr/>
        </p:nvSpPr>
        <p:spPr>
          <a:xfrm>
            <a:off x="548640" y="1250000"/>
            <a:ext cx="5079345" cy="5426807"/>
          </a:xfrm>
          <a:prstGeom prst="rect">
            <a:avLst/>
          </a:prstGeom>
          <a:noFill/>
        </p:spPr>
        <p:txBody>
          <a:bodyPr wrap="square" lIns="91440" tIns="45720" rIns="91440" bIns="45720">
            <a:spAutoFit/>
          </a:bodyPr>
          <a:lstStyle/>
          <a:p>
            <a:pPr>
              <a:lnSpc>
                <a:spcPct val="130000"/>
              </a:lnSpc>
            </a:pPr>
            <a:r>
              <a:rPr lang="en-IN" sz="1400" dirty="0">
                <a:solidFill>
                  <a:srgbClr val="E8ECF4"/>
                </a:solidFill>
                <a:latin typeface="Calibri"/>
              </a:rPr>
              <a:t>The Document Upload Portal follows a secure layered architecture where users authenticate through Azure Entra ID and access the application based on role-based permissions (Admin, Uploader, and Viewer). The .NET Core Web Application consumes secured .NET Core APIs using JWT tokens, while the API layer enforces authentication, authorization, and business rules. Image files are stored in Azure Blob Storage, metadata is maintained in Azure SQL Database, Azure Key Vault secures application secrets, and Azure Monitor with Application Insights provides centralized monitoring and observability.</a:t>
            </a:r>
          </a:p>
          <a:p>
            <a:pPr>
              <a:lnSpc>
                <a:spcPct val="130000"/>
              </a:lnSpc>
            </a:pPr>
            <a:endParaRPr lang="en-IN" sz="1400" dirty="0">
              <a:solidFill>
                <a:srgbClr val="E8ECF4"/>
              </a:solidFill>
              <a:latin typeface="Calibri"/>
            </a:endParaRPr>
          </a:p>
          <a:p>
            <a:pPr>
              <a:lnSpc>
                <a:spcPct val="130000"/>
              </a:lnSpc>
            </a:pPr>
            <a:r>
              <a:rPr lang="en-IN" sz="1400" dirty="0">
                <a:solidFill>
                  <a:srgbClr val="E8ECF4"/>
                </a:solidFill>
                <a:latin typeface="Calibri"/>
              </a:rPr>
              <a:t>A secure and scalable Azure-based application architecture that enables authenticated users to upload and preview images through role-based access control, centralized identity management, secure API interactions, optimized storage services, and enterprise-grade monitoring capabilities.</a:t>
            </a:r>
          </a:p>
          <a:p>
            <a:pPr>
              <a:lnSpc>
                <a:spcPct val="130000"/>
              </a:lnSpc>
            </a:pPr>
            <a:endParaRPr lang="en-IN" sz="1200" dirty="0">
              <a:solidFill>
                <a:srgbClr val="E8ECF4"/>
              </a:solidFill>
              <a:latin typeface="Calibri"/>
            </a:endParaRPr>
          </a:p>
          <a:p>
            <a:pPr>
              <a:lnSpc>
                <a:spcPct val="130000"/>
              </a:lnSpc>
            </a:pPr>
            <a:endParaRPr lang="en-IN" sz="1050" dirty="0">
              <a:solidFill>
                <a:srgbClr val="E8ECF4"/>
              </a:solidFill>
              <a:latin typeface="Calibri"/>
            </a:endParaRPr>
          </a:p>
          <a:p>
            <a:pPr algn="l">
              <a:lnSpc>
                <a:spcPct val="130000"/>
              </a:lnSpc>
            </a:pPr>
            <a:endParaRPr lang="en-IN" sz="1050" dirty="0">
              <a:solidFill>
                <a:srgbClr val="E8ECF4"/>
              </a:solidFill>
              <a:latin typeface="Calibri"/>
            </a:endParaRPr>
          </a:p>
          <a:p>
            <a:pPr algn="l">
              <a:lnSpc>
                <a:spcPct val="130000"/>
              </a:lnSpc>
            </a:pPr>
            <a:endParaRPr sz="1050" b="0" dirty="0">
              <a:solidFill>
                <a:srgbClr val="E8ECF4"/>
              </a:solidFill>
              <a:latin typeface="Calibri"/>
            </a:endParaRPr>
          </a:p>
        </p:txBody>
      </p:sp>
      <p:sp>
        <p:nvSpPr>
          <p:cNvPr id="90" name="SlideNum">
            <a:extLst>
              <a:ext uri="{FF2B5EF4-FFF2-40B4-BE49-F238E27FC236}">
                <a16:creationId xmlns:a16="http://schemas.microsoft.com/office/drawing/2014/main" id="{EDD7B086-358F-07F6-77FA-10CAC474BF88}"/>
              </a:ext>
            </a:extLst>
          </p:cNvPr>
          <p:cNvSpPr txBox="1"/>
          <p:nvPr/>
        </p:nvSpPr>
        <p:spPr>
          <a:xfrm>
            <a:off x="457200" y="6492240"/>
            <a:ext cx="548640" cy="228600"/>
          </a:xfrm>
          <a:prstGeom prst="rect">
            <a:avLst/>
          </a:prstGeom>
          <a:noFill/>
        </p:spPr>
        <p:txBody>
          <a:bodyPr wrap="square" lIns="0" tIns="0" rIns="0" bIns="0" anchor="t">
            <a:spAutoFit/>
          </a:bodyPr>
          <a:lstStyle/>
          <a:p>
            <a:pPr algn="l"/>
            <a:r>
              <a:rPr sz="1000" b="0">
                <a:solidFill>
                  <a:srgbClr val="B8C6E3"/>
                </a:solidFill>
                <a:latin typeface="Calibri"/>
              </a:rPr>
              <a:t>8</a:t>
            </a:r>
          </a:p>
        </p:txBody>
      </p:sp>
      <p:sp>
        <p:nvSpPr>
          <p:cNvPr id="91" name="Copyright">
            <a:extLst>
              <a:ext uri="{FF2B5EF4-FFF2-40B4-BE49-F238E27FC236}">
                <a16:creationId xmlns:a16="http://schemas.microsoft.com/office/drawing/2014/main" id="{C4BD18B1-A8B8-AF5C-0FF6-1D56E87E406B}"/>
              </a:ext>
            </a:extLst>
          </p:cNvPr>
          <p:cNvSpPr txBox="1"/>
          <p:nvPr/>
        </p:nvSpPr>
        <p:spPr>
          <a:xfrm>
            <a:off x="1005840" y="6492240"/>
            <a:ext cx="7315200" cy="228600"/>
          </a:xfrm>
          <a:prstGeom prst="rect">
            <a:avLst/>
          </a:prstGeom>
          <a:noFill/>
        </p:spPr>
        <p:txBody>
          <a:bodyPr wrap="square" lIns="0" tIns="0" rIns="0" bIns="0" anchor="t">
            <a:spAutoFit/>
          </a:bodyPr>
          <a:lstStyle/>
          <a:p>
            <a:pPr algn="l"/>
            <a:r>
              <a:rPr sz="900" b="0">
                <a:solidFill>
                  <a:srgbClr val="B8C6E3"/>
                </a:solidFill>
                <a:latin typeface="Calibri"/>
              </a:rPr>
              <a:t>© 2026 Cognizant | Confidential &amp; Proprietary</a:t>
            </a:r>
          </a:p>
        </p:txBody>
      </p:sp>
      <p:pic>
        <p:nvPicPr>
          <p:cNvPr id="1026" name="Picture 2">
            <a:extLst>
              <a:ext uri="{FF2B5EF4-FFF2-40B4-BE49-F238E27FC236}">
                <a16:creationId xmlns:a16="http://schemas.microsoft.com/office/drawing/2014/main" id="{52ED32E5-8032-AA3F-C652-7D24C050F2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8320" y="960408"/>
            <a:ext cx="5864374" cy="5126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2374949"/>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0FA66-82E2-0CB1-A130-D1D1D89F18AB}"/>
            </a:ext>
          </a:extLst>
        </p:cNvPr>
        <p:cNvGrpSpPr/>
        <p:nvPr/>
      </p:nvGrpSpPr>
      <p:grpSpPr>
        <a:xfrm>
          <a:off x="0" y="0"/>
          <a:ext cx="0" cy="0"/>
          <a:chOff x="0" y="0"/>
          <a:chExt cx="0" cy="0"/>
        </a:xfrm>
      </p:grpSpPr>
      <p:sp>
        <p:nvSpPr>
          <p:cNvPr id="2" name="BgRect">
            <a:extLst>
              <a:ext uri="{FF2B5EF4-FFF2-40B4-BE49-F238E27FC236}">
                <a16:creationId xmlns:a16="http://schemas.microsoft.com/office/drawing/2014/main" id="{68FCB4D1-A933-C658-E4C4-B820C86715E9}"/>
              </a:ext>
            </a:extLst>
          </p:cNvPr>
          <p:cNvSpPr/>
          <p:nvPr/>
        </p:nvSpPr>
        <p:spPr>
          <a:xfrm>
            <a:off x="0" y="0"/>
            <a:ext cx="12192000" cy="6858000"/>
          </a:xfrm>
          <a:prstGeom prst="rect">
            <a:avLst/>
          </a:prstGeom>
          <a:solidFill>
            <a:srgbClr val="02082E"/>
          </a:solidFill>
          <a:ln>
            <a:noFill/>
          </a:ln>
        </p:spPr>
        <p:txBody>
          <a:bodyPr rtlCol="0" anchor="ctr"/>
          <a:lstStyle/>
          <a:p>
            <a:r>
              <a:rPr lang="en-US" dirty="0"/>
              <a:t>     </a:t>
            </a:r>
            <a:endParaRPr dirty="0"/>
          </a:p>
        </p:txBody>
      </p:sp>
      <p:sp>
        <p:nvSpPr>
          <p:cNvPr id="3" name="Title">
            <a:extLst>
              <a:ext uri="{FF2B5EF4-FFF2-40B4-BE49-F238E27FC236}">
                <a16:creationId xmlns:a16="http://schemas.microsoft.com/office/drawing/2014/main" id="{BD0A5B30-6EFB-8911-948D-17D44DC1E32A}"/>
              </a:ext>
            </a:extLst>
          </p:cNvPr>
          <p:cNvSpPr txBox="1"/>
          <p:nvPr/>
        </p:nvSpPr>
        <p:spPr>
          <a:xfrm>
            <a:off x="548640" y="408467"/>
            <a:ext cx="11094720" cy="433067"/>
          </a:xfrm>
          <a:prstGeom prst="rect">
            <a:avLst/>
          </a:prstGeom>
          <a:noFill/>
        </p:spPr>
        <p:txBody>
          <a:bodyPr wrap="square" lIns="0" tIns="0" rIns="0" bIns="0" anchor="t">
            <a:spAutoFit/>
          </a:bodyPr>
          <a:lstStyle/>
          <a:p>
            <a:pPr algn="l">
              <a:lnSpc>
                <a:spcPct val="115000"/>
              </a:lnSpc>
            </a:pPr>
            <a:r>
              <a:rPr lang="en-US" sz="2600" b="1" dirty="0">
                <a:solidFill>
                  <a:srgbClr val="FFFFFF"/>
                </a:solidFill>
                <a:latin typeface="Calibri"/>
              </a:rPr>
              <a:t>DEPLOYMENT DESIGN </a:t>
            </a:r>
            <a:r>
              <a:rPr sz="2600" b="1" dirty="0">
                <a:solidFill>
                  <a:srgbClr val="FFFFFF"/>
                </a:solidFill>
                <a:latin typeface="Calibri"/>
              </a:rPr>
              <a:t>ARCHITECTURE</a:t>
            </a:r>
          </a:p>
        </p:txBody>
      </p:sp>
      <p:sp>
        <p:nvSpPr>
          <p:cNvPr id="4" name="AccentBar">
            <a:extLst>
              <a:ext uri="{FF2B5EF4-FFF2-40B4-BE49-F238E27FC236}">
                <a16:creationId xmlns:a16="http://schemas.microsoft.com/office/drawing/2014/main" id="{D0749D53-B2B1-31F0-8995-2A608F7D6489}"/>
              </a:ext>
            </a:extLst>
          </p:cNvPr>
          <p:cNvSpPr/>
          <p:nvPr/>
        </p:nvSpPr>
        <p:spPr>
          <a:xfrm>
            <a:off x="548640" y="1097280"/>
            <a:ext cx="502920" cy="38100"/>
          </a:xfrm>
          <a:prstGeom prst="rect">
            <a:avLst/>
          </a:prstGeom>
          <a:solidFill>
            <a:srgbClr val="1E88E5"/>
          </a:solidFill>
          <a:ln>
            <a:noFill/>
          </a:ln>
        </p:spPr>
        <p:txBody>
          <a:bodyPr/>
          <a:lstStyle/>
          <a:p>
            <a:endParaRPr/>
          </a:p>
        </p:txBody>
      </p:sp>
      <p:sp>
        <p:nvSpPr>
          <p:cNvPr id="10" name="Explain">
            <a:extLst>
              <a:ext uri="{FF2B5EF4-FFF2-40B4-BE49-F238E27FC236}">
                <a16:creationId xmlns:a16="http://schemas.microsoft.com/office/drawing/2014/main" id="{2BF189EA-2705-D4E1-383F-5776A9215E03}"/>
              </a:ext>
            </a:extLst>
          </p:cNvPr>
          <p:cNvSpPr txBox="1"/>
          <p:nvPr/>
        </p:nvSpPr>
        <p:spPr>
          <a:xfrm>
            <a:off x="548640" y="1250000"/>
            <a:ext cx="5079345" cy="5026697"/>
          </a:xfrm>
          <a:prstGeom prst="rect">
            <a:avLst/>
          </a:prstGeom>
          <a:noFill/>
        </p:spPr>
        <p:txBody>
          <a:bodyPr wrap="square" lIns="91440" tIns="45720" rIns="91440" bIns="45720">
            <a:spAutoFit/>
          </a:bodyPr>
          <a:lstStyle/>
          <a:p>
            <a:pPr>
              <a:lnSpc>
                <a:spcPct val="130000"/>
              </a:lnSpc>
            </a:pPr>
            <a:r>
              <a:rPr lang="en-US" sz="1200" dirty="0">
                <a:solidFill>
                  <a:srgbClr val="E8ECF4"/>
                </a:solidFill>
                <a:latin typeface="Calibri"/>
              </a:rPr>
              <a:t>The Document Upload Portal follows a layered Azure-based architecture with a .NET Core Web Application as the presentation layer and a .NET Core Web API as the backend API layer.</a:t>
            </a:r>
            <a:endParaRPr lang="en-IN" sz="1200" dirty="0">
              <a:solidFill>
                <a:srgbClr val="E8ECF4"/>
              </a:solidFill>
              <a:latin typeface="Calibri"/>
            </a:endParaRPr>
          </a:p>
          <a:p>
            <a:pPr>
              <a:lnSpc>
                <a:spcPct val="130000"/>
              </a:lnSpc>
            </a:pPr>
            <a:r>
              <a:rPr lang="en-US" sz="1200" dirty="0">
                <a:solidFill>
                  <a:srgbClr val="E8ECF4"/>
                </a:solidFill>
                <a:latin typeface="Calibri"/>
              </a:rPr>
              <a:t>Users upload and preview images through the Web UI. The API validates and handles JWT authentication and RBAC for Admin/Uploader Roles. Secrets such as SQL connection strings, JWT secrets are securely stored in Azure Key Vault.</a:t>
            </a:r>
            <a:endParaRPr lang="en-IN" sz="1200" dirty="0">
              <a:solidFill>
                <a:srgbClr val="E8ECF4"/>
              </a:solidFill>
              <a:latin typeface="Calibri"/>
            </a:endParaRPr>
          </a:p>
          <a:p>
            <a:pPr>
              <a:lnSpc>
                <a:spcPct val="130000"/>
              </a:lnSpc>
            </a:pPr>
            <a:r>
              <a:rPr lang="en-US" sz="1200" dirty="0">
                <a:solidFill>
                  <a:srgbClr val="E8ECF4"/>
                </a:solidFill>
                <a:latin typeface="Calibri"/>
              </a:rPr>
              <a:t>Images are stored in Azure BLOB Storage, while metadata such as image ID, type, size, path, and uploaded user details are stored in Azure SQL Server.</a:t>
            </a:r>
          </a:p>
          <a:p>
            <a:pPr>
              <a:lnSpc>
                <a:spcPct val="130000"/>
              </a:lnSpc>
            </a:pPr>
            <a:endParaRPr lang="en-US" sz="1200" dirty="0">
              <a:solidFill>
                <a:srgbClr val="E8ECF4"/>
              </a:solidFill>
              <a:latin typeface="Calibri"/>
            </a:endParaRPr>
          </a:p>
          <a:p>
            <a:pPr>
              <a:lnSpc>
                <a:spcPct val="130000"/>
              </a:lnSpc>
            </a:pPr>
            <a:r>
              <a:rPr lang="en-IN" sz="1200" dirty="0">
                <a:solidFill>
                  <a:srgbClr val="E8ECF4"/>
                </a:solidFill>
                <a:latin typeface="Calibri"/>
              </a:rPr>
              <a:t>The Document Upload Portal is designed as a secure, Azure-native solution that enables role-based image upload and preview capabilities. Azure Entra ID provides centralized authentication and authorization, while Azure Application Gateway secures inbound traffic. The application, hosted on Azure App Service, processes image upload and preview requests, stores image files in Azure Blob Storage, and maintains metadata in Azure SQL Database. Azure Key Vault secures application secrets, and Azure Monitor with Application Insights delivers centralized monitoring, logging, and operational visibility, ensuring a scalable, secure, and enterprise-ready platform.</a:t>
            </a:r>
          </a:p>
          <a:p>
            <a:pPr>
              <a:lnSpc>
                <a:spcPct val="130000"/>
              </a:lnSpc>
            </a:pPr>
            <a:endParaRPr lang="en-IN" sz="1050" dirty="0">
              <a:solidFill>
                <a:srgbClr val="E8ECF4"/>
              </a:solidFill>
              <a:latin typeface="Calibri"/>
            </a:endParaRPr>
          </a:p>
          <a:p>
            <a:pPr algn="l">
              <a:lnSpc>
                <a:spcPct val="130000"/>
              </a:lnSpc>
            </a:pPr>
            <a:endParaRPr lang="en-IN" sz="1050" dirty="0">
              <a:solidFill>
                <a:srgbClr val="E8ECF4"/>
              </a:solidFill>
              <a:latin typeface="Calibri"/>
            </a:endParaRPr>
          </a:p>
          <a:p>
            <a:pPr algn="l">
              <a:lnSpc>
                <a:spcPct val="130000"/>
              </a:lnSpc>
            </a:pPr>
            <a:endParaRPr sz="1050" b="0" dirty="0">
              <a:solidFill>
                <a:srgbClr val="E8ECF4"/>
              </a:solidFill>
              <a:latin typeface="Calibri"/>
            </a:endParaRPr>
          </a:p>
        </p:txBody>
      </p:sp>
      <p:sp>
        <p:nvSpPr>
          <p:cNvPr id="90" name="SlideNum">
            <a:extLst>
              <a:ext uri="{FF2B5EF4-FFF2-40B4-BE49-F238E27FC236}">
                <a16:creationId xmlns:a16="http://schemas.microsoft.com/office/drawing/2014/main" id="{43B75B45-2891-DF07-241E-17C925758B12}"/>
              </a:ext>
            </a:extLst>
          </p:cNvPr>
          <p:cNvSpPr txBox="1"/>
          <p:nvPr/>
        </p:nvSpPr>
        <p:spPr>
          <a:xfrm>
            <a:off x="457200" y="6492240"/>
            <a:ext cx="548640" cy="228600"/>
          </a:xfrm>
          <a:prstGeom prst="rect">
            <a:avLst/>
          </a:prstGeom>
          <a:noFill/>
        </p:spPr>
        <p:txBody>
          <a:bodyPr wrap="square" lIns="0" tIns="0" rIns="0" bIns="0" anchor="t">
            <a:spAutoFit/>
          </a:bodyPr>
          <a:lstStyle/>
          <a:p>
            <a:pPr algn="l"/>
            <a:r>
              <a:rPr sz="1000" b="0">
                <a:solidFill>
                  <a:srgbClr val="B8C6E3"/>
                </a:solidFill>
                <a:latin typeface="Calibri"/>
              </a:rPr>
              <a:t>8</a:t>
            </a:r>
          </a:p>
        </p:txBody>
      </p:sp>
      <p:sp>
        <p:nvSpPr>
          <p:cNvPr id="91" name="Copyright">
            <a:extLst>
              <a:ext uri="{FF2B5EF4-FFF2-40B4-BE49-F238E27FC236}">
                <a16:creationId xmlns:a16="http://schemas.microsoft.com/office/drawing/2014/main" id="{5D2B5604-750A-2D31-047B-CBC0BFA61258}"/>
              </a:ext>
            </a:extLst>
          </p:cNvPr>
          <p:cNvSpPr txBox="1"/>
          <p:nvPr/>
        </p:nvSpPr>
        <p:spPr>
          <a:xfrm>
            <a:off x="1005840" y="6492240"/>
            <a:ext cx="7315200" cy="228600"/>
          </a:xfrm>
          <a:prstGeom prst="rect">
            <a:avLst/>
          </a:prstGeom>
          <a:noFill/>
        </p:spPr>
        <p:txBody>
          <a:bodyPr wrap="square" lIns="0" tIns="0" rIns="0" bIns="0" anchor="t">
            <a:spAutoFit/>
          </a:bodyPr>
          <a:lstStyle/>
          <a:p>
            <a:pPr algn="l"/>
            <a:r>
              <a:rPr sz="900" b="0">
                <a:solidFill>
                  <a:srgbClr val="B8C6E3"/>
                </a:solidFill>
                <a:latin typeface="Calibri"/>
              </a:rPr>
              <a:t>© 2026 Cognizant | Confidential &amp; Proprietary</a:t>
            </a:r>
          </a:p>
        </p:txBody>
      </p:sp>
      <p:pic>
        <p:nvPicPr>
          <p:cNvPr id="2050" name="Picture 2">
            <a:extLst>
              <a:ext uri="{FF2B5EF4-FFF2-40B4-BE49-F238E27FC236}">
                <a16:creationId xmlns:a16="http://schemas.microsoft.com/office/drawing/2014/main" id="{3AEFB0B9-F223-D224-CD5B-0DE5AA06E2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44205" y="913412"/>
            <a:ext cx="6115050" cy="476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9746335"/>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020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TextBox 2"/>
          <p:cNvSpPr txBox="1"/>
          <p:nvPr/>
        </p:nvSpPr>
        <p:spPr>
          <a:xfrm>
            <a:off x="548640" y="411480"/>
            <a:ext cx="10058400" cy="640080"/>
          </a:xfrm>
          <a:prstGeom prst="rect">
            <a:avLst/>
          </a:prstGeom>
          <a:noFill/>
        </p:spPr>
        <p:txBody>
          <a:bodyPr wrap="square" lIns="0" tIns="0" rIns="0" bIns="0" anchor="t">
            <a:spAutoFit/>
          </a:bodyPr>
          <a:lstStyle/>
          <a:p>
            <a:pPr algn="l">
              <a:lnSpc>
                <a:spcPct val="115000"/>
              </a:lnSpc>
            </a:pPr>
            <a:r>
              <a:rPr sz="2600" b="1">
                <a:solidFill>
                  <a:srgbClr val="FFFFFF"/>
                </a:solidFill>
                <a:latin typeface="Calibri"/>
              </a:rPr>
              <a:t>API DESIGN OVERVIEW</a:t>
            </a:r>
          </a:p>
        </p:txBody>
      </p:sp>
      <p:sp>
        <p:nvSpPr>
          <p:cNvPr id="4" name="Rectangle 3"/>
          <p:cNvSpPr/>
          <p:nvPr/>
        </p:nvSpPr>
        <p:spPr>
          <a:xfrm>
            <a:off x="548640" y="1097280"/>
            <a:ext cx="502920" cy="381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17652" y="1381203"/>
            <a:ext cx="11064240" cy="411480"/>
          </a:xfrm>
          <a:prstGeom prst="roundRect">
            <a:avLst>
              <a:gd name="adj" fmla="val 10000"/>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472184"/>
            <a:ext cx="7315200" cy="216534"/>
          </a:xfrm>
          <a:prstGeom prst="rect">
            <a:avLst/>
          </a:prstGeom>
          <a:noFill/>
        </p:spPr>
        <p:txBody>
          <a:bodyPr wrap="square" lIns="0" tIns="0" rIns="0" bIns="0" anchor="t">
            <a:spAutoFit/>
          </a:bodyPr>
          <a:lstStyle/>
          <a:p>
            <a:pPr algn="l">
              <a:lnSpc>
                <a:spcPct val="115000"/>
              </a:lnSpc>
            </a:pPr>
            <a:r>
              <a:rPr lang="en-US" sz="1300" b="1" dirty="0">
                <a:solidFill>
                  <a:srgbClr val="FFFFFF"/>
                </a:solidFill>
                <a:latin typeface="Calibri"/>
              </a:rPr>
              <a:t>Upload Image API</a:t>
            </a:r>
            <a:endParaRPr sz="1300" b="1" dirty="0">
              <a:solidFill>
                <a:srgbClr val="FFFFFF"/>
              </a:solidFill>
              <a:latin typeface="Calibri"/>
            </a:endParaRPr>
          </a:p>
        </p:txBody>
      </p:sp>
      <p:sp>
        <p:nvSpPr>
          <p:cNvPr id="10" name="Rounded Rectangle 9"/>
          <p:cNvSpPr/>
          <p:nvPr/>
        </p:nvSpPr>
        <p:spPr>
          <a:xfrm>
            <a:off x="617652" y="4023360"/>
            <a:ext cx="11064240" cy="411480"/>
          </a:xfrm>
          <a:prstGeom prst="roundRect">
            <a:avLst>
              <a:gd name="adj" fmla="val 10000"/>
            </a:avLst>
          </a:prstGeom>
          <a:solidFill>
            <a:srgbClr val="3BC1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TextBox 10"/>
          <p:cNvSpPr txBox="1"/>
          <p:nvPr/>
        </p:nvSpPr>
        <p:spPr>
          <a:xfrm>
            <a:off x="822960" y="4097973"/>
            <a:ext cx="7315200" cy="216534"/>
          </a:xfrm>
          <a:prstGeom prst="rect">
            <a:avLst/>
          </a:prstGeom>
          <a:noFill/>
        </p:spPr>
        <p:txBody>
          <a:bodyPr wrap="square" lIns="0" tIns="0" rIns="0" bIns="0" anchor="t">
            <a:spAutoFit/>
          </a:bodyPr>
          <a:lstStyle/>
          <a:p>
            <a:pPr algn="l">
              <a:lnSpc>
                <a:spcPct val="115000"/>
              </a:lnSpc>
            </a:pPr>
            <a:endParaRPr sz="1300" b="1" dirty="0">
              <a:solidFill>
                <a:srgbClr val="FFFFFF"/>
              </a:solidFill>
              <a:latin typeface="Calibri"/>
            </a:endParaRPr>
          </a:p>
        </p:txBody>
      </p:sp>
      <p:sp>
        <p:nvSpPr>
          <p:cNvPr id="29" name="TextBox 28"/>
          <p:cNvSpPr txBox="1"/>
          <p:nvPr/>
        </p:nvSpPr>
        <p:spPr>
          <a:xfrm>
            <a:off x="457200" y="6492240"/>
            <a:ext cx="548640" cy="228600"/>
          </a:xfrm>
          <a:prstGeom prst="rect">
            <a:avLst/>
          </a:prstGeom>
          <a:noFill/>
        </p:spPr>
        <p:txBody>
          <a:bodyPr wrap="square" lIns="0" tIns="0" rIns="0" bIns="0" anchor="t">
            <a:spAutoFit/>
          </a:bodyPr>
          <a:lstStyle/>
          <a:p>
            <a:pPr algn="l">
              <a:lnSpc>
                <a:spcPct val="115000"/>
              </a:lnSpc>
            </a:pPr>
            <a:r>
              <a:rPr sz="1000" b="0">
                <a:solidFill>
                  <a:srgbClr val="B8C6E3"/>
                </a:solidFill>
                <a:latin typeface="Calibri"/>
              </a:rPr>
              <a:t>11</a:t>
            </a:r>
          </a:p>
        </p:txBody>
      </p:sp>
      <p:sp>
        <p:nvSpPr>
          <p:cNvPr id="35" name="TextBox 34">
            <a:extLst>
              <a:ext uri="{FF2B5EF4-FFF2-40B4-BE49-F238E27FC236}">
                <a16:creationId xmlns:a16="http://schemas.microsoft.com/office/drawing/2014/main" id="{EF50BE75-784F-5261-C060-36ADC05F1DD4}"/>
              </a:ext>
            </a:extLst>
          </p:cNvPr>
          <p:cNvSpPr txBox="1"/>
          <p:nvPr/>
        </p:nvSpPr>
        <p:spPr>
          <a:xfrm>
            <a:off x="731520" y="4131208"/>
            <a:ext cx="7315200" cy="216534"/>
          </a:xfrm>
          <a:prstGeom prst="rect">
            <a:avLst/>
          </a:prstGeom>
          <a:noFill/>
        </p:spPr>
        <p:txBody>
          <a:bodyPr wrap="square" lIns="0" tIns="0" rIns="0" bIns="0" anchor="t">
            <a:spAutoFit/>
          </a:bodyPr>
          <a:lstStyle/>
          <a:p>
            <a:pPr algn="l">
              <a:lnSpc>
                <a:spcPct val="115000"/>
              </a:lnSpc>
            </a:pPr>
            <a:r>
              <a:rPr lang="en-US" sz="1300" b="1" dirty="0">
                <a:solidFill>
                  <a:srgbClr val="FFFFFF"/>
                </a:solidFill>
                <a:latin typeface="Calibri"/>
              </a:rPr>
              <a:t>Preview Image API</a:t>
            </a:r>
            <a:endParaRPr sz="1300" b="1" dirty="0">
              <a:solidFill>
                <a:srgbClr val="FFFFFF"/>
              </a:solidFill>
              <a:latin typeface="Calibri"/>
            </a:endParaRPr>
          </a:p>
        </p:txBody>
      </p:sp>
      <p:sp>
        <p:nvSpPr>
          <p:cNvPr id="43" name="Rectangle 42">
            <a:extLst>
              <a:ext uri="{FF2B5EF4-FFF2-40B4-BE49-F238E27FC236}">
                <a16:creationId xmlns:a16="http://schemas.microsoft.com/office/drawing/2014/main" id="{7C3301E5-2029-00F2-07CC-2135B6AFA4EE}"/>
              </a:ext>
            </a:extLst>
          </p:cNvPr>
          <p:cNvSpPr/>
          <p:nvPr/>
        </p:nvSpPr>
        <p:spPr>
          <a:xfrm>
            <a:off x="679762" y="1986519"/>
            <a:ext cx="11002130" cy="184300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en-IN" dirty="0"/>
              <a:t>Endpoint : /images/upload </a:t>
            </a:r>
          </a:p>
          <a:p>
            <a:r>
              <a:rPr lang="en-IN" dirty="0"/>
              <a:t>HTTP Method: POST</a:t>
            </a:r>
            <a:br>
              <a:rPr lang="en-IN" dirty="0"/>
            </a:br>
            <a:r>
              <a:rPr lang="en-IN" dirty="0"/>
              <a:t>Authentication : Azure Entra ID (JWT Token)</a:t>
            </a:r>
            <a:br>
              <a:rPr lang="en-IN" dirty="0"/>
            </a:br>
            <a:r>
              <a:rPr lang="en-IN" dirty="0"/>
              <a:t>Authorization : Admin, Uploader</a:t>
            </a:r>
            <a:br>
              <a:rPr lang="en-IN" dirty="0"/>
            </a:br>
            <a:r>
              <a:rPr lang="en-IN" dirty="0"/>
              <a:t>Security : HTTPS + JWT + RBAC </a:t>
            </a:r>
            <a:br>
              <a:rPr lang="en-IN" dirty="0"/>
            </a:br>
            <a:r>
              <a:rPr lang="en-IN" dirty="0"/>
              <a:t>Content-Type : application/</a:t>
            </a:r>
            <a:r>
              <a:rPr lang="en-IN" dirty="0" err="1"/>
              <a:t>json</a:t>
            </a:r>
            <a:endParaRPr lang="en-IN" dirty="0"/>
          </a:p>
        </p:txBody>
      </p:sp>
      <p:sp>
        <p:nvSpPr>
          <p:cNvPr id="45" name="Rectangle 44">
            <a:extLst>
              <a:ext uri="{FF2B5EF4-FFF2-40B4-BE49-F238E27FC236}">
                <a16:creationId xmlns:a16="http://schemas.microsoft.com/office/drawing/2014/main" id="{314E81C6-D442-1B73-AC97-5DBCF22C0E3F}"/>
              </a:ext>
            </a:extLst>
          </p:cNvPr>
          <p:cNvSpPr/>
          <p:nvPr/>
        </p:nvSpPr>
        <p:spPr>
          <a:xfrm>
            <a:off x="679762" y="4603516"/>
            <a:ext cx="11002130" cy="1843004"/>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lang="en-IN" dirty="0"/>
              <a:t>Endpoint : /images/{</a:t>
            </a:r>
            <a:r>
              <a:rPr lang="en-IN" dirty="0" err="1"/>
              <a:t>imageId</a:t>
            </a:r>
            <a:r>
              <a:rPr lang="en-IN" dirty="0"/>
              <a:t>}/preview</a:t>
            </a:r>
          </a:p>
          <a:p>
            <a:r>
              <a:rPr lang="en-IN" dirty="0"/>
              <a:t>HTTP Method: GET</a:t>
            </a:r>
            <a:br>
              <a:rPr lang="en-IN" dirty="0"/>
            </a:br>
            <a:r>
              <a:rPr lang="en-IN" dirty="0"/>
              <a:t>Authentication : Azure Entra ID (JWT Token)</a:t>
            </a:r>
            <a:br>
              <a:rPr lang="en-IN" dirty="0"/>
            </a:br>
            <a:r>
              <a:rPr lang="en-IN" dirty="0"/>
              <a:t>Authorization : Admin, Uploader, Viewer</a:t>
            </a:r>
            <a:br>
              <a:rPr lang="en-IN" dirty="0"/>
            </a:br>
            <a:r>
              <a:rPr lang="en-IN" dirty="0"/>
              <a:t>Security : HTTPS + JWT + RBAC </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D3A09-A8DE-2152-69A2-660A1695664F}"/>
            </a:ext>
          </a:extLst>
        </p:cNvPr>
        <p:cNvGrpSpPr/>
        <p:nvPr/>
      </p:nvGrpSpPr>
      <p:grpSpPr>
        <a:xfrm>
          <a:off x="0" y="0"/>
          <a:ext cx="0" cy="0"/>
          <a:chOff x="0" y="0"/>
          <a:chExt cx="0" cy="0"/>
        </a:xfrm>
      </p:grpSpPr>
      <p:sp>
        <p:nvSpPr>
          <p:cNvPr id="2" name="BgRect">
            <a:extLst>
              <a:ext uri="{FF2B5EF4-FFF2-40B4-BE49-F238E27FC236}">
                <a16:creationId xmlns:a16="http://schemas.microsoft.com/office/drawing/2014/main" id="{7BEA8BC8-0D3E-5E1D-3103-A028A79CD69A}"/>
              </a:ext>
            </a:extLst>
          </p:cNvPr>
          <p:cNvSpPr/>
          <p:nvPr/>
        </p:nvSpPr>
        <p:spPr>
          <a:xfrm>
            <a:off x="0" y="0"/>
            <a:ext cx="12192000" cy="6858000"/>
          </a:xfrm>
          <a:prstGeom prst="rect">
            <a:avLst/>
          </a:prstGeom>
          <a:solidFill>
            <a:srgbClr val="02082E"/>
          </a:solidFill>
          <a:ln>
            <a:noFill/>
          </a:ln>
        </p:spPr>
        <p:txBody>
          <a:bodyPr rtlCol="0" anchor="ctr"/>
          <a:lstStyle/>
          <a:p>
            <a:r>
              <a:rPr lang="en-US" dirty="0"/>
              <a:t>     </a:t>
            </a:r>
            <a:endParaRPr dirty="0"/>
          </a:p>
        </p:txBody>
      </p:sp>
      <p:sp>
        <p:nvSpPr>
          <p:cNvPr id="3" name="Title">
            <a:extLst>
              <a:ext uri="{FF2B5EF4-FFF2-40B4-BE49-F238E27FC236}">
                <a16:creationId xmlns:a16="http://schemas.microsoft.com/office/drawing/2014/main" id="{6FD70686-7B13-012C-0879-ABCEE157B495}"/>
              </a:ext>
            </a:extLst>
          </p:cNvPr>
          <p:cNvSpPr txBox="1"/>
          <p:nvPr/>
        </p:nvSpPr>
        <p:spPr>
          <a:xfrm>
            <a:off x="548640" y="408467"/>
            <a:ext cx="11094720" cy="433067"/>
          </a:xfrm>
          <a:prstGeom prst="rect">
            <a:avLst/>
          </a:prstGeom>
          <a:noFill/>
        </p:spPr>
        <p:txBody>
          <a:bodyPr wrap="square" lIns="0" tIns="0" rIns="0" bIns="0" anchor="t">
            <a:spAutoFit/>
          </a:bodyPr>
          <a:lstStyle/>
          <a:p>
            <a:pPr algn="l">
              <a:lnSpc>
                <a:spcPct val="115000"/>
              </a:lnSpc>
            </a:pPr>
            <a:r>
              <a:rPr lang="en-US" sz="2600" b="1" dirty="0">
                <a:solidFill>
                  <a:srgbClr val="FFFFFF"/>
                </a:solidFill>
                <a:latin typeface="Calibri"/>
              </a:rPr>
              <a:t>DATABASE – E-R DIAGRAM</a:t>
            </a:r>
            <a:endParaRPr sz="2600" b="1" dirty="0">
              <a:solidFill>
                <a:srgbClr val="FFFFFF"/>
              </a:solidFill>
              <a:latin typeface="Calibri"/>
            </a:endParaRPr>
          </a:p>
        </p:txBody>
      </p:sp>
      <p:sp>
        <p:nvSpPr>
          <p:cNvPr id="4" name="AccentBar">
            <a:extLst>
              <a:ext uri="{FF2B5EF4-FFF2-40B4-BE49-F238E27FC236}">
                <a16:creationId xmlns:a16="http://schemas.microsoft.com/office/drawing/2014/main" id="{A66DB13C-51C8-F13E-149F-460B88B163C0}"/>
              </a:ext>
            </a:extLst>
          </p:cNvPr>
          <p:cNvSpPr/>
          <p:nvPr/>
        </p:nvSpPr>
        <p:spPr>
          <a:xfrm>
            <a:off x="548640" y="1097280"/>
            <a:ext cx="502920" cy="38100"/>
          </a:xfrm>
          <a:prstGeom prst="rect">
            <a:avLst/>
          </a:prstGeom>
          <a:solidFill>
            <a:srgbClr val="1E88E5"/>
          </a:solidFill>
          <a:ln>
            <a:noFill/>
          </a:ln>
        </p:spPr>
        <p:txBody>
          <a:bodyPr/>
          <a:lstStyle/>
          <a:p>
            <a:endParaRPr/>
          </a:p>
        </p:txBody>
      </p:sp>
      <p:sp>
        <p:nvSpPr>
          <p:cNvPr id="10" name="Explain">
            <a:extLst>
              <a:ext uri="{FF2B5EF4-FFF2-40B4-BE49-F238E27FC236}">
                <a16:creationId xmlns:a16="http://schemas.microsoft.com/office/drawing/2014/main" id="{6C0FCFA4-7757-B33D-914F-A0D0C3B6602F}"/>
              </a:ext>
            </a:extLst>
          </p:cNvPr>
          <p:cNvSpPr txBox="1"/>
          <p:nvPr/>
        </p:nvSpPr>
        <p:spPr>
          <a:xfrm>
            <a:off x="548640" y="1250000"/>
            <a:ext cx="5079345" cy="3616311"/>
          </a:xfrm>
          <a:prstGeom prst="rect">
            <a:avLst/>
          </a:prstGeom>
          <a:noFill/>
        </p:spPr>
        <p:txBody>
          <a:bodyPr wrap="square" lIns="91440" tIns="45720" rIns="91440" bIns="45720">
            <a:spAutoFit/>
          </a:bodyPr>
          <a:lstStyle/>
          <a:p>
            <a:pPr>
              <a:lnSpc>
                <a:spcPct val="130000"/>
              </a:lnSpc>
            </a:pPr>
            <a:r>
              <a:rPr lang="en-IN" sz="1200" dirty="0">
                <a:solidFill>
                  <a:srgbClr val="E8ECF4"/>
                </a:solidFill>
                <a:latin typeface="Calibri"/>
              </a:rPr>
              <a:t>The Entity Relationship Diagram (ERD) illustrates the database design for the Document Upload Portal, where Azure Entra ID manages user authentication, authorization, roles, and group memberships, while Azure SQL Database stores only image metadata. The core entity, </a:t>
            </a:r>
            <a:r>
              <a:rPr lang="en-IN" sz="1200" dirty="0" err="1">
                <a:solidFill>
                  <a:srgbClr val="E8ECF4"/>
                </a:solidFill>
                <a:latin typeface="Calibri"/>
              </a:rPr>
              <a:t>Image_Details</a:t>
            </a:r>
            <a:r>
              <a:rPr lang="en-IN" sz="1200" dirty="0">
                <a:solidFill>
                  <a:srgbClr val="E8ECF4"/>
                </a:solidFill>
                <a:latin typeface="Calibri"/>
              </a:rPr>
              <a:t>, captures information such as image name, type, storage path, size, upload timestamp, and the Azure Entra ID </a:t>
            </a:r>
            <a:r>
              <a:rPr lang="en-IN" sz="1200" dirty="0" err="1">
                <a:solidFill>
                  <a:srgbClr val="E8ECF4"/>
                </a:solidFill>
                <a:latin typeface="Calibri"/>
              </a:rPr>
              <a:t>User_Id</a:t>
            </a:r>
            <a:r>
              <a:rPr lang="en-IN" sz="1200" dirty="0">
                <a:solidFill>
                  <a:srgbClr val="E8ECF4"/>
                </a:solidFill>
                <a:latin typeface="Calibri"/>
              </a:rPr>
              <a:t> of the uploader. Physical image files are stored in Azure Blob Storage, and the </a:t>
            </a:r>
            <a:r>
              <a:rPr lang="en-IN" sz="1200" dirty="0" err="1">
                <a:solidFill>
                  <a:srgbClr val="E8ECF4"/>
                </a:solidFill>
                <a:latin typeface="Calibri"/>
              </a:rPr>
              <a:t>Image_Path</a:t>
            </a:r>
            <a:r>
              <a:rPr lang="en-IN" sz="1200" dirty="0">
                <a:solidFill>
                  <a:srgbClr val="E8ECF4"/>
                </a:solidFill>
                <a:latin typeface="Calibri"/>
              </a:rPr>
              <a:t> column provides the logical reference to the stored file. The </a:t>
            </a:r>
            <a:r>
              <a:rPr lang="en-IN" sz="1200" dirty="0" err="1">
                <a:solidFill>
                  <a:srgbClr val="E8ECF4"/>
                </a:solidFill>
                <a:latin typeface="Calibri"/>
              </a:rPr>
              <a:t>User_Id</a:t>
            </a:r>
            <a:r>
              <a:rPr lang="en-IN" sz="1200" dirty="0">
                <a:solidFill>
                  <a:srgbClr val="E8ECF4"/>
                </a:solidFill>
                <a:latin typeface="Calibri"/>
              </a:rPr>
              <a:t> serves as a logical ownership reference, enabling Role-Based Access Control (RBAC) and image-level authorization without storing user data in the database. This simplified, cloud-native design ensures scalability, security, minimal data redundancy, and seamless integration with Azure identity and storage services.</a:t>
            </a:r>
          </a:p>
          <a:p>
            <a:pPr>
              <a:lnSpc>
                <a:spcPct val="130000"/>
              </a:lnSpc>
            </a:pPr>
            <a:endParaRPr lang="en-IN" sz="1200" dirty="0">
              <a:solidFill>
                <a:srgbClr val="E8ECF4"/>
              </a:solidFill>
              <a:latin typeface="Calibri"/>
            </a:endParaRPr>
          </a:p>
          <a:p>
            <a:pPr algn="l">
              <a:lnSpc>
                <a:spcPct val="130000"/>
              </a:lnSpc>
            </a:pPr>
            <a:endParaRPr lang="en-IN" sz="1050" dirty="0">
              <a:solidFill>
                <a:srgbClr val="E8ECF4"/>
              </a:solidFill>
              <a:latin typeface="Calibri"/>
            </a:endParaRPr>
          </a:p>
          <a:p>
            <a:pPr algn="l">
              <a:lnSpc>
                <a:spcPct val="130000"/>
              </a:lnSpc>
            </a:pPr>
            <a:endParaRPr sz="1050" b="0" dirty="0">
              <a:solidFill>
                <a:srgbClr val="E8ECF4"/>
              </a:solidFill>
              <a:latin typeface="Calibri"/>
            </a:endParaRPr>
          </a:p>
        </p:txBody>
      </p:sp>
      <p:sp>
        <p:nvSpPr>
          <p:cNvPr id="90" name="SlideNum">
            <a:extLst>
              <a:ext uri="{FF2B5EF4-FFF2-40B4-BE49-F238E27FC236}">
                <a16:creationId xmlns:a16="http://schemas.microsoft.com/office/drawing/2014/main" id="{0FB676FF-087B-22EA-663B-D0F23AD61025}"/>
              </a:ext>
            </a:extLst>
          </p:cNvPr>
          <p:cNvSpPr txBox="1"/>
          <p:nvPr/>
        </p:nvSpPr>
        <p:spPr>
          <a:xfrm>
            <a:off x="457200" y="6492240"/>
            <a:ext cx="548640" cy="228600"/>
          </a:xfrm>
          <a:prstGeom prst="rect">
            <a:avLst/>
          </a:prstGeom>
          <a:noFill/>
        </p:spPr>
        <p:txBody>
          <a:bodyPr wrap="square" lIns="0" tIns="0" rIns="0" bIns="0" anchor="t">
            <a:spAutoFit/>
          </a:bodyPr>
          <a:lstStyle/>
          <a:p>
            <a:pPr algn="l"/>
            <a:r>
              <a:rPr sz="1000" b="0">
                <a:solidFill>
                  <a:srgbClr val="B8C6E3"/>
                </a:solidFill>
                <a:latin typeface="Calibri"/>
              </a:rPr>
              <a:t>8</a:t>
            </a:r>
          </a:p>
        </p:txBody>
      </p:sp>
      <p:sp>
        <p:nvSpPr>
          <p:cNvPr id="91" name="Copyright">
            <a:extLst>
              <a:ext uri="{FF2B5EF4-FFF2-40B4-BE49-F238E27FC236}">
                <a16:creationId xmlns:a16="http://schemas.microsoft.com/office/drawing/2014/main" id="{0047B1C0-34CD-98A3-5CD8-6BA577C6F9BC}"/>
              </a:ext>
            </a:extLst>
          </p:cNvPr>
          <p:cNvSpPr txBox="1"/>
          <p:nvPr/>
        </p:nvSpPr>
        <p:spPr>
          <a:xfrm>
            <a:off x="1005840" y="6492240"/>
            <a:ext cx="7315200" cy="228600"/>
          </a:xfrm>
          <a:prstGeom prst="rect">
            <a:avLst/>
          </a:prstGeom>
          <a:noFill/>
        </p:spPr>
        <p:txBody>
          <a:bodyPr wrap="square" lIns="0" tIns="0" rIns="0" bIns="0" anchor="t">
            <a:spAutoFit/>
          </a:bodyPr>
          <a:lstStyle/>
          <a:p>
            <a:pPr algn="l"/>
            <a:r>
              <a:rPr sz="900" b="0">
                <a:solidFill>
                  <a:srgbClr val="B8C6E3"/>
                </a:solidFill>
                <a:latin typeface="Calibri"/>
              </a:rPr>
              <a:t>© 2026 Cognizant | Confidential &amp; Proprietary</a:t>
            </a:r>
          </a:p>
        </p:txBody>
      </p:sp>
      <p:pic>
        <p:nvPicPr>
          <p:cNvPr id="3074" name="Picture 2">
            <a:extLst>
              <a:ext uri="{FF2B5EF4-FFF2-40B4-BE49-F238E27FC236}">
                <a16:creationId xmlns:a16="http://schemas.microsoft.com/office/drawing/2014/main" id="{5A41DBE8-B0CC-A81A-DB29-515E461B39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6625" y="1116330"/>
            <a:ext cx="5729288" cy="4776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65036932"/>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EB7DD-3117-D4FA-7E6D-17AF74A62F21}"/>
            </a:ext>
          </a:extLst>
        </p:cNvPr>
        <p:cNvGrpSpPr/>
        <p:nvPr/>
      </p:nvGrpSpPr>
      <p:grpSpPr>
        <a:xfrm>
          <a:off x="0" y="0"/>
          <a:ext cx="0" cy="0"/>
          <a:chOff x="0" y="0"/>
          <a:chExt cx="0" cy="0"/>
        </a:xfrm>
      </p:grpSpPr>
      <p:sp>
        <p:nvSpPr>
          <p:cNvPr id="2" name="BgRect">
            <a:extLst>
              <a:ext uri="{FF2B5EF4-FFF2-40B4-BE49-F238E27FC236}">
                <a16:creationId xmlns:a16="http://schemas.microsoft.com/office/drawing/2014/main" id="{529128AE-5984-6E61-180C-E2DEB8741E0A}"/>
              </a:ext>
            </a:extLst>
          </p:cNvPr>
          <p:cNvSpPr/>
          <p:nvPr/>
        </p:nvSpPr>
        <p:spPr>
          <a:xfrm>
            <a:off x="23004" y="0"/>
            <a:ext cx="12192000" cy="6858000"/>
          </a:xfrm>
          <a:prstGeom prst="rect">
            <a:avLst/>
          </a:prstGeom>
          <a:solidFill>
            <a:srgbClr val="02082E"/>
          </a:solidFill>
          <a:ln>
            <a:noFill/>
          </a:ln>
        </p:spPr>
        <p:txBody>
          <a:bodyPr rtlCol="0" anchor="ctr"/>
          <a:lstStyle/>
          <a:p>
            <a:r>
              <a:rPr lang="en-US" dirty="0"/>
              <a:t>     </a:t>
            </a:r>
            <a:endParaRPr dirty="0"/>
          </a:p>
        </p:txBody>
      </p:sp>
      <p:sp>
        <p:nvSpPr>
          <p:cNvPr id="3" name="Title">
            <a:extLst>
              <a:ext uri="{FF2B5EF4-FFF2-40B4-BE49-F238E27FC236}">
                <a16:creationId xmlns:a16="http://schemas.microsoft.com/office/drawing/2014/main" id="{E57AE4A8-D50B-B2C8-55A1-4470C62E1CE1}"/>
              </a:ext>
            </a:extLst>
          </p:cNvPr>
          <p:cNvSpPr txBox="1"/>
          <p:nvPr/>
        </p:nvSpPr>
        <p:spPr>
          <a:xfrm>
            <a:off x="548640" y="408467"/>
            <a:ext cx="11094720" cy="433067"/>
          </a:xfrm>
          <a:prstGeom prst="rect">
            <a:avLst/>
          </a:prstGeom>
          <a:noFill/>
        </p:spPr>
        <p:txBody>
          <a:bodyPr wrap="square" lIns="0" tIns="0" rIns="0" bIns="0" anchor="t">
            <a:spAutoFit/>
          </a:bodyPr>
          <a:lstStyle/>
          <a:p>
            <a:pPr>
              <a:lnSpc>
                <a:spcPct val="115000"/>
              </a:lnSpc>
            </a:pPr>
            <a:r>
              <a:rPr lang="en-IN" sz="2600" b="1" dirty="0">
                <a:solidFill>
                  <a:srgbClr val="FFFFFF"/>
                </a:solidFill>
              </a:rPr>
              <a:t>LOW-LEVEL DESIGN — CLASS DIAGRAM</a:t>
            </a:r>
          </a:p>
        </p:txBody>
      </p:sp>
      <p:sp>
        <p:nvSpPr>
          <p:cNvPr id="4" name="AccentBar">
            <a:extLst>
              <a:ext uri="{FF2B5EF4-FFF2-40B4-BE49-F238E27FC236}">
                <a16:creationId xmlns:a16="http://schemas.microsoft.com/office/drawing/2014/main" id="{5854B1F7-7261-101D-6ED1-14BEF930375C}"/>
              </a:ext>
            </a:extLst>
          </p:cNvPr>
          <p:cNvSpPr/>
          <p:nvPr/>
        </p:nvSpPr>
        <p:spPr>
          <a:xfrm>
            <a:off x="548640" y="1097280"/>
            <a:ext cx="502920" cy="38100"/>
          </a:xfrm>
          <a:prstGeom prst="rect">
            <a:avLst/>
          </a:prstGeom>
          <a:solidFill>
            <a:srgbClr val="1E88E5"/>
          </a:solidFill>
          <a:ln>
            <a:noFill/>
          </a:ln>
        </p:spPr>
        <p:txBody>
          <a:bodyPr/>
          <a:lstStyle/>
          <a:p>
            <a:endParaRPr/>
          </a:p>
        </p:txBody>
      </p:sp>
      <p:sp>
        <p:nvSpPr>
          <p:cNvPr id="90" name="SlideNum">
            <a:extLst>
              <a:ext uri="{FF2B5EF4-FFF2-40B4-BE49-F238E27FC236}">
                <a16:creationId xmlns:a16="http://schemas.microsoft.com/office/drawing/2014/main" id="{B26E75E1-22C6-AFF6-E3CA-22418BB2368F}"/>
              </a:ext>
            </a:extLst>
          </p:cNvPr>
          <p:cNvSpPr txBox="1"/>
          <p:nvPr/>
        </p:nvSpPr>
        <p:spPr>
          <a:xfrm>
            <a:off x="457200" y="6492240"/>
            <a:ext cx="548640" cy="228600"/>
          </a:xfrm>
          <a:prstGeom prst="rect">
            <a:avLst/>
          </a:prstGeom>
          <a:noFill/>
        </p:spPr>
        <p:txBody>
          <a:bodyPr wrap="square" lIns="0" tIns="0" rIns="0" bIns="0" anchor="t">
            <a:spAutoFit/>
          </a:bodyPr>
          <a:lstStyle/>
          <a:p>
            <a:pPr algn="l"/>
            <a:r>
              <a:rPr sz="1000" b="0">
                <a:solidFill>
                  <a:srgbClr val="B8C6E3"/>
                </a:solidFill>
                <a:latin typeface="Calibri"/>
              </a:rPr>
              <a:t>8</a:t>
            </a:r>
          </a:p>
        </p:txBody>
      </p:sp>
      <p:sp>
        <p:nvSpPr>
          <p:cNvPr id="91" name="Copyright">
            <a:extLst>
              <a:ext uri="{FF2B5EF4-FFF2-40B4-BE49-F238E27FC236}">
                <a16:creationId xmlns:a16="http://schemas.microsoft.com/office/drawing/2014/main" id="{052050CC-17C0-AD91-9964-D5DE2452C3EF}"/>
              </a:ext>
            </a:extLst>
          </p:cNvPr>
          <p:cNvSpPr txBox="1"/>
          <p:nvPr/>
        </p:nvSpPr>
        <p:spPr>
          <a:xfrm>
            <a:off x="1005840" y="6492240"/>
            <a:ext cx="7315200" cy="228600"/>
          </a:xfrm>
          <a:prstGeom prst="rect">
            <a:avLst/>
          </a:prstGeom>
          <a:noFill/>
        </p:spPr>
        <p:txBody>
          <a:bodyPr wrap="square" lIns="0" tIns="0" rIns="0" bIns="0" anchor="t">
            <a:spAutoFit/>
          </a:bodyPr>
          <a:lstStyle/>
          <a:p>
            <a:pPr algn="l"/>
            <a:r>
              <a:rPr sz="900" b="0">
                <a:solidFill>
                  <a:srgbClr val="B8C6E3"/>
                </a:solidFill>
                <a:latin typeface="Calibri"/>
              </a:rPr>
              <a:t>© 2026 Cognizant | Confidential &amp; Proprietary</a:t>
            </a:r>
          </a:p>
        </p:txBody>
      </p:sp>
      <p:pic>
        <p:nvPicPr>
          <p:cNvPr id="11" name="Picture 10">
            <a:extLst>
              <a:ext uri="{FF2B5EF4-FFF2-40B4-BE49-F238E27FC236}">
                <a16:creationId xmlns:a16="http://schemas.microsoft.com/office/drawing/2014/main" id="{2CF802C6-A131-F1A0-133A-ACDB6BD452AA}"/>
              </a:ext>
            </a:extLst>
          </p:cNvPr>
          <p:cNvPicPr>
            <a:picLocks noChangeAspect="1"/>
          </p:cNvPicPr>
          <p:nvPr/>
        </p:nvPicPr>
        <p:blipFill>
          <a:blip r:embed="rId2"/>
          <a:stretch>
            <a:fillRect/>
          </a:stretch>
        </p:blipFill>
        <p:spPr>
          <a:xfrm>
            <a:off x="457200" y="970658"/>
            <a:ext cx="11234468" cy="5686304"/>
          </a:xfrm>
          <a:prstGeom prst="rect">
            <a:avLst/>
          </a:prstGeom>
        </p:spPr>
      </p:pic>
    </p:spTree>
    <p:extLst>
      <p:ext uri="{BB962C8B-B14F-4D97-AF65-F5344CB8AC3E}">
        <p14:creationId xmlns:p14="http://schemas.microsoft.com/office/powerpoint/2010/main" val="2573207717"/>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Rect"/>
          <p:cNvSpPr/>
          <p:nvPr/>
        </p:nvSpPr>
        <p:spPr>
          <a:xfrm>
            <a:off x="0" y="0"/>
            <a:ext cx="12192000" cy="6858000"/>
          </a:xfrm>
          <a:prstGeom prst="rect">
            <a:avLst/>
          </a:prstGeom>
          <a:solidFill>
            <a:srgbClr val="02082E"/>
          </a:solidFill>
          <a:ln>
            <a:noFill/>
          </a:ln>
        </p:spPr>
        <p:txBody>
          <a:bodyPr rtlCol="0" anchor="ctr"/>
          <a:lstStyle/>
          <a:p>
            <a:endParaRPr/>
          </a:p>
        </p:txBody>
      </p:sp>
      <p:sp>
        <p:nvSpPr>
          <p:cNvPr id="3" name="Title"/>
          <p:cNvSpPr txBox="1"/>
          <p:nvPr/>
        </p:nvSpPr>
        <p:spPr>
          <a:xfrm>
            <a:off x="457200" y="109908"/>
            <a:ext cx="11094720" cy="433067"/>
          </a:xfrm>
          <a:prstGeom prst="rect">
            <a:avLst/>
          </a:prstGeom>
          <a:noFill/>
        </p:spPr>
        <p:txBody>
          <a:bodyPr wrap="square" lIns="0" tIns="0" rIns="0" bIns="0" anchor="t">
            <a:spAutoFit/>
          </a:bodyPr>
          <a:lstStyle/>
          <a:p>
            <a:pPr>
              <a:lnSpc>
                <a:spcPct val="115000"/>
              </a:lnSpc>
            </a:pPr>
            <a:r>
              <a:rPr lang="en-IN" sz="2600" b="1" dirty="0">
                <a:solidFill>
                  <a:srgbClr val="FFFFFF"/>
                </a:solidFill>
              </a:rPr>
              <a:t>LOW-LEVEL DESIGN — </a:t>
            </a:r>
            <a:r>
              <a:rPr sz="2600" b="1" dirty="0">
                <a:solidFill>
                  <a:srgbClr val="FFFFFF"/>
                </a:solidFill>
                <a:latin typeface="Calibri"/>
              </a:rPr>
              <a:t>SEQUENCE </a:t>
            </a:r>
            <a:r>
              <a:rPr lang="en-US" sz="2600" b="1" dirty="0">
                <a:solidFill>
                  <a:srgbClr val="FFFFFF"/>
                </a:solidFill>
                <a:latin typeface="Calibri"/>
              </a:rPr>
              <a:t>DIAGRAM</a:t>
            </a:r>
            <a:endParaRPr sz="2600" b="1" dirty="0">
              <a:solidFill>
                <a:srgbClr val="FFFFFF"/>
              </a:solidFill>
              <a:latin typeface="Calibri"/>
            </a:endParaRPr>
          </a:p>
        </p:txBody>
      </p:sp>
      <p:sp>
        <p:nvSpPr>
          <p:cNvPr id="4" name="AccentBar"/>
          <p:cNvSpPr/>
          <p:nvPr/>
        </p:nvSpPr>
        <p:spPr>
          <a:xfrm>
            <a:off x="548640" y="1097280"/>
            <a:ext cx="502920" cy="38100"/>
          </a:xfrm>
          <a:prstGeom prst="rect">
            <a:avLst/>
          </a:prstGeom>
          <a:solidFill>
            <a:srgbClr val="1E88E5"/>
          </a:solidFill>
          <a:ln>
            <a:noFill/>
          </a:ln>
        </p:spPr>
        <p:txBody>
          <a:bodyPr/>
          <a:lstStyle/>
          <a:p>
            <a:endParaRPr/>
          </a:p>
        </p:txBody>
      </p:sp>
      <p:sp>
        <p:nvSpPr>
          <p:cNvPr id="10" name="CustomerSeqExplain"/>
          <p:cNvSpPr txBox="1"/>
          <p:nvPr/>
        </p:nvSpPr>
        <p:spPr>
          <a:xfrm>
            <a:off x="548640" y="1250000"/>
            <a:ext cx="3609292" cy="4987776"/>
          </a:xfrm>
          <a:prstGeom prst="rect">
            <a:avLst/>
          </a:prstGeom>
          <a:noFill/>
        </p:spPr>
        <p:txBody>
          <a:bodyPr wrap="square" lIns="91440" tIns="45720" rIns="91440" bIns="45720">
            <a:spAutoFit/>
          </a:bodyPr>
          <a:lstStyle/>
          <a:p>
            <a:pPr>
              <a:lnSpc>
                <a:spcPct val="130000"/>
              </a:lnSpc>
            </a:pPr>
            <a:r>
              <a:rPr lang="en-IN" sz="1150" dirty="0">
                <a:solidFill>
                  <a:srgbClr val="E8ECF4"/>
                </a:solidFill>
                <a:latin typeface="Calibri"/>
              </a:rPr>
              <a:t>The Document Upload Portal Sequence Diagram illustrates the complete end-to-end interaction flow for secure image upload and preview operations within a cloud-native Azure environment. The process begins with user authentication through Azure Entra ID, where OAuth 2.0/OpenID Connect is used to validate credentials and generate a JWT token containing role-based claims. During image upload and preview requests, the JWT token is validated by the Authentication and Authorization middleware, and RBAC policies determine user access permissions. The application retrieves secure configurations from Azure Key Vault using Managed Identity, stores image files in Azure Blob Storage, and persists image metadata in Azure SQL Database using the Repository Pattern. The solution incorporates centralized logging, telemetry, monitoring, and exception handling to provide observability, security, reliability, and operational visibility. The sequence demonstrates a scalable, secure, and enterprise-grade architecture aligned with .NET Core, Azure Cloud Native, and SOLID design principles.</a:t>
            </a:r>
          </a:p>
          <a:p>
            <a:pPr algn="l">
              <a:lnSpc>
                <a:spcPct val="130000"/>
              </a:lnSpc>
            </a:pPr>
            <a:endParaRPr sz="1600" dirty="0">
              <a:solidFill>
                <a:srgbClr val="E8ECF4"/>
              </a:solidFill>
              <a:latin typeface="Calibri"/>
            </a:endParaRPr>
          </a:p>
        </p:txBody>
      </p:sp>
      <p:sp>
        <p:nvSpPr>
          <p:cNvPr id="90" name="SlideNum"/>
          <p:cNvSpPr txBox="1"/>
          <p:nvPr/>
        </p:nvSpPr>
        <p:spPr>
          <a:xfrm>
            <a:off x="457200" y="6492240"/>
            <a:ext cx="548640" cy="228600"/>
          </a:xfrm>
          <a:prstGeom prst="rect">
            <a:avLst/>
          </a:prstGeom>
          <a:noFill/>
        </p:spPr>
        <p:txBody>
          <a:bodyPr wrap="square" lIns="0" tIns="0" rIns="0" bIns="0" anchor="t">
            <a:spAutoFit/>
          </a:bodyPr>
          <a:lstStyle/>
          <a:p>
            <a:r>
              <a:rPr sz="1000" b="0">
                <a:solidFill>
                  <a:srgbClr val="B8C6E3"/>
                </a:solidFill>
                <a:latin typeface="Calibri"/>
              </a:rPr>
              <a:t>14</a:t>
            </a:r>
          </a:p>
        </p:txBody>
      </p:sp>
      <p:sp>
        <p:nvSpPr>
          <p:cNvPr id="91" name="Copyright"/>
          <p:cNvSpPr txBox="1"/>
          <p:nvPr/>
        </p:nvSpPr>
        <p:spPr>
          <a:xfrm>
            <a:off x="1005840" y="6492240"/>
            <a:ext cx="7315200" cy="228600"/>
          </a:xfrm>
          <a:prstGeom prst="rect">
            <a:avLst/>
          </a:prstGeom>
          <a:noFill/>
        </p:spPr>
        <p:txBody>
          <a:bodyPr wrap="square" lIns="0" tIns="0" rIns="0" bIns="0" anchor="t">
            <a:spAutoFit/>
          </a:bodyPr>
          <a:lstStyle/>
          <a:p>
            <a:r>
              <a:rPr sz="900" b="0">
                <a:solidFill>
                  <a:srgbClr val="B8C6E3"/>
                </a:solidFill>
                <a:latin typeface="Calibri"/>
              </a:rPr>
              <a:t>© 2026 Cognizant | Confidential &amp; Proprietary</a:t>
            </a:r>
          </a:p>
        </p:txBody>
      </p:sp>
      <p:pic>
        <p:nvPicPr>
          <p:cNvPr id="6" name="Picture 5">
            <a:extLst>
              <a:ext uri="{FF2B5EF4-FFF2-40B4-BE49-F238E27FC236}">
                <a16:creationId xmlns:a16="http://schemas.microsoft.com/office/drawing/2014/main" id="{58E51251-4267-D114-E3A8-A2AD6BF267DB}"/>
              </a:ext>
            </a:extLst>
          </p:cNvPr>
          <p:cNvPicPr>
            <a:picLocks noChangeAspect="1"/>
          </p:cNvPicPr>
          <p:nvPr/>
        </p:nvPicPr>
        <p:blipFill>
          <a:blip r:embed="rId2"/>
          <a:stretch>
            <a:fillRect/>
          </a:stretch>
        </p:blipFill>
        <p:spPr>
          <a:xfrm>
            <a:off x="4422475" y="617795"/>
            <a:ext cx="7678085" cy="610304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Rect"/>
          <p:cNvSpPr/>
          <p:nvPr/>
        </p:nvSpPr>
        <p:spPr>
          <a:xfrm>
            <a:off x="0" y="0"/>
            <a:ext cx="12192000" cy="6858000"/>
          </a:xfrm>
          <a:prstGeom prst="rect">
            <a:avLst/>
          </a:prstGeom>
          <a:solidFill>
            <a:srgbClr val="02082E"/>
          </a:solidFill>
          <a:ln>
            <a:noFill/>
          </a:ln>
        </p:spPr>
        <p:txBody>
          <a:bodyPr rtlCol="0" anchor="ctr"/>
          <a:lstStyle/>
          <a:p>
            <a:endParaRPr/>
          </a:p>
        </p:txBody>
      </p:sp>
      <p:sp>
        <p:nvSpPr>
          <p:cNvPr id="3" name="Title"/>
          <p:cNvSpPr txBox="1"/>
          <p:nvPr/>
        </p:nvSpPr>
        <p:spPr>
          <a:xfrm>
            <a:off x="548640" y="411480"/>
            <a:ext cx="11094720" cy="640080"/>
          </a:xfrm>
          <a:prstGeom prst="rect">
            <a:avLst/>
          </a:prstGeom>
          <a:noFill/>
        </p:spPr>
        <p:txBody>
          <a:bodyPr wrap="square" lIns="0" tIns="0" rIns="0" bIns="0" anchor="t">
            <a:spAutoFit/>
          </a:bodyPr>
          <a:lstStyle/>
          <a:p>
            <a:pPr algn="l">
              <a:lnSpc>
                <a:spcPct val="115000"/>
              </a:lnSpc>
            </a:pPr>
            <a:r>
              <a:rPr sz="2600" b="1">
                <a:solidFill>
                  <a:srgbClr val="FFFFFF"/>
                </a:solidFill>
                <a:latin typeface="Calibri"/>
              </a:rPr>
              <a:t>COMPONENT DIAGRAM — AS-BUILT</a:t>
            </a:r>
          </a:p>
        </p:txBody>
      </p:sp>
      <p:sp>
        <p:nvSpPr>
          <p:cNvPr id="4" name="AccentBar"/>
          <p:cNvSpPr/>
          <p:nvPr/>
        </p:nvSpPr>
        <p:spPr>
          <a:xfrm>
            <a:off x="548640" y="1097280"/>
            <a:ext cx="502920" cy="38100"/>
          </a:xfrm>
          <a:prstGeom prst="rect">
            <a:avLst/>
          </a:prstGeom>
          <a:solidFill>
            <a:srgbClr val="1E88E5"/>
          </a:solidFill>
          <a:ln>
            <a:noFill/>
          </a:ln>
        </p:spPr>
        <p:txBody>
          <a:bodyPr/>
          <a:lstStyle/>
          <a:p>
            <a:endParaRPr/>
          </a:p>
        </p:txBody>
      </p:sp>
      <p:sp>
        <p:nvSpPr>
          <p:cNvPr id="10" name="Explain"/>
          <p:cNvSpPr txBox="1"/>
          <p:nvPr/>
        </p:nvSpPr>
        <p:spPr>
          <a:xfrm>
            <a:off x="548640" y="1250000"/>
            <a:ext cx="5450000" cy="3123932"/>
          </a:xfrm>
          <a:prstGeom prst="rect">
            <a:avLst/>
          </a:prstGeom>
          <a:noFill/>
        </p:spPr>
        <p:txBody>
          <a:bodyPr wrap="square" lIns="91440" tIns="45720" rIns="91440" bIns="45720">
            <a:spAutoFit/>
          </a:bodyPr>
          <a:lstStyle/>
          <a:p>
            <a:r>
              <a:rPr lang="en-IN" sz="1600" dirty="0">
                <a:solidFill>
                  <a:srgbClr val="E8ECF4"/>
                </a:solidFill>
                <a:latin typeface="Calibri"/>
              </a:rPr>
              <a:t>The Component Architecture Diagram illustrates the internal structure of the Document Upload Portal, highlighting the interaction between the .NET Core MVC Web Application, .NET Core Web API, security components, business services, repositories, and Azure platform services. The solution follows a layered monolithic architecture with clear separation of concerns, leveraging Azure Entra ID for authentication, RBAC for authorization, Repository Pattern for data access, Azure Blob Storage for image management, Azure SQL Database for metadata persistence, and Azure Key Vault for secure configuration management.</a:t>
            </a:r>
          </a:p>
          <a:p>
            <a:endParaRPr lang="en-IN" sz="1050" dirty="0">
              <a:solidFill>
                <a:srgbClr val="E8ECF4"/>
              </a:solidFill>
              <a:latin typeface="Calibri"/>
            </a:endParaRPr>
          </a:p>
          <a:p>
            <a:endParaRPr lang="en-IN" sz="1050" dirty="0">
              <a:solidFill>
                <a:srgbClr val="E8ECF4"/>
              </a:solidFill>
              <a:latin typeface="Calibri"/>
            </a:endParaRPr>
          </a:p>
        </p:txBody>
      </p:sp>
      <p:sp>
        <p:nvSpPr>
          <p:cNvPr id="90" name="SlideNum"/>
          <p:cNvSpPr txBox="1"/>
          <p:nvPr/>
        </p:nvSpPr>
        <p:spPr>
          <a:xfrm>
            <a:off x="457200" y="6492240"/>
            <a:ext cx="548640" cy="228600"/>
          </a:xfrm>
          <a:prstGeom prst="rect">
            <a:avLst/>
          </a:prstGeom>
          <a:noFill/>
        </p:spPr>
        <p:txBody>
          <a:bodyPr wrap="square" lIns="0" tIns="0" rIns="0" bIns="0" anchor="t">
            <a:spAutoFit/>
          </a:bodyPr>
          <a:lstStyle/>
          <a:p>
            <a:pPr algn="l"/>
            <a:r>
              <a:rPr sz="1000" b="0">
                <a:solidFill>
                  <a:srgbClr val="B8C6E3"/>
                </a:solidFill>
                <a:latin typeface="Calibri"/>
              </a:rPr>
              <a:t>16</a:t>
            </a:r>
          </a:p>
        </p:txBody>
      </p:sp>
      <p:sp>
        <p:nvSpPr>
          <p:cNvPr id="91" name="Copyright"/>
          <p:cNvSpPr txBox="1"/>
          <p:nvPr/>
        </p:nvSpPr>
        <p:spPr>
          <a:xfrm>
            <a:off x="1005840" y="6492240"/>
            <a:ext cx="7315200" cy="228600"/>
          </a:xfrm>
          <a:prstGeom prst="rect">
            <a:avLst/>
          </a:prstGeom>
          <a:noFill/>
        </p:spPr>
        <p:txBody>
          <a:bodyPr wrap="square" lIns="0" tIns="0" rIns="0" bIns="0" anchor="t">
            <a:spAutoFit/>
          </a:bodyPr>
          <a:lstStyle/>
          <a:p>
            <a:pPr algn="l"/>
            <a:r>
              <a:rPr sz="900" b="0">
                <a:solidFill>
                  <a:srgbClr val="B8C6E3"/>
                </a:solidFill>
                <a:latin typeface="Calibri"/>
              </a:rPr>
              <a:t>© 2026 Cognizant | Confidential &amp; Proprietary</a:t>
            </a:r>
          </a:p>
        </p:txBody>
      </p:sp>
      <p:pic>
        <p:nvPicPr>
          <p:cNvPr id="5122" name="Picture 2">
            <a:extLst>
              <a:ext uri="{FF2B5EF4-FFF2-40B4-BE49-F238E27FC236}">
                <a16:creationId xmlns:a16="http://schemas.microsoft.com/office/drawing/2014/main" id="{AC408D4C-B566-4578-C317-89C173A80E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840237"/>
            <a:ext cx="5729288" cy="453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Rect"/>
          <p:cNvSpPr/>
          <p:nvPr/>
        </p:nvSpPr>
        <p:spPr>
          <a:xfrm>
            <a:off x="0" y="0"/>
            <a:ext cx="12192000" cy="6858000"/>
          </a:xfrm>
          <a:prstGeom prst="rect">
            <a:avLst/>
          </a:prstGeom>
          <a:solidFill>
            <a:srgbClr val="02082E"/>
          </a:solidFill>
          <a:ln>
            <a:noFill/>
          </a:ln>
        </p:spPr>
        <p:txBody>
          <a:bodyPr rtlCol="0" anchor="ctr"/>
          <a:lstStyle/>
          <a:p>
            <a:endParaRPr/>
          </a:p>
        </p:txBody>
      </p:sp>
      <p:sp>
        <p:nvSpPr>
          <p:cNvPr id="3" name="Title"/>
          <p:cNvSpPr txBox="1"/>
          <p:nvPr/>
        </p:nvSpPr>
        <p:spPr>
          <a:xfrm>
            <a:off x="548640" y="411480"/>
            <a:ext cx="3735813" cy="433067"/>
          </a:xfrm>
          <a:prstGeom prst="rect">
            <a:avLst/>
          </a:prstGeom>
          <a:noFill/>
        </p:spPr>
        <p:txBody>
          <a:bodyPr wrap="square" lIns="0" tIns="0" rIns="0" bIns="0" anchor="t">
            <a:spAutoFit/>
          </a:bodyPr>
          <a:lstStyle/>
          <a:p>
            <a:pPr algn="l">
              <a:lnSpc>
                <a:spcPct val="115000"/>
              </a:lnSpc>
            </a:pPr>
            <a:r>
              <a:rPr sz="2600" b="1" dirty="0">
                <a:solidFill>
                  <a:srgbClr val="FFFFFF"/>
                </a:solidFill>
                <a:latin typeface="Calibri"/>
              </a:rPr>
              <a:t>SECURITY &amp;</a:t>
            </a:r>
            <a:r>
              <a:rPr lang="en-US" sz="2600" b="1" dirty="0">
                <a:solidFill>
                  <a:srgbClr val="FFFFFF"/>
                </a:solidFill>
                <a:latin typeface="Calibri"/>
              </a:rPr>
              <a:t> Governance</a:t>
            </a:r>
            <a:endParaRPr sz="2600" b="1" dirty="0">
              <a:solidFill>
                <a:srgbClr val="FFFFFF"/>
              </a:solidFill>
              <a:latin typeface="Calibri"/>
            </a:endParaRPr>
          </a:p>
        </p:txBody>
      </p:sp>
      <p:sp>
        <p:nvSpPr>
          <p:cNvPr id="4" name="AccentBar"/>
          <p:cNvSpPr/>
          <p:nvPr/>
        </p:nvSpPr>
        <p:spPr>
          <a:xfrm>
            <a:off x="548640" y="1097280"/>
            <a:ext cx="502920" cy="38100"/>
          </a:xfrm>
          <a:prstGeom prst="rect">
            <a:avLst/>
          </a:prstGeom>
          <a:solidFill>
            <a:srgbClr val="1E88E5"/>
          </a:solidFill>
          <a:ln>
            <a:noFill/>
          </a:ln>
        </p:spPr>
        <p:txBody>
          <a:bodyPr/>
          <a:lstStyle/>
          <a:p>
            <a:endParaRPr/>
          </a:p>
        </p:txBody>
      </p:sp>
      <p:sp>
        <p:nvSpPr>
          <p:cNvPr id="10" name="Explain"/>
          <p:cNvSpPr txBox="1"/>
          <p:nvPr/>
        </p:nvSpPr>
        <p:spPr>
          <a:xfrm>
            <a:off x="548641" y="1250000"/>
            <a:ext cx="3540280" cy="4550926"/>
          </a:xfrm>
          <a:prstGeom prst="rect">
            <a:avLst/>
          </a:prstGeom>
          <a:noFill/>
        </p:spPr>
        <p:txBody>
          <a:bodyPr wrap="square" lIns="91440" tIns="45720" rIns="91440" bIns="45720">
            <a:spAutoFit/>
          </a:bodyPr>
          <a:lstStyle/>
          <a:p>
            <a:pPr algn="l">
              <a:lnSpc>
                <a:spcPct val="130000"/>
              </a:lnSpc>
            </a:pPr>
            <a:r>
              <a:rPr lang="en-IN" sz="1400" dirty="0">
                <a:solidFill>
                  <a:srgbClr val="E8ECF4"/>
                </a:solidFill>
                <a:latin typeface="Calibri"/>
              </a:rPr>
              <a:t>The Security &amp; Governance Architecture ensures secure access, data protection, operational monitoring, and compliance across the Document Upload Portal. Azure Entra ID provides centralized authentication and RBAC-based authorization, while Azure Application Gateway and WAF protect external access. Azure Key Vault secures application secrets using Managed Identity, and Azure Blob Storage and Azure SQL Database provide encrypted storage for images and metadata. Azure Monitor and Application Insights deliver centralized observability, auditability, and threat monitoring, ensuring a secure, scalable, and enterprise-compliant platform.</a:t>
            </a:r>
            <a:endParaRPr sz="1400" dirty="0">
              <a:solidFill>
                <a:srgbClr val="E8ECF4"/>
              </a:solidFill>
              <a:latin typeface="Calibri"/>
            </a:endParaRPr>
          </a:p>
        </p:txBody>
      </p:sp>
      <p:sp>
        <p:nvSpPr>
          <p:cNvPr id="90" name="SlideNum"/>
          <p:cNvSpPr txBox="1"/>
          <p:nvPr/>
        </p:nvSpPr>
        <p:spPr>
          <a:xfrm>
            <a:off x="457200" y="6492240"/>
            <a:ext cx="548640" cy="228600"/>
          </a:xfrm>
          <a:prstGeom prst="rect">
            <a:avLst/>
          </a:prstGeom>
          <a:noFill/>
        </p:spPr>
        <p:txBody>
          <a:bodyPr wrap="square" lIns="0" tIns="0" rIns="0" bIns="0" anchor="t">
            <a:spAutoFit/>
          </a:bodyPr>
          <a:lstStyle/>
          <a:p>
            <a:pPr algn="l"/>
            <a:r>
              <a:rPr sz="1000" b="0">
                <a:solidFill>
                  <a:srgbClr val="B8C6E3"/>
                </a:solidFill>
                <a:latin typeface="Calibri"/>
              </a:rPr>
              <a:t>18</a:t>
            </a:r>
          </a:p>
        </p:txBody>
      </p:sp>
      <p:sp>
        <p:nvSpPr>
          <p:cNvPr id="91" name="Copyright"/>
          <p:cNvSpPr txBox="1"/>
          <p:nvPr/>
        </p:nvSpPr>
        <p:spPr>
          <a:xfrm>
            <a:off x="1005840" y="6492240"/>
            <a:ext cx="7315200" cy="228600"/>
          </a:xfrm>
          <a:prstGeom prst="rect">
            <a:avLst/>
          </a:prstGeom>
          <a:noFill/>
        </p:spPr>
        <p:txBody>
          <a:bodyPr wrap="square" lIns="0" tIns="0" rIns="0" bIns="0" anchor="t">
            <a:spAutoFit/>
          </a:bodyPr>
          <a:lstStyle/>
          <a:p>
            <a:pPr algn="l"/>
            <a:r>
              <a:rPr sz="900" b="0">
                <a:solidFill>
                  <a:srgbClr val="B8C6E3"/>
                </a:solidFill>
                <a:latin typeface="Calibri"/>
              </a:rPr>
              <a:t>© 2026 Cognizant | Confidential &amp; Proprietary</a:t>
            </a:r>
          </a:p>
        </p:txBody>
      </p:sp>
      <p:pic>
        <p:nvPicPr>
          <p:cNvPr id="6" name="Picture 5">
            <a:extLst>
              <a:ext uri="{FF2B5EF4-FFF2-40B4-BE49-F238E27FC236}">
                <a16:creationId xmlns:a16="http://schemas.microsoft.com/office/drawing/2014/main" id="{0E92F092-AEE1-2DFD-2D43-4577BD0BDCB7}"/>
              </a:ext>
            </a:extLst>
          </p:cNvPr>
          <p:cNvPicPr>
            <a:picLocks noChangeAspect="1"/>
          </p:cNvPicPr>
          <p:nvPr/>
        </p:nvPicPr>
        <p:blipFill>
          <a:blip r:embed="rId2"/>
          <a:stretch>
            <a:fillRect/>
          </a:stretch>
        </p:blipFill>
        <p:spPr>
          <a:xfrm>
            <a:off x="4284453" y="92015"/>
            <a:ext cx="7677510" cy="66288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20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0058400" cy="640080"/>
          </a:xfrm>
          <a:prstGeom prst="rect">
            <a:avLst/>
          </a:prstGeom>
          <a:noFill/>
        </p:spPr>
        <p:txBody>
          <a:bodyPr wrap="square" lIns="0" tIns="0" rIns="0" bIns="0" anchor="t">
            <a:spAutoFit/>
          </a:bodyPr>
          <a:lstStyle/>
          <a:p>
            <a:pPr algn="l">
              <a:lnSpc>
                <a:spcPct val="115000"/>
              </a:lnSpc>
            </a:pPr>
            <a:r>
              <a:rPr sz="2600" b="1">
                <a:solidFill>
                  <a:srgbClr val="FFFFFF"/>
                </a:solidFill>
                <a:latin typeface="Calibri"/>
              </a:rPr>
              <a:t>MONITORING &amp; LOGGING — STRATEGY</a:t>
            </a:r>
          </a:p>
        </p:txBody>
      </p:sp>
      <p:sp>
        <p:nvSpPr>
          <p:cNvPr id="4" name="Rectangle 3"/>
          <p:cNvSpPr/>
          <p:nvPr/>
        </p:nvSpPr>
        <p:spPr>
          <a:xfrm>
            <a:off x="548640" y="1097280"/>
            <a:ext cx="502920" cy="381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57784" y="1417320"/>
            <a:ext cx="2212848" cy="4389120"/>
          </a:xfrm>
          <a:prstGeom prst="roundRect">
            <a:avLst>
              <a:gd name="adj" fmla="val 10000"/>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1554480"/>
            <a:ext cx="2212848" cy="457200"/>
          </a:xfrm>
          <a:prstGeom prst="rect">
            <a:avLst/>
          </a:prstGeom>
          <a:noFill/>
        </p:spPr>
        <p:txBody>
          <a:bodyPr wrap="square" lIns="0" tIns="0" rIns="0" bIns="0" anchor="t">
            <a:spAutoFit/>
          </a:bodyPr>
          <a:lstStyle/>
          <a:p>
            <a:pPr algn="ctr">
              <a:lnSpc>
                <a:spcPct val="115000"/>
              </a:lnSpc>
            </a:pPr>
            <a:r>
              <a:rPr sz="1300" b="1">
                <a:solidFill>
                  <a:srgbClr val="FFFFFF"/>
                </a:solidFill>
                <a:latin typeface="Calibri"/>
              </a:rPr>
              <a:t>Telemetry sources</a:t>
            </a:r>
          </a:p>
        </p:txBody>
      </p:sp>
      <p:sp>
        <p:nvSpPr>
          <p:cNvPr id="7" name="TextBox 6"/>
          <p:cNvSpPr txBox="1"/>
          <p:nvPr/>
        </p:nvSpPr>
        <p:spPr>
          <a:xfrm>
            <a:off x="685800" y="2103120"/>
            <a:ext cx="1938528" cy="166584"/>
          </a:xfrm>
          <a:prstGeom prst="rect">
            <a:avLst/>
          </a:prstGeom>
          <a:noFill/>
        </p:spPr>
        <p:txBody>
          <a:bodyPr wrap="square" lIns="0" tIns="0" rIns="0" bIns="0" anchor="t">
            <a:spAutoFit/>
          </a:bodyPr>
          <a:lstStyle/>
          <a:p>
            <a:pPr algn="l">
              <a:lnSpc>
                <a:spcPct val="115000"/>
              </a:lnSpc>
            </a:pPr>
            <a:r>
              <a:rPr sz="1000" b="0" dirty="0">
                <a:solidFill>
                  <a:srgbClr val="E8ECF4"/>
                </a:solidFill>
                <a:latin typeface="Calibri"/>
              </a:rPr>
              <a:t>•  </a:t>
            </a:r>
            <a:r>
              <a:rPr lang="en-US" sz="1000" dirty="0" err="1">
                <a:solidFill>
                  <a:srgbClr val="E8ECF4"/>
                </a:solidFill>
                <a:latin typeface="Calibri"/>
              </a:rPr>
              <a:t>.Net</a:t>
            </a:r>
            <a:r>
              <a:rPr lang="en-US" sz="1000" dirty="0">
                <a:solidFill>
                  <a:srgbClr val="E8ECF4"/>
                </a:solidFill>
                <a:latin typeface="Calibri"/>
              </a:rPr>
              <a:t> Core</a:t>
            </a:r>
            <a:r>
              <a:rPr sz="1000" b="0" dirty="0">
                <a:solidFill>
                  <a:srgbClr val="E8ECF4"/>
                </a:solidFill>
                <a:latin typeface="Calibri"/>
              </a:rPr>
              <a:t> (browser)</a:t>
            </a:r>
          </a:p>
        </p:txBody>
      </p:sp>
      <p:sp>
        <p:nvSpPr>
          <p:cNvPr id="8" name="TextBox 7"/>
          <p:cNvSpPr txBox="1"/>
          <p:nvPr/>
        </p:nvSpPr>
        <p:spPr>
          <a:xfrm>
            <a:off x="685800" y="2514600"/>
            <a:ext cx="1938528" cy="457200"/>
          </a:xfrm>
          <a:prstGeom prst="rect">
            <a:avLst/>
          </a:prstGeom>
          <a:noFill/>
        </p:spPr>
        <p:txBody>
          <a:bodyPr wrap="square" lIns="0" tIns="0" rIns="0" bIns="0" anchor="t">
            <a:spAutoFit/>
          </a:bodyPr>
          <a:lstStyle/>
          <a:p>
            <a:pPr algn="l">
              <a:lnSpc>
                <a:spcPct val="115000"/>
              </a:lnSpc>
            </a:pPr>
            <a:r>
              <a:rPr sz="1000" b="0">
                <a:solidFill>
                  <a:srgbClr val="E8ECF4"/>
                </a:solidFill>
                <a:latin typeface="Calibri"/>
              </a:rPr>
              <a:t>•  .NET 8 API (Serilog)</a:t>
            </a:r>
          </a:p>
        </p:txBody>
      </p:sp>
      <p:sp>
        <p:nvSpPr>
          <p:cNvPr id="9" name="TextBox 8"/>
          <p:cNvSpPr txBox="1"/>
          <p:nvPr/>
        </p:nvSpPr>
        <p:spPr>
          <a:xfrm>
            <a:off x="685800" y="2926080"/>
            <a:ext cx="1938528" cy="457200"/>
          </a:xfrm>
          <a:prstGeom prst="rect">
            <a:avLst/>
          </a:prstGeom>
          <a:noFill/>
        </p:spPr>
        <p:txBody>
          <a:bodyPr wrap="square" lIns="0" tIns="0" rIns="0" bIns="0" anchor="t">
            <a:spAutoFit/>
          </a:bodyPr>
          <a:lstStyle/>
          <a:p>
            <a:pPr algn="l">
              <a:lnSpc>
                <a:spcPct val="115000"/>
              </a:lnSpc>
            </a:pPr>
            <a:r>
              <a:rPr sz="1000" b="0">
                <a:solidFill>
                  <a:srgbClr val="E8ECF4"/>
                </a:solidFill>
                <a:latin typeface="Calibri"/>
              </a:rPr>
              <a:t>•  Azure SQL diagnostics</a:t>
            </a:r>
          </a:p>
        </p:txBody>
      </p:sp>
      <p:sp>
        <p:nvSpPr>
          <p:cNvPr id="10" name="TextBox 9"/>
          <p:cNvSpPr txBox="1"/>
          <p:nvPr/>
        </p:nvSpPr>
        <p:spPr>
          <a:xfrm>
            <a:off x="685800" y="3337560"/>
            <a:ext cx="1938528" cy="457200"/>
          </a:xfrm>
          <a:prstGeom prst="rect">
            <a:avLst/>
          </a:prstGeom>
          <a:noFill/>
        </p:spPr>
        <p:txBody>
          <a:bodyPr wrap="square" lIns="0" tIns="0" rIns="0" bIns="0" anchor="t">
            <a:spAutoFit/>
          </a:bodyPr>
          <a:lstStyle/>
          <a:p>
            <a:pPr algn="l">
              <a:lnSpc>
                <a:spcPct val="115000"/>
              </a:lnSpc>
            </a:pPr>
            <a:r>
              <a:rPr sz="1000" b="0">
                <a:solidFill>
                  <a:srgbClr val="E8ECF4"/>
                </a:solidFill>
                <a:latin typeface="Calibri"/>
              </a:rPr>
              <a:t>•  App Service platform logs</a:t>
            </a:r>
          </a:p>
        </p:txBody>
      </p:sp>
      <p:cxnSp>
        <p:nvCxnSpPr>
          <p:cNvPr id="11" name="Connector 10"/>
          <p:cNvCxnSpPr/>
          <p:nvPr/>
        </p:nvCxnSpPr>
        <p:spPr>
          <a:xfrm>
            <a:off x="2770632" y="3611880"/>
            <a:ext cx="54864" cy="0"/>
          </a:xfrm>
          <a:prstGeom prst="bentConnector3">
            <a:avLst/>
          </a:prstGeom>
          <a:ln w="1905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34640" y="1417320"/>
            <a:ext cx="2212848" cy="4389120"/>
          </a:xfrm>
          <a:prstGeom prst="roundRect">
            <a:avLst>
              <a:gd name="adj" fmla="val 10000"/>
            </a:avLst>
          </a:prstGeom>
          <a:solidFill>
            <a:srgbClr val="145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834640" y="1554480"/>
            <a:ext cx="2212848" cy="457200"/>
          </a:xfrm>
          <a:prstGeom prst="rect">
            <a:avLst/>
          </a:prstGeom>
          <a:noFill/>
        </p:spPr>
        <p:txBody>
          <a:bodyPr wrap="square" lIns="0" tIns="0" rIns="0" bIns="0" anchor="t">
            <a:spAutoFit/>
          </a:bodyPr>
          <a:lstStyle/>
          <a:p>
            <a:pPr algn="ctr">
              <a:lnSpc>
                <a:spcPct val="115000"/>
              </a:lnSpc>
            </a:pPr>
            <a:r>
              <a:rPr sz="1300" b="1">
                <a:solidFill>
                  <a:srgbClr val="FFFFFF"/>
                </a:solidFill>
                <a:latin typeface="Calibri"/>
              </a:rPr>
              <a:t>Collection</a:t>
            </a:r>
          </a:p>
        </p:txBody>
      </p:sp>
      <p:sp>
        <p:nvSpPr>
          <p:cNvPr id="14" name="TextBox 13"/>
          <p:cNvSpPr txBox="1"/>
          <p:nvPr/>
        </p:nvSpPr>
        <p:spPr>
          <a:xfrm>
            <a:off x="2971800" y="2103120"/>
            <a:ext cx="1938528" cy="457200"/>
          </a:xfrm>
          <a:prstGeom prst="rect">
            <a:avLst/>
          </a:prstGeom>
          <a:noFill/>
        </p:spPr>
        <p:txBody>
          <a:bodyPr wrap="square" lIns="0" tIns="0" rIns="0" bIns="0" anchor="t">
            <a:spAutoFit/>
          </a:bodyPr>
          <a:lstStyle/>
          <a:p>
            <a:pPr algn="l">
              <a:lnSpc>
                <a:spcPct val="115000"/>
              </a:lnSpc>
            </a:pPr>
            <a:r>
              <a:rPr sz="1000" b="0" dirty="0">
                <a:solidFill>
                  <a:srgbClr val="E8ECF4"/>
                </a:solidFill>
                <a:latin typeface="Calibri"/>
              </a:rPr>
              <a:t>•  Application Insights SDK (in-process)</a:t>
            </a:r>
          </a:p>
        </p:txBody>
      </p:sp>
      <p:sp>
        <p:nvSpPr>
          <p:cNvPr id="15" name="TextBox 14"/>
          <p:cNvSpPr txBox="1"/>
          <p:nvPr/>
        </p:nvSpPr>
        <p:spPr>
          <a:xfrm>
            <a:off x="2971800" y="2514600"/>
            <a:ext cx="1938528" cy="457200"/>
          </a:xfrm>
          <a:prstGeom prst="rect">
            <a:avLst/>
          </a:prstGeom>
          <a:noFill/>
        </p:spPr>
        <p:txBody>
          <a:bodyPr wrap="square" lIns="0" tIns="0" rIns="0" bIns="0" anchor="t">
            <a:spAutoFit/>
          </a:bodyPr>
          <a:lstStyle/>
          <a:p>
            <a:pPr algn="l">
              <a:lnSpc>
                <a:spcPct val="115000"/>
              </a:lnSpc>
            </a:pPr>
            <a:r>
              <a:rPr sz="1000" b="0">
                <a:solidFill>
                  <a:srgbClr val="E8ECF4"/>
                </a:solidFill>
                <a:latin typeface="Calibri"/>
              </a:rPr>
              <a:t>•  Serilog → App Insights sink</a:t>
            </a:r>
          </a:p>
        </p:txBody>
      </p:sp>
      <p:sp>
        <p:nvSpPr>
          <p:cNvPr id="16" name="TextBox 15"/>
          <p:cNvSpPr txBox="1"/>
          <p:nvPr/>
        </p:nvSpPr>
        <p:spPr>
          <a:xfrm>
            <a:off x="2971800" y="2926080"/>
            <a:ext cx="1938528" cy="457200"/>
          </a:xfrm>
          <a:prstGeom prst="rect">
            <a:avLst/>
          </a:prstGeom>
          <a:noFill/>
        </p:spPr>
        <p:txBody>
          <a:bodyPr wrap="square" lIns="0" tIns="0" rIns="0" bIns="0" anchor="t">
            <a:spAutoFit/>
          </a:bodyPr>
          <a:lstStyle/>
          <a:p>
            <a:pPr algn="l">
              <a:lnSpc>
                <a:spcPct val="115000"/>
              </a:lnSpc>
            </a:pPr>
            <a:r>
              <a:rPr sz="1000" b="0">
                <a:solidFill>
                  <a:srgbClr val="E8ECF4"/>
                </a:solidFill>
                <a:latin typeface="Calibri"/>
              </a:rPr>
              <a:t>•  Diagnostic settings on Azure SQL &amp; App Service</a:t>
            </a:r>
          </a:p>
        </p:txBody>
      </p:sp>
      <p:cxnSp>
        <p:nvCxnSpPr>
          <p:cNvPr id="17" name="Connector 16"/>
          <p:cNvCxnSpPr/>
          <p:nvPr/>
        </p:nvCxnSpPr>
        <p:spPr>
          <a:xfrm>
            <a:off x="5056632" y="3611880"/>
            <a:ext cx="54864" cy="0"/>
          </a:xfrm>
          <a:prstGeom prst="bentConnector3">
            <a:avLst/>
          </a:prstGeom>
          <a:ln w="1905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120640" y="1417320"/>
            <a:ext cx="2212848" cy="4389120"/>
          </a:xfrm>
          <a:prstGeom prst="roundRect">
            <a:avLst>
              <a:gd name="adj" fmla="val 10000"/>
            </a:avLst>
          </a:prstGeom>
          <a:solidFill>
            <a:srgbClr val="294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120640" y="1554480"/>
            <a:ext cx="2212848" cy="457200"/>
          </a:xfrm>
          <a:prstGeom prst="rect">
            <a:avLst/>
          </a:prstGeom>
          <a:noFill/>
        </p:spPr>
        <p:txBody>
          <a:bodyPr wrap="square" lIns="0" tIns="0" rIns="0" bIns="0" anchor="t">
            <a:spAutoFit/>
          </a:bodyPr>
          <a:lstStyle/>
          <a:p>
            <a:pPr algn="ctr">
              <a:lnSpc>
                <a:spcPct val="115000"/>
              </a:lnSpc>
            </a:pPr>
            <a:r>
              <a:rPr sz="1300" b="1">
                <a:solidFill>
                  <a:srgbClr val="FFFFFF"/>
                </a:solidFill>
                <a:latin typeface="Calibri"/>
              </a:rPr>
              <a:t>Aggregation</a:t>
            </a:r>
          </a:p>
        </p:txBody>
      </p:sp>
      <p:sp>
        <p:nvSpPr>
          <p:cNvPr id="20" name="TextBox 19"/>
          <p:cNvSpPr txBox="1"/>
          <p:nvPr/>
        </p:nvSpPr>
        <p:spPr>
          <a:xfrm>
            <a:off x="5257800" y="2103120"/>
            <a:ext cx="1938528" cy="457200"/>
          </a:xfrm>
          <a:prstGeom prst="rect">
            <a:avLst/>
          </a:prstGeom>
          <a:noFill/>
        </p:spPr>
        <p:txBody>
          <a:bodyPr wrap="square" lIns="0" tIns="0" rIns="0" bIns="0" anchor="t">
            <a:spAutoFit/>
          </a:bodyPr>
          <a:lstStyle/>
          <a:p>
            <a:pPr algn="l">
              <a:lnSpc>
                <a:spcPct val="115000"/>
              </a:lnSpc>
            </a:pPr>
            <a:r>
              <a:rPr sz="1000" b="0">
                <a:solidFill>
                  <a:srgbClr val="E8ECF4"/>
                </a:solidFill>
                <a:latin typeface="Calibri"/>
              </a:rPr>
              <a:t>•  Application Insights (workspace-based)</a:t>
            </a:r>
          </a:p>
        </p:txBody>
      </p:sp>
      <p:sp>
        <p:nvSpPr>
          <p:cNvPr id="21" name="TextBox 20"/>
          <p:cNvSpPr txBox="1"/>
          <p:nvPr/>
        </p:nvSpPr>
        <p:spPr>
          <a:xfrm>
            <a:off x="5257800" y="2514600"/>
            <a:ext cx="1938528" cy="457200"/>
          </a:xfrm>
          <a:prstGeom prst="rect">
            <a:avLst/>
          </a:prstGeom>
          <a:noFill/>
        </p:spPr>
        <p:txBody>
          <a:bodyPr wrap="square" lIns="0" tIns="0" rIns="0" bIns="0" anchor="t">
            <a:spAutoFit/>
          </a:bodyPr>
          <a:lstStyle/>
          <a:p>
            <a:pPr algn="l">
              <a:lnSpc>
                <a:spcPct val="115000"/>
              </a:lnSpc>
            </a:pPr>
            <a:r>
              <a:rPr sz="1000" b="0">
                <a:solidFill>
                  <a:srgbClr val="E8ECF4"/>
                </a:solidFill>
                <a:latin typeface="Calibri"/>
              </a:rPr>
              <a:t>•  Log Analytics Workspace</a:t>
            </a:r>
          </a:p>
        </p:txBody>
      </p:sp>
      <p:sp>
        <p:nvSpPr>
          <p:cNvPr id="22" name="TextBox 21"/>
          <p:cNvSpPr txBox="1"/>
          <p:nvPr/>
        </p:nvSpPr>
        <p:spPr>
          <a:xfrm>
            <a:off x="5257800" y="2926080"/>
            <a:ext cx="1938528" cy="457200"/>
          </a:xfrm>
          <a:prstGeom prst="rect">
            <a:avLst/>
          </a:prstGeom>
          <a:noFill/>
        </p:spPr>
        <p:txBody>
          <a:bodyPr wrap="square" lIns="0" tIns="0" rIns="0" bIns="0" anchor="t">
            <a:spAutoFit/>
          </a:bodyPr>
          <a:lstStyle/>
          <a:p>
            <a:pPr algn="l">
              <a:lnSpc>
                <a:spcPct val="115000"/>
              </a:lnSpc>
            </a:pPr>
            <a:r>
              <a:rPr sz="1000" b="0" dirty="0">
                <a:solidFill>
                  <a:srgbClr val="E8ECF4"/>
                </a:solidFill>
                <a:latin typeface="Calibri"/>
              </a:rPr>
              <a:t>•  Retention: 90 d AI, 12 m LAW</a:t>
            </a:r>
          </a:p>
        </p:txBody>
      </p:sp>
      <p:cxnSp>
        <p:nvCxnSpPr>
          <p:cNvPr id="23" name="Connector 22"/>
          <p:cNvCxnSpPr/>
          <p:nvPr/>
        </p:nvCxnSpPr>
        <p:spPr>
          <a:xfrm>
            <a:off x="7342632" y="3611880"/>
            <a:ext cx="54864" cy="0"/>
          </a:xfrm>
          <a:prstGeom prst="bentConnector3">
            <a:avLst/>
          </a:prstGeom>
          <a:ln w="1905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406640" y="1417320"/>
            <a:ext cx="2212848" cy="4389120"/>
          </a:xfrm>
          <a:prstGeom prst="roundRect">
            <a:avLst>
              <a:gd name="adj" fmla="val 10000"/>
            </a:avLst>
          </a:prstGeom>
          <a:solidFill>
            <a:srgbClr val="3BC1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406640" y="1554480"/>
            <a:ext cx="2212848" cy="457200"/>
          </a:xfrm>
          <a:prstGeom prst="rect">
            <a:avLst/>
          </a:prstGeom>
          <a:noFill/>
        </p:spPr>
        <p:txBody>
          <a:bodyPr wrap="square" lIns="0" tIns="0" rIns="0" bIns="0" anchor="t">
            <a:spAutoFit/>
          </a:bodyPr>
          <a:lstStyle/>
          <a:p>
            <a:pPr algn="ctr">
              <a:lnSpc>
                <a:spcPct val="115000"/>
              </a:lnSpc>
            </a:pPr>
            <a:r>
              <a:rPr sz="1300" b="1">
                <a:solidFill>
                  <a:srgbClr val="FFFFFF"/>
                </a:solidFill>
                <a:latin typeface="Calibri"/>
              </a:rPr>
              <a:t>Alerting</a:t>
            </a:r>
          </a:p>
        </p:txBody>
      </p:sp>
      <p:sp>
        <p:nvSpPr>
          <p:cNvPr id="26" name="TextBox 25"/>
          <p:cNvSpPr txBox="1"/>
          <p:nvPr/>
        </p:nvSpPr>
        <p:spPr>
          <a:xfrm>
            <a:off x="7543800" y="2103120"/>
            <a:ext cx="1938528" cy="457200"/>
          </a:xfrm>
          <a:prstGeom prst="rect">
            <a:avLst/>
          </a:prstGeom>
          <a:noFill/>
        </p:spPr>
        <p:txBody>
          <a:bodyPr wrap="square" lIns="0" tIns="0" rIns="0" bIns="0" anchor="t">
            <a:spAutoFit/>
          </a:bodyPr>
          <a:lstStyle/>
          <a:p>
            <a:pPr algn="l">
              <a:lnSpc>
                <a:spcPct val="115000"/>
              </a:lnSpc>
            </a:pPr>
            <a:r>
              <a:rPr sz="1000" b="0">
                <a:solidFill>
                  <a:srgbClr val="E8ECF4"/>
                </a:solidFill>
                <a:latin typeface="Calibri"/>
              </a:rPr>
              <a:t>•  Azure Monitor metric &amp; log alerts</a:t>
            </a:r>
          </a:p>
        </p:txBody>
      </p:sp>
      <p:sp>
        <p:nvSpPr>
          <p:cNvPr id="27" name="TextBox 26"/>
          <p:cNvSpPr txBox="1"/>
          <p:nvPr/>
        </p:nvSpPr>
        <p:spPr>
          <a:xfrm>
            <a:off x="7543800" y="2514600"/>
            <a:ext cx="1938528" cy="457200"/>
          </a:xfrm>
          <a:prstGeom prst="rect">
            <a:avLst/>
          </a:prstGeom>
          <a:noFill/>
        </p:spPr>
        <p:txBody>
          <a:bodyPr wrap="square" lIns="0" tIns="0" rIns="0" bIns="0" anchor="t">
            <a:spAutoFit/>
          </a:bodyPr>
          <a:lstStyle/>
          <a:p>
            <a:pPr algn="l">
              <a:lnSpc>
                <a:spcPct val="115000"/>
              </a:lnSpc>
            </a:pPr>
            <a:r>
              <a:rPr sz="1000" b="0">
                <a:solidFill>
                  <a:srgbClr val="E8ECF4"/>
                </a:solidFill>
                <a:latin typeface="Calibri"/>
              </a:rPr>
              <a:t>•  Action groups: Email today</a:t>
            </a:r>
          </a:p>
        </p:txBody>
      </p:sp>
      <p:sp>
        <p:nvSpPr>
          <p:cNvPr id="28" name="TextBox 27"/>
          <p:cNvSpPr txBox="1"/>
          <p:nvPr/>
        </p:nvSpPr>
        <p:spPr>
          <a:xfrm>
            <a:off x="7543800" y="2926080"/>
            <a:ext cx="1938528" cy="457200"/>
          </a:xfrm>
          <a:prstGeom prst="rect">
            <a:avLst/>
          </a:prstGeom>
          <a:noFill/>
        </p:spPr>
        <p:txBody>
          <a:bodyPr wrap="square" lIns="0" tIns="0" rIns="0" bIns="0" anchor="t">
            <a:spAutoFit/>
          </a:bodyPr>
          <a:lstStyle/>
          <a:p>
            <a:pPr algn="l">
              <a:lnSpc>
                <a:spcPct val="115000"/>
              </a:lnSpc>
            </a:pPr>
            <a:r>
              <a:rPr sz="1000" b="0">
                <a:solidFill>
                  <a:srgbClr val="E8ECF4"/>
                </a:solidFill>
                <a:latin typeface="Calibri"/>
              </a:rPr>
              <a:t>•  Teams / Slack / ITSM → roadmap</a:t>
            </a:r>
          </a:p>
        </p:txBody>
      </p:sp>
      <p:cxnSp>
        <p:nvCxnSpPr>
          <p:cNvPr id="29" name="Connector 28"/>
          <p:cNvCxnSpPr/>
          <p:nvPr/>
        </p:nvCxnSpPr>
        <p:spPr>
          <a:xfrm>
            <a:off x="9628632" y="3611880"/>
            <a:ext cx="54864" cy="0"/>
          </a:xfrm>
          <a:prstGeom prst="bentConnector3">
            <a:avLst/>
          </a:prstGeom>
          <a:ln w="1905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692640" y="1417320"/>
            <a:ext cx="2212848" cy="4389120"/>
          </a:xfrm>
          <a:prstGeom prst="roundRect">
            <a:avLst>
              <a:gd name="adj" fmla="val 10000"/>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692640" y="1554480"/>
            <a:ext cx="2212848" cy="457200"/>
          </a:xfrm>
          <a:prstGeom prst="rect">
            <a:avLst/>
          </a:prstGeom>
          <a:noFill/>
        </p:spPr>
        <p:txBody>
          <a:bodyPr wrap="square" lIns="0" tIns="0" rIns="0" bIns="0" anchor="t">
            <a:spAutoFit/>
          </a:bodyPr>
          <a:lstStyle/>
          <a:p>
            <a:pPr algn="ctr">
              <a:lnSpc>
                <a:spcPct val="115000"/>
              </a:lnSpc>
            </a:pPr>
            <a:r>
              <a:rPr sz="1300" b="1">
                <a:solidFill>
                  <a:srgbClr val="FFFFFF"/>
                </a:solidFill>
                <a:latin typeface="Calibri"/>
              </a:rPr>
              <a:t>Visualisation</a:t>
            </a:r>
          </a:p>
        </p:txBody>
      </p:sp>
      <p:sp>
        <p:nvSpPr>
          <p:cNvPr id="32" name="TextBox 31"/>
          <p:cNvSpPr txBox="1"/>
          <p:nvPr/>
        </p:nvSpPr>
        <p:spPr>
          <a:xfrm>
            <a:off x="9829800" y="2103120"/>
            <a:ext cx="1938528" cy="457200"/>
          </a:xfrm>
          <a:prstGeom prst="rect">
            <a:avLst/>
          </a:prstGeom>
          <a:noFill/>
        </p:spPr>
        <p:txBody>
          <a:bodyPr wrap="square" lIns="0" tIns="0" rIns="0" bIns="0" anchor="t">
            <a:spAutoFit/>
          </a:bodyPr>
          <a:lstStyle/>
          <a:p>
            <a:pPr algn="l">
              <a:lnSpc>
                <a:spcPct val="115000"/>
              </a:lnSpc>
            </a:pPr>
            <a:r>
              <a:rPr sz="1000" b="0">
                <a:solidFill>
                  <a:srgbClr val="E8ECF4"/>
                </a:solidFill>
                <a:latin typeface="Calibri"/>
              </a:rPr>
              <a:t>•  Azure Dashboards</a:t>
            </a:r>
          </a:p>
        </p:txBody>
      </p:sp>
      <p:sp>
        <p:nvSpPr>
          <p:cNvPr id="33" name="TextBox 32"/>
          <p:cNvSpPr txBox="1"/>
          <p:nvPr/>
        </p:nvSpPr>
        <p:spPr>
          <a:xfrm>
            <a:off x="9829800" y="2514600"/>
            <a:ext cx="1938528" cy="457200"/>
          </a:xfrm>
          <a:prstGeom prst="rect">
            <a:avLst/>
          </a:prstGeom>
          <a:noFill/>
        </p:spPr>
        <p:txBody>
          <a:bodyPr wrap="square" lIns="0" tIns="0" rIns="0" bIns="0" anchor="t">
            <a:spAutoFit/>
          </a:bodyPr>
          <a:lstStyle/>
          <a:p>
            <a:pPr algn="l">
              <a:lnSpc>
                <a:spcPct val="115000"/>
              </a:lnSpc>
            </a:pPr>
            <a:r>
              <a:rPr sz="1000" b="0">
                <a:solidFill>
                  <a:srgbClr val="E8ECF4"/>
                </a:solidFill>
                <a:latin typeface="Calibri"/>
              </a:rPr>
              <a:t>•  App Insights Workbooks</a:t>
            </a:r>
          </a:p>
        </p:txBody>
      </p:sp>
      <p:sp>
        <p:nvSpPr>
          <p:cNvPr id="34" name="TextBox 33"/>
          <p:cNvSpPr txBox="1"/>
          <p:nvPr/>
        </p:nvSpPr>
        <p:spPr>
          <a:xfrm>
            <a:off x="9829800" y="2926080"/>
            <a:ext cx="1938528" cy="457200"/>
          </a:xfrm>
          <a:prstGeom prst="rect">
            <a:avLst/>
          </a:prstGeom>
          <a:noFill/>
        </p:spPr>
        <p:txBody>
          <a:bodyPr wrap="square" lIns="0" tIns="0" rIns="0" bIns="0" anchor="t">
            <a:spAutoFit/>
          </a:bodyPr>
          <a:lstStyle/>
          <a:p>
            <a:pPr algn="l">
              <a:lnSpc>
                <a:spcPct val="115000"/>
              </a:lnSpc>
            </a:pPr>
            <a:r>
              <a:rPr sz="1000" b="0">
                <a:solidFill>
                  <a:srgbClr val="E8ECF4"/>
                </a:solidFill>
                <a:latin typeface="Calibri"/>
              </a:rPr>
              <a:t>•  Availability tests on /health</a:t>
            </a:r>
          </a:p>
        </p:txBody>
      </p:sp>
      <p:sp>
        <p:nvSpPr>
          <p:cNvPr id="35" name="TextBox 34"/>
          <p:cNvSpPr txBox="1"/>
          <p:nvPr/>
        </p:nvSpPr>
        <p:spPr>
          <a:xfrm>
            <a:off x="548640" y="6035040"/>
            <a:ext cx="11064240" cy="365760"/>
          </a:xfrm>
          <a:prstGeom prst="rect">
            <a:avLst/>
          </a:prstGeom>
          <a:noFill/>
        </p:spPr>
        <p:txBody>
          <a:bodyPr wrap="square" lIns="0" tIns="0" rIns="0" bIns="0" anchor="t">
            <a:spAutoFit/>
          </a:bodyPr>
          <a:lstStyle/>
          <a:p>
            <a:pPr algn="ctr">
              <a:lnSpc>
                <a:spcPct val="115000"/>
              </a:lnSpc>
            </a:pPr>
            <a:r>
              <a:rPr sz="1000" b="0">
                <a:solidFill>
                  <a:srgbClr val="B8C6E3"/>
                </a:solidFill>
                <a:latin typeface="Calibri"/>
              </a:rPr>
              <a:t>Correlation ID (X-Correlation-ID) propagated from SPA → API → Azure SQL; surfaced on every response and in every log line.</a:t>
            </a:r>
          </a:p>
        </p:txBody>
      </p:sp>
      <p:sp>
        <p:nvSpPr>
          <p:cNvPr id="36" name="TextBox 35"/>
          <p:cNvSpPr txBox="1"/>
          <p:nvPr/>
        </p:nvSpPr>
        <p:spPr>
          <a:xfrm>
            <a:off x="457200" y="6492240"/>
            <a:ext cx="548640" cy="228600"/>
          </a:xfrm>
          <a:prstGeom prst="rect">
            <a:avLst/>
          </a:prstGeom>
          <a:noFill/>
        </p:spPr>
        <p:txBody>
          <a:bodyPr wrap="square" lIns="0" tIns="0" rIns="0" bIns="0" anchor="t">
            <a:spAutoFit/>
          </a:bodyPr>
          <a:lstStyle/>
          <a:p>
            <a:pPr algn="l">
              <a:lnSpc>
                <a:spcPct val="115000"/>
              </a:lnSpc>
            </a:pPr>
            <a:r>
              <a:rPr sz="1000" b="0">
                <a:solidFill>
                  <a:srgbClr val="B8C6E3"/>
                </a:solidFill>
                <a:latin typeface="Calibri"/>
              </a:rPr>
              <a:t>19</a:t>
            </a:r>
          </a:p>
        </p:txBody>
      </p:sp>
      <p:sp>
        <p:nvSpPr>
          <p:cNvPr id="37" name="TextBox 36"/>
          <p:cNvSpPr txBox="1"/>
          <p:nvPr/>
        </p:nvSpPr>
        <p:spPr>
          <a:xfrm>
            <a:off x="1005840" y="6492240"/>
            <a:ext cx="7315200" cy="228600"/>
          </a:xfrm>
          <a:prstGeom prst="rect">
            <a:avLst/>
          </a:prstGeom>
          <a:noFill/>
        </p:spPr>
        <p:txBody>
          <a:bodyPr wrap="square" lIns="0" tIns="0" rIns="0" bIns="0" anchor="t">
            <a:spAutoFit/>
          </a:bodyPr>
          <a:lstStyle/>
          <a:p>
            <a:pPr algn="l">
              <a:lnSpc>
                <a:spcPct val="115000"/>
              </a:lnSpc>
            </a:pPr>
            <a:r>
              <a:rPr sz="900" b="0">
                <a:solidFill>
                  <a:srgbClr val="B8C6E3"/>
                </a:solidFill>
                <a:latin typeface="Calibri"/>
              </a:rPr>
              <a:t>© 2026 Cognizant | Confidential &amp; Proprietary</a:t>
            </a:r>
          </a:p>
        </p:txBody>
      </p:sp>
    </p:spTree>
  </p:cSld>
  <p:clrMapOvr>
    <a:masterClrMapping/>
  </p:clrMapOvr>
  <p:transition spd="slow">
    <p:comb/>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5" y="0"/>
            <a:ext cx="12191695" cy="6858000"/>
          </a:xfrm>
          <a:prstGeom prst="rect">
            <a:avLst/>
          </a:prstGeom>
          <a:solidFill>
            <a:srgbClr val="020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0058400" cy="640080"/>
          </a:xfrm>
          <a:prstGeom prst="rect">
            <a:avLst/>
          </a:prstGeom>
          <a:noFill/>
        </p:spPr>
        <p:txBody>
          <a:bodyPr wrap="square" lIns="0" tIns="0" rIns="0" bIns="0" anchor="t">
            <a:spAutoFit/>
          </a:bodyPr>
          <a:lstStyle/>
          <a:p>
            <a:pPr algn="l">
              <a:lnSpc>
                <a:spcPct val="115000"/>
              </a:lnSpc>
            </a:pPr>
            <a:r>
              <a:rPr sz="2600" b="1">
                <a:solidFill>
                  <a:srgbClr val="FFFFFF"/>
                </a:solidFill>
                <a:latin typeface="Calibri"/>
              </a:rPr>
              <a:t>MONITORING &amp; LOGGING — SUMMARY</a:t>
            </a:r>
          </a:p>
        </p:txBody>
      </p:sp>
      <p:sp>
        <p:nvSpPr>
          <p:cNvPr id="4" name="Rectangle 3"/>
          <p:cNvSpPr/>
          <p:nvPr/>
        </p:nvSpPr>
        <p:spPr>
          <a:xfrm>
            <a:off x="548640" y="1097280"/>
            <a:ext cx="502920" cy="381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554480"/>
            <a:ext cx="10972800" cy="4275466"/>
          </a:xfrm>
          <a:prstGeom prst="rect">
            <a:avLst/>
          </a:prstGeom>
          <a:noFill/>
        </p:spPr>
        <p:txBody>
          <a:bodyPr wrap="square" lIns="0" tIns="0">
            <a:spAutoFit/>
          </a:bodyPr>
          <a:lstStyle/>
          <a:p>
            <a:pPr marL="285750" indent="-285750">
              <a:buFont typeface="Arial" panose="020B0604020202020204" pitchFamily="34" charset="0"/>
              <a:buChar char="•"/>
            </a:pPr>
            <a:r>
              <a:rPr lang="en-IN" sz="1600" dirty="0">
                <a:solidFill>
                  <a:srgbClr val="E8ECF4"/>
                </a:solidFill>
                <a:latin typeface="Calibri"/>
              </a:rPr>
              <a:t>Centralized Application Logging using Azure Application Insights to capture application events, API calls, exceptions, and user activities. </a:t>
            </a:r>
          </a:p>
          <a:p>
            <a:pPr marL="285750" indent="-285750">
              <a:buFont typeface="Arial" panose="020B0604020202020204" pitchFamily="34" charset="0"/>
              <a:buChar char="•"/>
            </a:pPr>
            <a:r>
              <a:rPr lang="en-IN" sz="1600" dirty="0">
                <a:solidFill>
                  <a:srgbClr val="E8ECF4"/>
                </a:solidFill>
                <a:latin typeface="Calibri"/>
              </a:rPr>
              <a:t>Real-Time Performance Monitoring to track API response times, image upload duration, request throughput, and application health. </a:t>
            </a:r>
          </a:p>
          <a:p>
            <a:pPr marL="285750" indent="-285750">
              <a:buFont typeface="Arial" panose="020B0604020202020204" pitchFamily="34" charset="0"/>
              <a:buChar char="•"/>
            </a:pPr>
            <a:r>
              <a:rPr lang="en-IN" sz="1600" dirty="0">
                <a:solidFill>
                  <a:srgbClr val="E8ECF4"/>
                </a:solidFill>
                <a:latin typeface="Calibri"/>
              </a:rPr>
              <a:t>Exception &amp; Error Tracking for proactive identification of upload failures, database connectivity issues, and image processing errors. </a:t>
            </a:r>
          </a:p>
          <a:p>
            <a:pPr marL="285750" indent="-285750">
              <a:buFont typeface="Arial" panose="020B0604020202020204" pitchFamily="34" charset="0"/>
              <a:buChar char="•"/>
            </a:pPr>
            <a:r>
              <a:rPr lang="en-IN" sz="1600" dirty="0">
                <a:solidFill>
                  <a:srgbClr val="E8ECF4"/>
                </a:solidFill>
                <a:latin typeface="Calibri"/>
              </a:rPr>
              <a:t>Infrastructure Monitoring using Azure Monitor to track App Service, Azure SQL Database, and Azure Storage performance metrics. </a:t>
            </a:r>
          </a:p>
          <a:p>
            <a:pPr marL="285750" indent="-285750">
              <a:buFont typeface="Arial" panose="020B0604020202020204" pitchFamily="34" charset="0"/>
              <a:buChar char="•"/>
            </a:pPr>
            <a:r>
              <a:rPr lang="en-IN" sz="1600" dirty="0">
                <a:solidFill>
                  <a:srgbClr val="E8ECF4"/>
                </a:solidFill>
                <a:latin typeface="Calibri"/>
              </a:rPr>
              <a:t>Security Audit Logging to record user authentication, authorization failures, RBAC access events, and suspicious activities for compliance and forensic analysis. </a:t>
            </a:r>
          </a:p>
          <a:p>
            <a:pPr marL="285750" indent="-285750">
              <a:buFont typeface="Arial" panose="020B0604020202020204" pitchFamily="34" charset="0"/>
              <a:buChar char="•"/>
            </a:pPr>
            <a:r>
              <a:rPr lang="en-IN" sz="1600" dirty="0">
                <a:solidFill>
                  <a:srgbClr val="E8ECF4"/>
                </a:solidFill>
                <a:latin typeface="Calibri"/>
              </a:rPr>
              <a:t>Alerting &amp; Notifications configured for critical events such as high error rates, application downtime, storage threshold breaches, and failed authentication attempts. </a:t>
            </a:r>
          </a:p>
          <a:p>
            <a:pPr marL="285750" indent="-285750">
              <a:buFont typeface="Arial" panose="020B0604020202020204" pitchFamily="34" charset="0"/>
              <a:buChar char="•"/>
            </a:pPr>
            <a:r>
              <a:rPr lang="en-IN" sz="1600" dirty="0">
                <a:solidFill>
                  <a:srgbClr val="E8ECF4"/>
                </a:solidFill>
                <a:latin typeface="Calibri"/>
              </a:rPr>
              <a:t>Distributed Request Tracing to track end-to-end transaction flow across UI, APIs, Azure Blob Storage, and Azure SQL Database for faster root cause analysis. </a:t>
            </a:r>
          </a:p>
          <a:p>
            <a:pPr marL="285750" indent="-285750">
              <a:buFont typeface="Arial" panose="020B0604020202020204" pitchFamily="34" charset="0"/>
              <a:buChar char="•"/>
            </a:pPr>
            <a:r>
              <a:rPr lang="en-IN" sz="1600" dirty="0">
                <a:solidFill>
                  <a:srgbClr val="E8ECF4"/>
                </a:solidFill>
                <a:latin typeface="Calibri"/>
              </a:rPr>
              <a:t>Log Analytics &amp; Dashboarding using Azure Monitor Workbooks and Log Analytics for operational insights, trend analysis, and capacity planning.</a:t>
            </a:r>
          </a:p>
          <a:p>
            <a:pPr algn="l">
              <a:lnSpc>
                <a:spcPct val="150000"/>
              </a:lnSpc>
            </a:pPr>
            <a:endParaRPr sz="1400" dirty="0">
              <a:solidFill>
                <a:srgbClr val="E8ECF4"/>
              </a:solidFill>
              <a:latin typeface="Calibri"/>
            </a:endParaRPr>
          </a:p>
        </p:txBody>
      </p:sp>
      <p:sp>
        <p:nvSpPr>
          <p:cNvPr id="6" name="TextBox 5"/>
          <p:cNvSpPr txBox="1"/>
          <p:nvPr/>
        </p:nvSpPr>
        <p:spPr>
          <a:xfrm>
            <a:off x="457200" y="6492240"/>
            <a:ext cx="548640" cy="228600"/>
          </a:xfrm>
          <a:prstGeom prst="rect">
            <a:avLst/>
          </a:prstGeom>
          <a:noFill/>
        </p:spPr>
        <p:txBody>
          <a:bodyPr wrap="square" lIns="0" tIns="0" rIns="0" bIns="0" anchor="t">
            <a:spAutoFit/>
          </a:bodyPr>
          <a:lstStyle/>
          <a:p>
            <a:pPr algn="l">
              <a:lnSpc>
                <a:spcPct val="115000"/>
              </a:lnSpc>
            </a:pPr>
            <a:r>
              <a:rPr sz="1000" b="0">
                <a:solidFill>
                  <a:srgbClr val="B8C6E3"/>
                </a:solidFill>
                <a:latin typeface="Calibri"/>
              </a:rPr>
              <a:t>20</a:t>
            </a:r>
          </a:p>
        </p:txBody>
      </p:sp>
      <p:sp>
        <p:nvSpPr>
          <p:cNvPr id="7" name="TextBox 6"/>
          <p:cNvSpPr txBox="1"/>
          <p:nvPr/>
        </p:nvSpPr>
        <p:spPr>
          <a:xfrm>
            <a:off x="1005840" y="6492240"/>
            <a:ext cx="7315200" cy="228600"/>
          </a:xfrm>
          <a:prstGeom prst="rect">
            <a:avLst/>
          </a:prstGeom>
          <a:noFill/>
        </p:spPr>
        <p:txBody>
          <a:bodyPr wrap="square" lIns="0" tIns="0" rIns="0" bIns="0" anchor="t">
            <a:spAutoFit/>
          </a:bodyPr>
          <a:lstStyle/>
          <a:p>
            <a:pPr algn="l">
              <a:lnSpc>
                <a:spcPct val="115000"/>
              </a:lnSpc>
            </a:pPr>
            <a:r>
              <a:rPr sz="900" b="0">
                <a:solidFill>
                  <a:srgbClr val="B8C6E3"/>
                </a:solidFill>
                <a:latin typeface="Calibri"/>
              </a:rPr>
              <a:t>© 2026 Cognizant | Confidential &amp; Proprietary</a:t>
            </a:r>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Rect"/>
          <p:cNvSpPr/>
          <p:nvPr/>
        </p:nvSpPr>
        <p:spPr>
          <a:xfrm>
            <a:off x="0" y="0"/>
            <a:ext cx="12192000" cy="6858000"/>
          </a:xfrm>
          <a:prstGeom prst="rect">
            <a:avLst/>
          </a:prstGeom>
          <a:solidFill>
            <a:srgbClr val="02082E"/>
          </a:solidFill>
          <a:ln>
            <a:noFill/>
          </a:ln>
        </p:spPr>
        <p:txBody>
          <a:bodyPr rtlCol="0" anchor="ctr"/>
          <a:lstStyle/>
          <a:p>
            <a:endParaRPr/>
          </a:p>
        </p:txBody>
      </p:sp>
      <p:sp>
        <p:nvSpPr>
          <p:cNvPr id="3" name="Title"/>
          <p:cNvSpPr txBox="1"/>
          <p:nvPr/>
        </p:nvSpPr>
        <p:spPr>
          <a:xfrm>
            <a:off x="548640" y="411480"/>
            <a:ext cx="11094720" cy="640080"/>
          </a:xfrm>
          <a:prstGeom prst="rect">
            <a:avLst/>
          </a:prstGeom>
          <a:noFill/>
        </p:spPr>
        <p:txBody>
          <a:bodyPr wrap="square" lIns="0" tIns="0" rIns="0" bIns="0" anchor="t">
            <a:spAutoFit/>
          </a:bodyPr>
          <a:lstStyle/>
          <a:p>
            <a:pPr algn="l">
              <a:lnSpc>
                <a:spcPct val="115000"/>
              </a:lnSpc>
            </a:pPr>
            <a:r>
              <a:rPr sz="2600" b="1">
                <a:solidFill>
                  <a:srgbClr val="FFFFFF"/>
                </a:solidFill>
                <a:latin typeface="Calibri"/>
              </a:rPr>
              <a:t>DEVOPS &amp; CI/CD PIPELINE — AS-BUILT</a:t>
            </a:r>
          </a:p>
        </p:txBody>
      </p:sp>
      <p:sp>
        <p:nvSpPr>
          <p:cNvPr id="4" name="AccentBar"/>
          <p:cNvSpPr/>
          <p:nvPr/>
        </p:nvSpPr>
        <p:spPr>
          <a:xfrm>
            <a:off x="548640" y="1097280"/>
            <a:ext cx="502920" cy="38100"/>
          </a:xfrm>
          <a:prstGeom prst="rect">
            <a:avLst/>
          </a:prstGeom>
          <a:solidFill>
            <a:srgbClr val="1E88E5"/>
          </a:solidFill>
          <a:ln>
            <a:noFill/>
          </a:ln>
        </p:spPr>
        <p:txBody>
          <a:bodyPr/>
          <a:lstStyle/>
          <a:p>
            <a:endParaRPr/>
          </a:p>
        </p:txBody>
      </p:sp>
      <p:sp>
        <p:nvSpPr>
          <p:cNvPr id="10" name="CICDExplain"/>
          <p:cNvSpPr txBox="1"/>
          <p:nvPr/>
        </p:nvSpPr>
        <p:spPr>
          <a:xfrm>
            <a:off x="548640" y="1250000"/>
            <a:ext cx="4800000" cy="5050000"/>
          </a:xfrm>
          <a:prstGeom prst="rect">
            <a:avLst/>
          </a:prstGeom>
          <a:noFill/>
        </p:spPr>
        <p:txBody>
          <a:bodyPr wrap="square" lIns="91440" tIns="45720" rIns="91440" bIns="45720">
            <a:spAutoFit/>
          </a:bodyPr>
          <a:lstStyle/>
          <a:p>
            <a:pPr algn="l">
              <a:lnSpc>
                <a:spcPct val="130000"/>
              </a:lnSpc>
            </a:pPr>
            <a:r>
              <a:rPr sz="1200" b="1">
                <a:solidFill>
                  <a:srgbClr val="00BFFF"/>
                </a:solidFill>
                <a:latin typeface="Calibri"/>
              </a:rPr>
              <a:t>Source Control &amp; Engine</a:t>
            </a:r>
          </a:p>
          <a:p>
            <a:pPr algn="l">
              <a:lnSpc>
                <a:spcPct val="130000"/>
              </a:lnSpc>
            </a:pPr>
            <a:r>
              <a:rPr sz="1050" b="0">
                <a:solidFill>
                  <a:srgbClr val="E8ECF4"/>
                </a:solidFill>
                <a:latin typeface="Calibri"/>
              </a:rPr>
              <a:t>• GitHub private repo; main branch triggers GitHub Actions workflows on every push</a:t>
            </a:r>
          </a:p>
          <a:p>
            <a:pPr algn="l">
              <a:lnSpc>
                <a:spcPct val="130000"/>
              </a:lnSpc>
            </a:pPr>
            <a:r>
              <a:rPr sz="1050" b="0">
                <a:solidFill>
                  <a:srgbClr val="E8ECF4"/>
                </a:solidFill>
                <a:latin typeface="Calibri"/>
              </a:rPr>
              <a:t>• OIDC federated credentials to Azure AD App — no static secret stored in GitHub</a:t>
            </a:r>
          </a:p>
          <a:p>
            <a:pPr algn="l">
              <a:lnSpc>
                <a:spcPct val="130000"/>
              </a:lnSpc>
            </a:pPr>
            <a:endParaRPr sz="1050" b="0">
              <a:solidFill>
                <a:srgbClr val="E8ECF4"/>
              </a:solidFill>
              <a:latin typeface="Calibri"/>
            </a:endParaRPr>
          </a:p>
          <a:p>
            <a:pPr algn="l">
              <a:lnSpc>
                <a:spcPct val="130000"/>
              </a:lnSpc>
            </a:pPr>
            <a:r>
              <a:rPr sz="1200" b="1">
                <a:solidFill>
                  <a:srgbClr val="00BFFF"/>
                </a:solidFill>
                <a:latin typeface="Calibri"/>
              </a:rPr>
              <a:t>Backend Pipeline (api.yml)</a:t>
            </a:r>
          </a:p>
          <a:p>
            <a:pPr algn="l">
              <a:lnSpc>
                <a:spcPct val="130000"/>
              </a:lnSpc>
            </a:pPr>
            <a:r>
              <a:rPr sz="1050" b="0">
                <a:solidFill>
                  <a:srgbClr val="E8ECF4"/>
                </a:solidFill>
                <a:latin typeface="Calibri"/>
              </a:rPr>
              <a:t>• dotnet restore, build, test with coverage report; coverage gate &gt;= 80% (NFR05)</a:t>
            </a:r>
          </a:p>
          <a:p>
            <a:pPr algn="l">
              <a:lnSpc>
                <a:spcPct val="130000"/>
              </a:lnSpc>
            </a:pPr>
            <a:r>
              <a:rPr sz="1050" b="0">
                <a:solidFill>
                  <a:srgbClr val="E8ECF4"/>
                </a:solidFill>
                <a:latin typeface="Calibri"/>
              </a:rPr>
              <a:t>• dotnet publish → deploy to App Service staging slot → smoke test /health → slot swap</a:t>
            </a:r>
          </a:p>
          <a:p>
            <a:pPr algn="l">
              <a:lnSpc>
                <a:spcPct val="130000"/>
              </a:lnSpc>
            </a:pPr>
            <a:r>
              <a:rPr sz="1050" b="0">
                <a:solidFill>
                  <a:srgbClr val="E8ECF4"/>
                </a:solidFill>
                <a:latin typeface="Calibri"/>
              </a:rPr>
              <a:t>• Coverage &lt; 80% or /health fail → pipeline blocked, no production deployment</a:t>
            </a:r>
          </a:p>
          <a:p>
            <a:pPr algn="l">
              <a:lnSpc>
                <a:spcPct val="130000"/>
              </a:lnSpc>
            </a:pPr>
            <a:endParaRPr sz="1050" b="0">
              <a:solidFill>
                <a:srgbClr val="E8ECF4"/>
              </a:solidFill>
              <a:latin typeface="Calibri"/>
            </a:endParaRPr>
          </a:p>
          <a:p>
            <a:pPr algn="l">
              <a:lnSpc>
                <a:spcPct val="130000"/>
              </a:lnSpc>
            </a:pPr>
            <a:r>
              <a:rPr sz="1200" b="1">
                <a:solidFill>
                  <a:srgbClr val="00BFFF"/>
                </a:solidFill>
                <a:latin typeface="Calibri"/>
              </a:rPr>
              <a:t>Frontend Pipeline (web.yml)</a:t>
            </a:r>
          </a:p>
          <a:p>
            <a:pPr algn="l">
              <a:lnSpc>
                <a:spcPct val="130000"/>
              </a:lnSpc>
            </a:pPr>
            <a:r>
              <a:rPr sz="1050" b="0">
                <a:solidFill>
                  <a:srgbClr val="E8ECF4"/>
                </a:solidFill>
                <a:latin typeface="Calibri"/>
              </a:rPr>
              <a:t>• npm ci → npm run build (production config) → deploy to Azure Static Web Apps</a:t>
            </a:r>
          </a:p>
          <a:p>
            <a:pPr algn="l">
              <a:lnSpc>
                <a:spcPct val="130000"/>
              </a:lnSpc>
            </a:pPr>
            <a:endParaRPr sz="1050" b="0">
              <a:solidFill>
                <a:srgbClr val="E8ECF4"/>
              </a:solidFill>
              <a:latin typeface="Calibri"/>
            </a:endParaRPr>
          </a:p>
          <a:p>
            <a:pPr algn="l">
              <a:lnSpc>
                <a:spcPct val="130000"/>
              </a:lnSpc>
            </a:pPr>
            <a:r>
              <a:rPr sz="1200" b="1">
                <a:solidFill>
                  <a:srgbClr val="00BFFF"/>
                </a:solidFill>
                <a:latin typeface="Calibri"/>
              </a:rPr>
              <a:t>Quality Gates &amp; Security</a:t>
            </a:r>
          </a:p>
          <a:p>
            <a:pPr algn="l">
              <a:lnSpc>
                <a:spcPct val="130000"/>
              </a:lnSpc>
            </a:pPr>
            <a:r>
              <a:rPr sz="1050" b="0">
                <a:solidFill>
                  <a:srgbClr val="E8ECF4"/>
                </a:solidFill>
                <a:latin typeface="Calibri"/>
              </a:rPr>
              <a:t>• Coverage threshold &gt;= 80%; Dependabot (NuGet + npm) + CodeQL scan on every PR</a:t>
            </a:r>
          </a:p>
          <a:p>
            <a:pPr algn="l">
              <a:lnSpc>
                <a:spcPct val="130000"/>
              </a:lnSpc>
            </a:pPr>
            <a:r>
              <a:rPr sz="1050" b="0">
                <a:solidFill>
                  <a:srgbClr val="E8ECF4"/>
                </a:solidFill>
                <a:latin typeface="Calibri"/>
              </a:rPr>
              <a:t>• Auth via OIDC Workload Identity Federation — no static service-principal secret</a:t>
            </a:r>
          </a:p>
          <a:p>
            <a:pPr algn="l">
              <a:lnSpc>
                <a:spcPct val="130000"/>
              </a:lnSpc>
            </a:pPr>
            <a:endParaRPr sz="1050" b="0">
              <a:solidFill>
                <a:srgbClr val="E8ECF4"/>
              </a:solidFill>
              <a:latin typeface="Calibri"/>
            </a:endParaRPr>
          </a:p>
          <a:p>
            <a:pPr algn="l">
              <a:lnSpc>
                <a:spcPct val="130000"/>
              </a:lnSpc>
            </a:pPr>
            <a:r>
              <a:rPr sz="1200" b="1">
                <a:solidFill>
                  <a:srgbClr val="00BFFF"/>
                </a:solidFill>
                <a:latin typeface="Calibri"/>
              </a:rPr>
              <a:t>Environments</a:t>
            </a:r>
          </a:p>
          <a:p>
            <a:pPr algn="l">
              <a:lnSpc>
                <a:spcPct val="130000"/>
              </a:lnSpc>
            </a:pPr>
            <a:r>
              <a:rPr sz="1050" b="0">
                <a:solidFill>
                  <a:srgbClr val="E8ECF4"/>
                </a:solidFill>
                <a:latin typeface="Calibri"/>
              </a:rPr>
              <a:t>• Dev: Basic B1 + Free SWA + Basic SQL   UAT: S1 + Standard SWA + S2 SQL</a:t>
            </a:r>
          </a:p>
          <a:p>
            <a:pPr algn="l">
              <a:lnSpc>
                <a:spcPct val="130000"/>
              </a:lnSpc>
            </a:pPr>
            <a:r>
              <a:rPr sz="1050" b="0">
                <a:solidFill>
                  <a:srgbClr val="E8ECF4"/>
                </a:solidFill>
                <a:latin typeface="Calibri"/>
              </a:rPr>
              <a:t>• Prod: P1v3 x2 + staging slot + Std SWA + GP_Gen5_2 ZR + KV + App Insights</a:t>
            </a:r>
          </a:p>
        </p:txBody>
      </p:sp>
      <p:pic>
        <p:nvPicPr>
          <p:cNvPr id="20" name="CICDDiagram"/>
          <p:cNvPicPr>
            <a:picLocks noChangeAspect="1"/>
          </p:cNvPicPr>
          <p:nvPr/>
        </p:nvPicPr>
        <p:blipFill>
          <a:blip r:embed="rId2"/>
          <a:stretch>
            <a:fillRect/>
          </a:stretch>
        </p:blipFill>
        <p:spPr>
          <a:xfrm>
            <a:off x="5600000" y="1150000"/>
            <a:ext cx="6350000" cy="55000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90" name="SlideNum"/>
          <p:cNvSpPr txBox="1"/>
          <p:nvPr/>
        </p:nvSpPr>
        <p:spPr>
          <a:xfrm>
            <a:off x="457200" y="6492240"/>
            <a:ext cx="548640" cy="228600"/>
          </a:xfrm>
          <a:prstGeom prst="rect">
            <a:avLst/>
          </a:prstGeom>
          <a:noFill/>
        </p:spPr>
        <p:txBody>
          <a:bodyPr wrap="square" lIns="0" tIns="0" rIns="0" bIns="0" anchor="t">
            <a:spAutoFit/>
          </a:bodyPr>
          <a:lstStyle/>
          <a:p>
            <a:r>
              <a:rPr sz="1000" b="0">
                <a:solidFill>
                  <a:srgbClr val="B8C6E3"/>
                </a:solidFill>
                <a:latin typeface="Calibri"/>
              </a:rPr>
              <a:t>21</a:t>
            </a:r>
          </a:p>
        </p:txBody>
      </p:sp>
      <p:sp>
        <p:nvSpPr>
          <p:cNvPr id="91" name="Copyright"/>
          <p:cNvSpPr txBox="1"/>
          <p:nvPr/>
        </p:nvSpPr>
        <p:spPr>
          <a:xfrm>
            <a:off x="1005840" y="6492240"/>
            <a:ext cx="7315200" cy="228600"/>
          </a:xfrm>
          <a:prstGeom prst="rect">
            <a:avLst/>
          </a:prstGeom>
          <a:noFill/>
        </p:spPr>
        <p:txBody>
          <a:bodyPr wrap="square" lIns="0" tIns="0" rIns="0" bIns="0" anchor="t">
            <a:spAutoFit/>
          </a:bodyPr>
          <a:lstStyle/>
          <a:p>
            <a:r>
              <a:rPr sz="900" b="0">
                <a:solidFill>
                  <a:srgbClr val="B8C6E3"/>
                </a:solidFill>
                <a:latin typeface="Calibri"/>
              </a:rPr>
              <a:t>© 2026 Cognizant | Confidential &amp; Proprietary</a:t>
            </a:r>
          </a:p>
        </p:txBody>
      </p:sp>
    </p:spTree>
  </p:cSld>
  <p:clrMapOvr>
    <a:masterClrMapping/>
  </p:clrMapOvr>
  <p:transition spd="slow">
    <p:cove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Rect"/>
          <p:cNvSpPr/>
          <p:nvPr/>
        </p:nvSpPr>
        <p:spPr>
          <a:xfrm>
            <a:off x="0" y="0"/>
            <a:ext cx="12192000" cy="6858000"/>
          </a:xfrm>
          <a:prstGeom prst="rect">
            <a:avLst/>
          </a:prstGeom>
          <a:solidFill>
            <a:srgbClr val="02082E"/>
          </a:solidFill>
          <a:ln>
            <a:noFill/>
          </a:ln>
        </p:spPr>
        <p:txBody>
          <a:bodyPr rtlCol="0" anchor="ctr"/>
          <a:lstStyle/>
          <a:p>
            <a:endParaRPr/>
          </a:p>
        </p:txBody>
      </p:sp>
      <p:sp>
        <p:nvSpPr>
          <p:cNvPr id="3" name="Title"/>
          <p:cNvSpPr txBox="1"/>
          <p:nvPr/>
        </p:nvSpPr>
        <p:spPr>
          <a:xfrm>
            <a:off x="548640" y="411480"/>
            <a:ext cx="11094720" cy="640080"/>
          </a:xfrm>
          <a:prstGeom prst="rect">
            <a:avLst/>
          </a:prstGeom>
          <a:noFill/>
        </p:spPr>
        <p:txBody>
          <a:bodyPr wrap="square" lIns="0" tIns="0" rIns="0" bIns="0" anchor="t">
            <a:spAutoFit/>
          </a:bodyPr>
          <a:lstStyle/>
          <a:p>
            <a:pPr algn="l">
              <a:lnSpc>
                <a:spcPct val="115000"/>
              </a:lnSpc>
            </a:pPr>
            <a:r>
              <a:rPr sz="2600" b="1">
                <a:solidFill>
                  <a:srgbClr val="FFFFFF"/>
                </a:solidFill>
                <a:latin typeface="Calibri"/>
              </a:rPr>
              <a:t>PERFORMANCE &amp; SCALABILITY — AS-BUILT</a:t>
            </a:r>
          </a:p>
        </p:txBody>
      </p:sp>
      <p:sp>
        <p:nvSpPr>
          <p:cNvPr id="4" name="AccentBar"/>
          <p:cNvSpPr/>
          <p:nvPr/>
        </p:nvSpPr>
        <p:spPr>
          <a:xfrm>
            <a:off x="548640" y="1097280"/>
            <a:ext cx="502920" cy="38100"/>
          </a:xfrm>
          <a:prstGeom prst="rect">
            <a:avLst/>
          </a:prstGeom>
          <a:solidFill>
            <a:srgbClr val="1E88E5"/>
          </a:solidFill>
          <a:ln>
            <a:noFill/>
          </a:ln>
        </p:spPr>
        <p:txBody>
          <a:bodyPr/>
          <a:lstStyle/>
          <a:p>
            <a:endParaRPr/>
          </a:p>
        </p:txBody>
      </p:sp>
      <p:sp>
        <p:nvSpPr>
          <p:cNvPr id="10" name="PerfExplain"/>
          <p:cNvSpPr txBox="1"/>
          <p:nvPr/>
        </p:nvSpPr>
        <p:spPr>
          <a:xfrm>
            <a:off x="548640" y="1250000"/>
            <a:ext cx="4800000" cy="4950000"/>
          </a:xfrm>
          <a:prstGeom prst="rect">
            <a:avLst/>
          </a:prstGeom>
          <a:noFill/>
        </p:spPr>
        <p:txBody>
          <a:bodyPr wrap="square" lIns="91440" tIns="45720" rIns="91440" bIns="45720">
            <a:spAutoFit/>
          </a:bodyPr>
          <a:lstStyle/>
          <a:p>
            <a:pPr algn="l">
              <a:lnSpc>
                <a:spcPct val="130000"/>
              </a:lnSpc>
            </a:pPr>
            <a:r>
              <a:rPr sz="1200" b="1">
                <a:solidFill>
                  <a:srgbClr val="00BFFF"/>
                </a:solidFill>
                <a:latin typeface="Calibri"/>
              </a:rPr>
              <a:t>High Availability Architecture</a:t>
            </a:r>
          </a:p>
          <a:p>
            <a:pPr algn="l">
              <a:lnSpc>
                <a:spcPct val="130000"/>
              </a:lnSpc>
            </a:pPr>
            <a:r>
              <a:rPr sz="1050" b="0">
                <a:solidFill>
                  <a:srgbClr val="E8ECF4"/>
                </a:solidFill>
                <a:latin typeface="Calibri"/>
              </a:rPr>
              <a:t>• API tier on Azure App Service Plan (P1v3); 2-10 instances with built-in load balancing</a:t>
            </a:r>
          </a:p>
          <a:p>
            <a:pPr algn="l">
              <a:lnSpc>
                <a:spcPct val="130000"/>
              </a:lnSpc>
            </a:pPr>
            <a:r>
              <a:rPr sz="1050" b="0">
                <a:solidFill>
                  <a:srgbClr val="E8ECF4"/>
                </a:solidFill>
                <a:latin typeface="Calibri"/>
              </a:rPr>
              <a:t>• Deployment slots enable zero-downtime swap; Always-On keeps instances warm</a:t>
            </a:r>
          </a:p>
          <a:p>
            <a:pPr algn="l">
              <a:lnSpc>
                <a:spcPct val="130000"/>
              </a:lnSpc>
            </a:pPr>
            <a:r>
              <a:rPr sz="1050" b="0">
                <a:solidFill>
                  <a:srgbClr val="E8ECF4"/>
                </a:solidFill>
                <a:latin typeface="Calibri"/>
              </a:rPr>
              <a:t>• Azure SQL Database (General Purpose, Zone-Redundant) — synchronous replicas across 3 availability zones</a:t>
            </a:r>
          </a:p>
          <a:p>
            <a:pPr algn="l">
              <a:lnSpc>
                <a:spcPct val="130000"/>
              </a:lnSpc>
            </a:pPr>
            <a:endParaRPr sz="1050" b="0">
              <a:solidFill>
                <a:srgbClr val="E8ECF4"/>
              </a:solidFill>
              <a:latin typeface="Calibri"/>
            </a:endParaRPr>
          </a:p>
          <a:p>
            <a:pPr algn="l">
              <a:lnSpc>
                <a:spcPct val="130000"/>
              </a:lnSpc>
            </a:pPr>
            <a:r>
              <a:rPr sz="1200" b="1">
                <a:solidFill>
                  <a:srgbClr val="00BFFF"/>
                </a:solidFill>
                <a:latin typeface="Calibri"/>
              </a:rPr>
              <a:t>Scalability</a:t>
            </a:r>
          </a:p>
          <a:p>
            <a:pPr algn="l">
              <a:lnSpc>
                <a:spcPct val="130000"/>
              </a:lnSpc>
            </a:pPr>
            <a:r>
              <a:rPr sz="1050" b="0">
                <a:solidFill>
                  <a:srgbClr val="E8ECF4"/>
                </a:solidFill>
                <a:latin typeface="Calibri"/>
              </a:rPr>
              <a:t>• App Service auto-scales out on CPU &gt; 70%; vertical scaling to Gen5_8 SQL without downtime</a:t>
            </a:r>
          </a:p>
          <a:p>
            <a:pPr algn="l">
              <a:lnSpc>
                <a:spcPct val="130000"/>
              </a:lnSpc>
            </a:pPr>
            <a:r>
              <a:rPr sz="1050" b="0">
                <a:solidFill>
                  <a:srgbClr val="E8ECF4"/>
                </a:solidFill>
                <a:latin typeface="Calibri"/>
              </a:rPr>
              <a:t>• Azure Static Web Apps (Standard) on globally replicated CDN edge — reduces API backend load</a:t>
            </a:r>
          </a:p>
          <a:p>
            <a:pPr algn="l">
              <a:lnSpc>
                <a:spcPct val="130000"/>
              </a:lnSpc>
            </a:pPr>
            <a:r>
              <a:rPr sz="1050" b="0">
                <a:solidFill>
                  <a:srgbClr val="E8ECF4"/>
                </a:solidFill>
                <a:latin typeface="Calibri"/>
              </a:rPr>
              <a:t>• All reads use AsNoTracking(); paged endpoints (max 100/page); streaming CSV export</a:t>
            </a:r>
          </a:p>
          <a:p>
            <a:pPr algn="l">
              <a:lnSpc>
                <a:spcPct val="130000"/>
              </a:lnSpc>
            </a:pPr>
            <a:endParaRPr sz="1050" b="0">
              <a:solidFill>
                <a:srgbClr val="E8ECF4"/>
              </a:solidFill>
              <a:latin typeface="Calibri"/>
            </a:endParaRPr>
          </a:p>
          <a:p>
            <a:pPr algn="l">
              <a:lnSpc>
                <a:spcPct val="130000"/>
              </a:lnSpc>
            </a:pPr>
            <a:r>
              <a:rPr sz="1200" b="1">
                <a:solidFill>
                  <a:srgbClr val="00BFFF"/>
                </a:solidFill>
                <a:latin typeface="Calibri"/>
              </a:rPr>
              <a:t>Health &amp; Monitoring</a:t>
            </a:r>
          </a:p>
          <a:p>
            <a:pPr algn="l">
              <a:lnSpc>
                <a:spcPct val="130000"/>
              </a:lnSpc>
            </a:pPr>
            <a:r>
              <a:rPr sz="1050" b="0">
                <a:solidFill>
                  <a:srgbClr val="E8ECF4"/>
                </a:solidFill>
                <a:latin typeface="Calibri"/>
              </a:rPr>
              <a:t>• Application Insights availability tests probe /health every 5 min from 5 Azure regions</a:t>
            </a:r>
          </a:p>
          <a:p>
            <a:pPr algn="l">
              <a:lnSpc>
                <a:spcPct val="130000"/>
              </a:lnSpc>
            </a:pPr>
            <a:r>
              <a:rPr sz="1050" b="0">
                <a:solidFill>
                  <a:srgbClr val="E8ECF4"/>
                </a:solidFill>
                <a:latin typeface="Calibri"/>
              </a:rPr>
              <a:t>• App Service warm-up probe on /health ensures instances are ready before receiving traffic</a:t>
            </a:r>
          </a:p>
          <a:p>
            <a:pPr algn="l">
              <a:lnSpc>
                <a:spcPct val="130000"/>
              </a:lnSpc>
            </a:pPr>
            <a:r>
              <a:rPr sz="1050" b="0">
                <a:solidFill>
                  <a:srgbClr val="E8ECF4"/>
                </a:solidFill>
                <a:latin typeface="Calibri"/>
              </a:rPr>
              <a:t>• Metric alerts on failed-request rate, p95 latency, DTU and CPU via Azure Monitor</a:t>
            </a:r>
          </a:p>
          <a:p>
            <a:pPr algn="l">
              <a:lnSpc>
                <a:spcPct val="130000"/>
              </a:lnSpc>
            </a:pPr>
            <a:endParaRPr sz="1050" b="0">
              <a:solidFill>
                <a:srgbClr val="E8ECF4"/>
              </a:solidFill>
              <a:latin typeface="Calibri"/>
            </a:endParaRPr>
          </a:p>
          <a:p>
            <a:pPr algn="l">
              <a:lnSpc>
                <a:spcPct val="130000"/>
              </a:lnSpc>
            </a:pPr>
            <a:r>
              <a:rPr sz="1200" b="1">
                <a:solidFill>
                  <a:srgbClr val="00BFFF"/>
                </a:solidFill>
                <a:latin typeface="Calibri"/>
              </a:rPr>
              <a:t>NFR Targets</a:t>
            </a:r>
          </a:p>
          <a:p>
            <a:pPr algn="l">
              <a:lnSpc>
                <a:spcPct val="130000"/>
              </a:lnSpc>
            </a:pPr>
            <a:r>
              <a:rPr sz="1050" b="0">
                <a:solidFill>
                  <a:srgbClr val="E8ECF4"/>
                </a:solidFill>
                <a:latin typeface="Calibri"/>
              </a:rPr>
              <a:t>• Response &lt;= 30 s end-to-end (case-study)   p95 &lt;= 500 ms on GET endpoints under load</a:t>
            </a:r>
          </a:p>
          <a:p>
            <a:pPr algn="l">
              <a:lnSpc>
                <a:spcPct val="130000"/>
              </a:lnSpc>
            </a:pPr>
            <a:r>
              <a:rPr sz="1050" b="0">
                <a:solidFill>
                  <a:srgbClr val="E8ECF4"/>
                </a:solidFill>
                <a:latin typeface="Calibri"/>
              </a:rPr>
              <a:t>• 99.9% API availability + 99.99% Azure SQL Zone-Redundant availability SLA</a:t>
            </a:r>
          </a:p>
          <a:p>
            <a:pPr algn="l">
              <a:lnSpc>
                <a:spcPct val="130000"/>
              </a:lnSpc>
            </a:pPr>
            <a:r>
              <a:rPr sz="950" b="0">
                <a:solidFill>
                  <a:srgbClr val="B0BEC5"/>
                </a:solidFill>
                <a:latin typeface="Calibri"/>
              </a:rPr>
              <a:t>Future: Redis read-cache, HPA on AKS, geo-routing via Front Door — see slide 24</a:t>
            </a:r>
          </a:p>
        </p:txBody>
      </p:sp>
      <p:pic>
        <p:nvPicPr>
          <p:cNvPr id="20" name="HADiagram"/>
          <p:cNvPicPr>
            <a:picLocks noChangeAspect="1"/>
          </p:cNvPicPr>
          <p:nvPr/>
        </p:nvPicPr>
        <p:blipFill>
          <a:blip r:embed="rId2"/>
          <a:stretch>
            <a:fillRect/>
          </a:stretch>
        </p:blipFill>
        <p:spPr>
          <a:xfrm>
            <a:off x="5600000" y="1150000"/>
            <a:ext cx="6350000" cy="55000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90" name="SlideNum"/>
          <p:cNvSpPr txBox="1"/>
          <p:nvPr/>
        </p:nvSpPr>
        <p:spPr>
          <a:xfrm>
            <a:off x="457200" y="6492240"/>
            <a:ext cx="548640" cy="228600"/>
          </a:xfrm>
          <a:prstGeom prst="rect">
            <a:avLst/>
          </a:prstGeom>
          <a:noFill/>
        </p:spPr>
        <p:txBody>
          <a:bodyPr wrap="square" lIns="0" tIns="0" rIns="0" bIns="0" anchor="t">
            <a:spAutoFit/>
          </a:bodyPr>
          <a:lstStyle/>
          <a:p>
            <a:r>
              <a:rPr sz="1000" b="0">
                <a:solidFill>
                  <a:srgbClr val="B8C6E3"/>
                </a:solidFill>
                <a:latin typeface="Calibri"/>
              </a:rPr>
              <a:t>22</a:t>
            </a:r>
          </a:p>
        </p:txBody>
      </p:sp>
      <p:sp>
        <p:nvSpPr>
          <p:cNvPr id="91" name="Copyright"/>
          <p:cNvSpPr txBox="1"/>
          <p:nvPr/>
        </p:nvSpPr>
        <p:spPr>
          <a:xfrm>
            <a:off x="1005840" y="6492240"/>
            <a:ext cx="7315200" cy="228600"/>
          </a:xfrm>
          <a:prstGeom prst="rect">
            <a:avLst/>
          </a:prstGeom>
          <a:noFill/>
        </p:spPr>
        <p:txBody>
          <a:bodyPr wrap="square" lIns="0" tIns="0" rIns="0" bIns="0" anchor="t">
            <a:spAutoFit/>
          </a:bodyPr>
          <a:lstStyle/>
          <a:p>
            <a:r>
              <a:rPr sz="900" b="0">
                <a:solidFill>
                  <a:srgbClr val="B8C6E3"/>
                </a:solidFill>
                <a:latin typeface="Calibri"/>
              </a:rPr>
              <a:t>© 2026 Cognizant | Confidential &amp; Proprietary</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20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0058400" cy="640080"/>
          </a:xfrm>
          <a:prstGeom prst="rect">
            <a:avLst/>
          </a:prstGeom>
          <a:noFill/>
        </p:spPr>
        <p:txBody>
          <a:bodyPr wrap="square" lIns="0" tIns="0" rIns="0" bIns="0" anchor="t">
            <a:spAutoFit/>
          </a:bodyPr>
          <a:lstStyle/>
          <a:p>
            <a:pPr algn="l">
              <a:lnSpc>
                <a:spcPct val="115000"/>
              </a:lnSpc>
            </a:pPr>
            <a:r>
              <a:rPr sz="2600" b="1">
                <a:solidFill>
                  <a:srgbClr val="FFFFFF"/>
                </a:solidFill>
                <a:latin typeface="Calibri"/>
              </a:rPr>
              <a:t>FUTURE-STATE ROADMAP — PHASED MIGRATION</a:t>
            </a:r>
          </a:p>
        </p:txBody>
      </p:sp>
      <p:sp>
        <p:nvSpPr>
          <p:cNvPr id="4" name="Rectangle 3"/>
          <p:cNvSpPr/>
          <p:nvPr/>
        </p:nvSpPr>
        <p:spPr>
          <a:xfrm>
            <a:off x="548640" y="1097280"/>
            <a:ext cx="502920" cy="381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48640" y="1463040"/>
            <a:ext cx="11064240" cy="502920"/>
          </a:xfrm>
          <a:prstGeom prst="roundRect">
            <a:avLst>
              <a:gd name="adj" fmla="val 10000"/>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581912"/>
            <a:ext cx="1097280" cy="365760"/>
          </a:xfrm>
          <a:prstGeom prst="rect">
            <a:avLst/>
          </a:prstGeom>
          <a:noFill/>
        </p:spPr>
        <p:txBody>
          <a:bodyPr wrap="square" lIns="0" tIns="0" rIns="0" bIns="0" anchor="t">
            <a:spAutoFit/>
          </a:bodyPr>
          <a:lstStyle/>
          <a:p>
            <a:pPr algn="l">
              <a:lnSpc>
                <a:spcPct val="115000"/>
              </a:lnSpc>
            </a:pPr>
            <a:r>
              <a:rPr sz="1200" b="1">
                <a:solidFill>
                  <a:srgbClr val="FFFFFF"/>
                </a:solidFill>
                <a:latin typeface="Calibri"/>
              </a:rPr>
              <a:t>Phase</a:t>
            </a:r>
          </a:p>
        </p:txBody>
      </p:sp>
      <p:sp>
        <p:nvSpPr>
          <p:cNvPr id="7" name="TextBox 6"/>
          <p:cNvSpPr txBox="1"/>
          <p:nvPr/>
        </p:nvSpPr>
        <p:spPr>
          <a:xfrm>
            <a:off x="1920240" y="1581912"/>
            <a:ext cx="2286000" cy="365760"/>
          </a:xfrm>
          <a:prstGeom prst="rect">
            <a:avLst/>
          </a:prstGeom>
          <a:noFill/>
        </p:spPr>
        <p:txBody>
          <a:bodyPr wrap="square" lIns="0" tIns="0" rIns="0" bIns="0" anchor="t">
            <a:spAutoFit/>
          </a:bodyPr>
          <a:lstStyle/>
          <a:p>
            <a:pPr algn="l">
              <a:lnSpc>
                <a:spcPct val="115000"/>
              </a:lnSpc>
            </a:pPr>
            <a:r>
              <a:rPr sz="1200" b="1">
                <a:solidFill>
                  <a:srgbClr val="FFFFFF"/>
                </a:solidFill>
                <a:latin typeface="Calibri"/>
              </a:rPr>
              <a:t>Move</a:t>
            </a:r>
          </a:p>
        </p:txBody>
      </p:sp>
      <p:sp>
        <p:nvSpPr>
          <p:cNvPr id="8" name="TextBox 7"/>
          <p:cNvSpPr txBox="1"/>
          <p:nvPr/>
        </p:nvSpPr>
        <p:spPr>
          <a:xfrm>
            <a:off x="4663440" y="1581912"/>
            <a:ext cx="7315200" cy="365760"/>
          </a:xfrm>
          <a:prstGeom prst="rect">
            <a:avLst/>
          </a:prstGeom>
          <a:noFill/>
        </p:spPr>
        <p:txBody>
          <a:bodyPr wrap="square" lIns="0" tIns="0" rIns="0" bIns="0" anchor="t">
            <a:spAutoFit/>
          </a:bodyPr>
          <a:lstStyle/>
          <a:p>
            <a:pPr algn="l">
              <a:lnSpc>
                <a:spcPct val="115000"/>
              </a:lnSpc>
            </a:pPr>
            <a:r>
              <a:rPr sz="1200" b="1">
                <a:solidFill>
                  <a:srgbClr val="FFFFFF"/>
                </a:solidFill>
                <a:latin typeface="Calibri"/>
              </a:rPr>
              <a:t>Description</a:t>
            </a:r>
          </a:p>
        </p:txBody>
      </p:sp>
      <p:sp>
        <p:nvSpPr>
          <p:cNvPr id="9" name="Rectangle 8"/>
          <p:cNvSpPr/>
          <p:nvPr/>
        </p:nvSpPr>
        <p:spPr>
          <a:xfrm>
            <a:off x="548640" y="1965960"/>
            <a:ext cx="11064240" cy="502920"/>
          </a:xfrm>
          <a:prstGeom prst="rect">
            <a:avLst/>
          </a:prstGeom>
          <a:solidFill>
            <a:srgbClr val="294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084832"/>
            <a:ext cx="1097280" cy="365760"/>
          </a:xfrm>
          <a:prstGeom prst="rect">
            <a:avLst/>
          </a:prstGeom>
          <a:noFill/>
        </p:spPr>
        <p:txBody>
          <a:bodyPr wrap="square" lIns="0" tIns="0" rIns="0" bIns="0" anchor="t">
            <a:spAutoFit/>
          </a:bodyPr>
          <a:lstStyle/>
          <a:p>
            <a:pPr algn="l">
              <a:lnSpc>
                <a:spcPct val="115000"/>
              </a:lnSpc>
            </a:pPr>
            <a:r>
              <a:rPr sz="1200" b="1">
                <a:solidFill>
                  <a:srgbClr val="1E88E5"/>
                </a:solidFill>
                <a:latin typeface="Calibri"/>
              </a:rPr>
              <a:t>0</a:t>
            </a:r>
          </a:p>
        </p:txBody>
      </p:sp>
      <p:sp>
        <p:nvSpPr>
          <p:cNvPr id="11" name="TextBox 10"/>
          <p:cNvSpPr txBox="1"/>
          <p:nvPr/>
        </p:nvSpPr>
        <p:spPr>
          <a:xfrm>
            <a:off x="1920240" y="2084832"/>
            <a:ext cx="2651760" cy="365760"/>
          </a:xfrm>
          <a:prstGeom prst="rect">
            <a:avLst/>
          </a:prstGeom>
          <a:noFill/>
        </p:spPr>
        <p:txBody>
          <a:bodyPr wrap="square" lIns="0" tIns="0" rIns="0" bIns="0" anchor="t">
            <a:spAutoFit/>
          </a:bodyPr>
          <a:lstStyle/>
          <a:p>
            <a:pPr algn="l">
              <a:lnSpc>
                <a:spcPct val="115000"/>
              </a:lnSpc>
            </a:pPr>
            <a:r>
              <a:rPr sz="1200" b="1">
                <a:solidFill>
                  <a:srgbClr val="FFFFFF"/>
                </a:solidFill>
                <a:latin typeface="Calibri"/>
              </a:rPr>
              <a:t>Today</a:t>
            </a:r>
          </a:p>
        </p:txBody>
      </p:sp>
      <p:sp>
        <p:nvSpPr>
          <p:cNvPr id="12" name="TextBox 11"/>
          <p:cNvSpPr txBox="1"/>
          <p:nvPr/>
        </p:nvSpPr>
        <p:spPr>
          <a:xfrm>
            <a:off x="4663440" y="2084832"/>
            <a:ext cx="6766560" cy="365760"/>
          </a:xfrm>
          <a:prstGeom prst="rect">
            <a:avLst/>
          </a:prstGeom>
          <a:noFill/>
        </p:spPr>
        <p:txBody>
          <a:bodyPr wrap="square" lIns="0" tIns="0" rIns="0" bIns="0" anchor="t">
            <a:spAutoFit/>
          </a:bodyPr>
          <a:lstStyle/>
          <a:p>
            <a:pPr algn="l">
              <a:lnSpc>
                <a:spcPct val="115000"/>
              </a:lnSpc>
            </a:pPr>
            <a:r>
              <a:rPr sz="1100" b="0">
                <a:solidFill>
                  <a:srgbClr val="E8ECF4"/>
                </a:solidFill>
                <a:latin typeface="Calibri"/>
              </a:rPr>
              <a:t>Monolithic Clean Architecture · App Service · Azure SQL</a:t>
            </a:r>
          </a:p>
        </p:txBody>
      </p:sp>
      <p:sp>
        <p:nvSpPr>
          <p:cNvPr id="13" name="Rectangle 12"/>
          <p:cNvSpPr/>
          <p:nvPr/>
        </p:nvSpPr>
        <p:spPr>
          <a:xfrm>
            <a:off x="548640" y="2468880"/>
            <a:ext cx="11064240" cy="502920"/>
          </a:xfrm>
          <a:prstGeom prst="rect">
            <a:avLst/>
          </a:prstGeom>
          <a:solidFill>
            <a:srgbClr val="145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2587752"/>
            <a:ext cx="1097280" cy="365760"/>
          </a:xfrm>
          <a:prstGeom prst="rect">
            <a:avLst/>
          </a:prstGeom>
          <a:noFill/>
        </p:spPr>
        <p:txBody>
          <a:bodyPr wrap="square" lIns="0" tIns="0" rIns="0" bIns="0" anchor="t">
            <a:spAutoFit/>
          </a:bodyPr>
          <a:lstStyle/>
          <a:p>
            <a:pPr algn="l">
              <a:lnSpc>
                <a:spcPct val="115000"/>
              </a:lnSpc>
            </a:pPr>
            <a:r>
              <a:rPr sz="1200" b="1">
                <a:solidFill>
                  <a:srgbClr val="1E88E5"/>
                </a:solidFill>
                <a:latin typeface="Calibri"/>
              </a:rPr>
              <a:t>1</a:t>
            </a:r>
          </a:p>
        </p:txBody>
      </p:sp>
      <p:sp>
        <p:nvSpPr>
          <p:cNvPr id="15" name="TextBox 14"/>
          <p:cNvSpPr txBox="1"/>
          <p:nvPr/>
        </p:nvSpPr>
        <p:spPr>
          <a:xfrm>
            <a:off x="1920240" y="2587752"/>
            <a:ext cx="2651760" cy="365760"/>
          </a:xfrm>
          <a:prstGeom prst="rect">
            <a:avLst/>
          </a:prstGeom>
          <a:noFill/>
        </p:spPr>
        <p:txBody>
          <a:bodyPr wrap="square" lIns="0" tIns="0" rIns="0" bIns="0" anchor="t">
            <a:spAutoFit/>
          </a:bodyPr>
          <a:lstStyle/>
          <a:p>
            <a:pPr algn="l">
              <a:lnSpc>
                <a:spcPct val="115000"/>
              </a:lnSpc>
            </a:pPr>
            <a:r>
              <a:rPr sz="1200" b="1">
                <a:solidFill>
                  <a:srgbClr val="FFFFFF"/>
                </a:solidFill>
                <a:latin typeface="Calibri"/>
              </a:rPr>
              <a:t>Containerize</a:t>
            </a:r>
          </a:p>
        </p:txBody>
      </p:sp>
      <p:sp>
        <p:nvSpPr>
          <p:cNvPr id="16" name="TextBox 15"/>
          <p:cNvSpPr txBox="1"/>
          <p:nvPr/>
        </p:nvSpPr>
        <p:spPr>
          <a:xfrm>
            <a:off x="4663440" y="2587752"/>
            <a:ext cx="6766560" cy="365760"/>
          </a:xfrm>
          <a:prstGeom prst="rect">
            <a:avLst/>
          </a:prstGeom>
          <a:noFill/>
        </p:spPr>
        <p:txBody>
          <a:bodyPr wrap="square" lIns="0" tIns="0" rIns="0" bIns="0" anchor="t">
            <a:spAutoFit/>
          </a:bodyPr>
          <a:lstStyle/>
          <a:p>
            <a:pPr algn="l">
              <a:lnSpc>
                <a:spcPct val="115000"/>
              </a:lnSpc>
            </a:pPr>
            <a:r>
              <a:rPr sz="1100" b="0">
                <a:solidFill>
                  <a:srgbClr val="E8ECF4"/>
                </a:solidFill>
                <a:latin typeface="Calibri"/>
              </a:rPr>
              <a:t>Dockerfile · App Service for Containers (same image)</a:t>
            </a:r>
          </a:p>
        </p:txBody>
      </p:sp>
      <p:sp>
        <p:nvSpPr>
          <p:cNvPr id="17" name="Rectangle 16"/>
          <p:cNvSpPr/>
          <p:nvPr/>
        </p:nvSpPr>
        <p:spPr>
          <a:xfrm>
            <a:off x="548640" y="2971800"/>
            <a:ext cx="11064240" cy="502920"/>
          </a:xfrm>
          <a:prstGeom prst="rect">
            <a:avLst/>
          </a:prstGeom>
          <a:solidFill>
            <a:srgbClr val="294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3090672"/>
            <a:ext cx="1097280" cy="365760"/>
          </a:xfrm>
          <a:prstGeom prst="rect">
            <a:avLst/>
          </a:prstGeom>
          <a:noFill/>
        </p:spPr>
        <p:txBody>
          <a:bodyPr wrap="square" lIns="0" tIns="0" rIns="0" bIns="0" anchor="t">
            <a:spAutoFit/>
          </a:bodyPr>
          <a:lstStyle/>
          <a:p>
            <a:pPr algn="l">
              <a:lnSpc>
                <a:spcPct val="115000"/>
              </a:lnSpc>
            </a:pPr>
            <a:r>
              <a:rPr sz="1200" b="1">
                <a:solidFill>
                  <a:srgbClr val="1E88E5"/>
                </a:solidFill>
                <a:latin typeface="Calibri"/>
              </a:rPr>
              <a:t>2</a:t>
            </a:r>
          </a:p>
        </p:txBody>
      </p:sp>
      <p:sp>
        <p:nvSpPr>
          <p:cNvPr id="19" name="TextBox 18"/>
          <p:cNvSpPr txBox="1"/>
          <p:nvPr/>
        </p:nvSpPr>
        <p:spPr>
          <a:xfrm>
            <a:off x="1920240" y="3090672"/>
            <a:ext cx="2651760" cy="365760"/>
          </a:xfrm>
          <a:prstGeom prst="rect">
            <a:avLst/>
          </a:prstGeom>
          <a:noFill/>
        </p:spPr>
        <p:txBody>
          <a:bodyPr wrap="square" lIns="0" tIns="0" rIns="0" bIns="0" anchor="t">
            <a:spAutoFit/>
          </a:bodyPr>
          <a:lstStyle/>
          <a:p>
            <a:pPr algn="l">
              <a:lnSpc>
                <a:spcPct val="115000"/>
              </a:lnSpc>
            </a:pPr>
            <a:r>
              <a:rPr sz="1200" b="1">
                <a:solidFill>
                  <a:srgbClr val="FFFFFF"/>
                </a:solidFill>
                <a:latin typeface="Calibri"/>
              </a:rPr>
              <a:t>Stand up AKS</a:t>
            </a:r>
          </a:p>
        </p:txBody>
      </p:sp>
      <p:sp>
        <p:nvSpPr>
          <p:cNvPr id="20" name="TextBox 19"/>
          <p:cNvSpPr txBox="1"/>
          <p:nvPr/>
        </p:nvSpPr>
        <p:spPr>
          <a:xfrm>
            <a:off x="4663440" y="3090672"/>
            <a:ext cx="6766560" cy="365760"/>
          </a:xfrm>
          <a:prstGeom prst="rect">
            <a:avLst/>
          </a:prstGeom>
          <a:noFill/>
        </p:spPr>
        <p:txBody>
          <a:bodyPr wrap="square" lIns="0" tIns="0" rIns="0" bIns="0" anchor="t">
            <a:spAutoFit/>
          </a:bodyPr>
          <a:lstStyle/>
          <a:p>
            <a:pPr algn="l">
              <a:lnSpc>
                <a:spcPct val="115000"/>
              </a:lnSpc>
            </a:pPr>
            <a:r>
              <a:rPr sz="1100" b="0">
                <a:solidFill>
                  <a:srgbClr val="E8ECF4"/>
                </a:solidFill>
                <a:latin typeface="Calibri"/>
              </a:rPr>
              <a:t>Run container at &lt;10% traffic via Front Door rule</a:t>
            </a:r>
          </a:p>
        </p:txBody>
      </p:sp>
      <p:sp>
        <p:nvSpPr>
          <p:cNvPr id="21" name="Rectangle 20"/>
          <p:cNvSpPr/>
          <p:nvPr/>
        </p:nvSpPr>
        <p:spPr>
          <a:xfrm>
            <a:off x="548640" y="3474720"/>
            <a:ext cx="11064240" cy="502920"/>
          </a:xfrm>
          <a:prstGeom prst="rect">
            <a:avLst/>
          </a:prstGeom>
          <a:solidFill>
            <a:srgbClr val="145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3593592"/>
            <a:ext cx="1097280" cy="365760"/>
          </a:xfrm>
          <a:prstGeom prst="rect">
            <a:avLst/>
          </a:prstGeom>
          <a:noFill/>
        </p:spPr>
        <p:txBody>
          <a:bodyPr wrap="square" lIns="0" tIns="0" rIns="0" bIns="0" anchor="t">
            <a:spAutoFit/>
          </a:bodyPr>
          <a:lstStyle/>
          <a:p>
            <a:pPr algn="l">
              <a:lnSpc>
                <a:spcPct val="115000"/>
              </a:lnSpc>
            </a:pPr>
            <a:r>
              <a:rPr sz="1200" b="1">
                <a:solidFill>
                  <a:srgbClr val="1E88E5"/>
                </a:solidFill>
                <a:latin typeface="Calibri"/>
              </a:rPr>
              <a:t>3</a:t>
            </a:r>
          </a:p>
        </p:txBody>
      </p:sp>
      <p:sp>
        <p:nvSpPr>
          <p:cNvPr id="23" name="TextBox 22"/>
          <p:cNvSpPr txBox="1"/>
          <p:nvPr/>
        </p:nvSpPr>
        <p:spPr>
          <a:xfrm>
            <a:off x="1920240" y="3593592"/>
            <a:ext cx="2651760" cy="365760"/>
          </a:xfrm>
          <a:prstGeom prst="rect">
            <a:avLst/>
          </a:prstGeom>
          <a:noFill/>
        </p:spPr>
        <p:txBody>
          <a:bodyPr wrap="square" lIns="0" tIns="0" rIns="0" bIns="0" anchor="t">
            <a:spAutoFit/>
          </a:bodyPr>
          <a:lstStyle/>
          <a:p>
            <a:pPr algn="l">
              <a:lnSpc>
                <a:spcPct val="115000"/>
              </a:lnSpc>
            </a:pPr>
            <a:r>
              <a:rPr sz="1200" b="1">
                <a:solidFill>
                  <a:srgbClr val="FFFFFF"/>
                </a:solidFill>
                <a:latin typeface="Calibri"/>
              </a:rPr>
              <a:t>Add APIM</a:t>
            </a:r>
          </a:p>
        </p:txBody>
      </p:sp>
      <p:sp>
        <p:nvSpPr>
          <p:cNvPr id="24" name="TextBox 23"/>
          <p:cNvSpPr txBox="1"/>
          <p:nvPr/>
        </p:nvSpPr>
        <p:spPr>
          <a:xfrm>
            <a:off x="4663440" y="3593592"/>
            <a:ext cx="6766560" cy="365760"/>
          </a:xfrm>
          <a:prstGeom prst="rect">
            <a:avLst/>
          </a:prstGeom>
          <a:noFill/>
        </p:spPr>
        <p:txBody>
          <a:bodyPr wrap="square" lIns="0" tIns="0" rIns="0" bIns="0" anchor="t">
            <a:spAutoFit/>
          </a:bodyPr>
          <a:lstStyle/>
          <a:p>
            <a:pPr algn="l">
              <a:lnSpc>
                <a:spcPct val="115000"/>
              </a:lnSpc>
            </a:pPr>
            <a:r>
              <a:rPr sz="1100" b="0">
                <a:solidFill>
                  <a:srgbClr val="E8ECF4"/>
                </a:solidFill>
                <a:latin typeface="Calibri"/>
              </a:rPr>
              <a:t>Move JWT validation + rate limit + caching to APIM</a:t>
            </a:r>
          </a:p>
        </p:txBody>
      </p:sp>
      <p:sp>
        <p:nvSpPr>
          <p:cNvPr id="25" name="Rectangle 24"/>
          <p:cNvSpPr/>
          <p:nvPr/>
        </p:nvSpPr>
        <p:spPr>
          <a:xfrm>
            <a:off x="548640" y="3977640"/>
            <a:ext cx="11064240" cy="502920"/>
          </a:xfrm>
          <a:prstGeom prst="rect">
            <a:avLst/>
          </a:prstGeom>
          <a:solidFill>
            <a:srgbClr val="294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31520" y="4096512"/>
            <a:ext cx="1097280" cy="365760"/>
          </a:xfrm>
          <a:prstGeom prst="rect">
            <a:avLst/>
          </a:prstGeom>
          <a:noFill/>
        </p:spPr>
        <p:txBody>
          <a:bodyPr wrap="square" lIns="0" tIns="0" rIns="0" bIns="0" anchor="t">
            <a:spAutoFit/>
          </a:bodyPr>
          <a:lstStyle/>
          <a:p>
            <a:pPr algn="l">
              <a:lnSpc>
                <a:spcPct val="115000"/>
              </a:lnSpc>
            </a:pPr>
            <a:r>
              <a:rPr sz="1200" b="1">
                <a:solidFill>
                  <a:srgbClr val="1E88E5"/>
                </a:solidFill>
                <a:latin typeface="Calibri"/>
              </a:rPr>
              <a:t>4</a:t>
            </a:r>
          </a:p>
        </p:txBody>
      </p:sp>
      <p:sp>
        <p:nvSpPr>
          <p:cNvPr id="27" name="TextBox 26"/>
          <p:cNvSpPr txBox="1"/>
          <p:nvPr/>
        </p:nvSpPr>
        <p:spPr>
          <a:xfrm>
            <a:off x="1920240" y="4096512"/>
            <a:ext cx="2651760" cy="365760"/>
          </a:xfrm>
          <a:prstGeom prst="rect">
            <a:avLst/>
          </a:prstGeom>
          <a:noFill/>
        </p:spPr>
        <p:txBody>
          <a:bodyPr wrap="square" lIns="0" tIns="0" rIns="0" bIns="0" anchor="t">
            <a:spAutoFit/>
          </a:bodyPr>
          <a:lstStyle/>
          <a:p>
            <a:pPr algn="l">
              <a:lnSpc>
                <a:spcPct val="115000"/>
              </a:lnSpc>
            </a:pPr>
            <a:r>
              <a:rPr sz="1200" b="1">
                <a:solidFill>
                  <a:srgbClr val="FFFFFF"/>
                </a:solidFill>
                <a:latin typeface="Calibri"/>
              </a:rPr>
              <a:t>Notification Service</a:t>
            </a:r>
          </a:p>
        </p:txBody>
      </p:sp>
      <p:sp>
        <p:nvSpPr>
          <p:cNvPr id="28" name="TextBox 27"/>
          <p:cNvSpPr txBox="1"/>
          <p:nvPr/>
        </p:nvSpPr>
        <p:spPr>
          <a:xfrm>
            <a:off x="4663440" y="4096512"/>
            <a:ext cx="6766560" cy="365760"/>
          </a:xfrm>
          <a:prstGeom prst="rect">
            <a:avLst/>
          </a:prstGeom>
          <a:noFill/>
        </p:spPr>
        <p:txBody>
          <a:bodyPr wrap="square" lIns="0" tIns="0" rIns="0" bIns="0" anchor="t">
            <a:spAutoFit/>
          </a:bodyPr>
          <a:lstStyle/>
          <a:p>
            <a:pPr algn="l">
              <a:lnSpc>
                <a:spcPct val="115000"/>
              </a:lnSpc>
            </a:pPr>
            <a:r>
              <a:rPr sz="1100" b="0">
                <a:solidFill>
                  <a:srgbClr val="E8ECF4"/>
                </a:solidFill>
                <a:latin typeface="Calibri"/>
              </a:rPr>
              <a:t>Service Bus topics · async events · email/SMS</a:t>
            </a:r>
          </a:p>
        </p:txBody>
      </p:sp>
      <p:sp>
        <p:nvSpPr>
          <p:cNvPr id="29" name="Rectangle 28"/>
          <p:cNvSpPr/>
          <p:nvPr/>
        </p:nvSpPr>
        <p:spPr>
          <a:xfrm>
            <a:off x="548640" y="4480560"/>
            <a:ext cx="11064240" cy="502920"/>
          </a:xfrm>
          <a:prstGeom prst="rect">
            <a:avLst/>
          </a:prstGeom>
          <a:solidFill>
            <a:srgbClr val="145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31520" y="4599432"/>
            <a:ext cx="1097280" cy="365760"/>
          </a:xfrm>
          <a:prstGeom prst="rect">
            <a:avLst/>
          </a:prstGeom>
          <a:noFill/>
        </p:spPr>
        <p:txBody>
          <a:bodyPr wrap="square" lIns="0" tIns="0" rIns="0" bIns="0" anchor="t">
            <a:spAutoFit/>
          </a:bodyPr>
          <a:lstStyle/>
          <a:p>
            <a:pPr algn="l">
              <a:lnSpc>
                <a:spcPct val="115000"/>
              </a:lnSpc>
            </a:pPr>
            <a:r>
              <a:rPr sz="1200" b="1">
                <a:solidFill>
                  <a:srgbClr val="1E88E5"/>
                </a:solidFill>
                <a:latin typeface="Calibri"/>
              </a:rPr>
              <a:t>5</a:t>
            </a:r>
          </a:p>
        </p:txBody>
      </p:sp>
      <p:sp>
        <p:nvSpPr>
          <p:cNvPr id="31" name="TextBox 30"/>
          <p:cNvSpPr txBox="1"/>
          <p:nvPr/>
        </p:nvSpPr>
        <p:spPr>
          <a:xfrm>
            <a:off x="1920240" y="4599432"/>
            <a:ext cx="2651760" cy="365760"/>
          </a:xfrm>
          <a:prstGeom prst="rect">
            <a:avLst/>
          </a:prstGeom>
          <a:noFill/>
        </p:spPr>
        <p:txBody>
          <a:bodyPr wrap="square" lIns="0" tIns="0" rIns="0" bIns="0" anchor="t">
            <a:spAutoFit/>
          </a:bodyPr>
          <a:lstStyle/>
          <a:p>
            <a:pPr algn="l">
              <a:lnSpc>
                <a:spcPct val="115000"/>
              </a:lnSpc>
            </a:pPr>
            <a:r>
              <a:rPr sz="1200" b="1">
                <a:solidFill>
                  <a:srgbClr val="FFFFFF"/>
                </a:solidFill>
                <a:latin typeface="Calibri"/>
              </a:rPr>
              <a:t>Auth Service</a:t>
            </a:r>
          </a:p>
        </p:txBody>
      </p:sp>
      <p:sp>
        <p:nvSpPr>
          <p:cNvPr id="32" name="TextBox 31"/>
          <p:cNvSpPr txBox="1"/>
          <p:nvPr/>
        </p:nvSpPr>
        <p:spPr>
          <a:xfrm>
            <a:off x="4663440" y="4599432"/>
            <a:ext cx="6766560" cy="365760"/>
          </a:xfrm>
          <a:prstGeom prst="rect">
            <a:avLst/>
          </a:prstGeom>
          <a:noFill/>
        </p:spPr>
        <p:txBody>
          <a:bodyPr wrap="square" lIns="0" tIns="0" rIns="0" bIns="0" anchor="t">
            <a:spAutoFit/>
          </a:bodyPr>
          <a:lstStyle/>
          <a:p>
            <a:pPr algn="l">
              <a:lnSpc>
                <a:spcPct val="115000"/>
              </a:lnSpc>
            </a:pPr>
            <a:r>
              <a:rPr sz="1100" b="0">
                <a:solidFill>
                  <a:srgbClr val="E8ECF4"/>
                </a:solidFill>
                <a:latin typeface="Calibri"/>
              </a:rPr>
              <a:t>OAuth 2.0 + Entra External ID · MFA · refresh tokens</a:t>
            </a:r>
          </a:p>
        </p:txBody>
      </p:sp>
      <p:sp>
        <p:nvSpPr>
          <p:cNvPr id="33" name="Rectangle 32"/>
          <p:cNvSpPr/>
          <p:nvPr/>
        </p:nvSpPr>
        <p:spPr>
          <a:xfrm>
            <a:off x="548640" y="4983480"/>
            <a:ext cx="11064240" cy="502920"/>
          </a:xfrm>
          <a:prstGeom prst="rect">
            <a:avLst/>
          </a:prstGeom>
          <a:solidFill>
            <a:srgbClr val="294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31520" y="5102352"/>
            <a:ext cx="1097280" cy="365760"/>
          </a:xfrm>
          <a:prstGeom prst="rect">
            <a:avLst/>
          </a:prstGeom>
          <a:noFill/>
        </p:spPr>
        <p:txBody>
          <a:bodyPr wrap="square" lIns="0" tIns="0" rIns="0" bIns="0" anchor="t">
            <a:spAutoFit/>
          </a:bodyPr>
          <a:lstStyle/>
          <a:p>
            <a:pPr algn="l">
              <a:lnSpc>
                <a:spcPct val="115000"/>
              </a:lnSpc>
            </a:pPr>
            <a:r>
              <a:rPr sz="1200" b="1">
                <a:solidFill>
                  <a:srgbClr val="1E88E5"/>
                </a:solidFill>
                <a:latin typeface="Calibri"/>
              </a:rPr>
              <a:t>6</a:t>
            </a:r>
          </a:p>
        </p:txBody>
      </p:sp>
      <p:sp>
        <p:nvSpPr>
          <p:cNvPr id="35" name="TextBox 34"/>
          <p:cNvSpPr txBox="1"/>
          <p:nvPr/>
        </p:nvSpPr>
        <p:spPr>
          <a:xfrm>
            <a:off x="1920240" y="5102352"/>
            <a:ext cx="2651760" cy="365760"/>
          </a:xfrm>
          <a:prstGeom prst="rect">
            <a:avLst/>
          </a:prstGeom>
          <a:noFill/>
        </p:spPr>
        <p:txBody>
          <a:bodyPr wrap="square" lIns="0" tIns="0" rIns="0" bIns="0" anchor="t">
            <a:spAutoFit/>
          </a:bodyPr>
          <a:lstStyle/>
          <a:p>
            <a:pPr algn="l">
              <a:lnSpc>
                <a:spcPct val="115000"/>
              </a:lnSpc>
            </a:pPr>
            <a:r>
              <a:rPr sz="1200" b="1">
                <a:solidFill>
                  <a:srgbClr val="FFFFFF"/>
                </a:solidFill>
                <a:latin typeface="Calibri"/>
              </a:rPr>
              <a:t>Split services</a:t>
            </a:r>
          </a:p>
        </p:txBody>
      </p:sp>
      <p:sp>
        <p:nvSpPr>
          <p:cNvPr id="36" name="TextBox 35"/>
          <p:cNvSpPr txBox="1"/>
          <p:nvPr/>
        </p:nvSpPr>
        <p:spPr>
          <a:xfrm>
            <a:off x="4663440" y="5102352"/>
            <a:ext cx="6766560" cy="365760"/>
          </a:xfrm>
          <a:prstGeom prst="rect">
            <a:avLst/>
          </a:prstGeom>
          <a:noFill/>
        </p:spPr>
        <p:txBody>
          <a:bodyPr wrap="square" lIns="0" tIns="0" rIns="0" bIns="0" anchor="t">
            <a:spAutoFit/>
          </a:bodyPr>
          <a:lstStyle/>
          <a:p>
            <a:pPr algn="l">
              <a:lnSpc>
                <a:spcPct val="115000"/>
              </a:lnSpc>
            </a:pPr>
            <a:r>
              <a:rPr sz="1100" b="0">
                <a:solidFill>
                  <a:srgbClr val="E8ECF4"/>
                </a:solidFill>
                <a:latin typeface="Calibri"/>
              </a:rPr>
              <a:t>Customers + Sales as deploy units · Redis read-cache</a:t>
            </a:r>
          </a:p>
        </p:txBody>
      </p:sp>
      <p:sp>
        <p:nvSpPr>
          <p:cNvPr id="37" name="Rectangle 36"/>
          <p:cNvSpPr/>
          <p:nvPr/>
        </p:nvSpPr>
        <p:spPr>
          <a:xfrm>
            <a:off x="548640" y="5486400"/>
            <a:ext cx="11064240" cy="502920"/>
          </a:xfrm>
          <a:prstGeom prst="rect">
            <a:avLst/>
          </a:prstGeom>
          <a:solidFill>
            <a:srgbClr val="145B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31520" y="5605272"/>
            <a:ext cx="1097280" cy="365760"/>
          </a:xfrm>
          <a:prstGeom prst="rect">
            <a:avLst/>
          </a:prstGeom>
          <a:noFill/>
        </p:spPr>
        <p:txBody>
          <a:bodyPr wrap="square" lIns="0" tIns="0" rIns="0" bIns="0" anchor="t">
            <a:spAutoFit/>
          </a:bodyPr>
          <a:lstStyle/>
          <a:p>
            <a:pPr algn="l">
              <a:lnSpc>
                <a:spcPct val="115000"/>
              </a:lnSpc>
            </a:pPr>
            <a:r>
              <a:rPr sz="1200" b="1">
                <a:solidFill>
                  <a:srgbClr val="1E88E5"/>
                </a:solidFill>
                <a:latin typeface="Calibri"/>
              </a:rPr>
              <a:t>7</a:t>
            </a:r>
          </a:p>
        </p:txBody>
      </p:sp>
      <p:sp>
        <p:nvSpPr>
          <p:cNvPr id="39" name="TextBox 38"/>
          <p:cNvSpPr txBox="1"/>
          <p:nvPr/>
        </p:nvSpPr>
        <p:spPr>
          <a:xfrm>
            <a:off x="1920240" y="5605272"/>
            <a:ext cx="2651760" cy="365760"/>
          </a:xfrm>
          <a:prstGeom prst="rect">
            <a:avLst/>
          </a:prstGeom>
          <a:noFill/>
        </p:spPr>
        <p:txBody>
          <a:bodyPr wrap="square" lIns="0" tIns="0" rIns="0" bIns="0" anchor="t">
            <a:spAutoFit/>
          </a:bodyPr>
          <a:lstStyle/>
          <a:p>
            <a:pPr algn="l">
              <a:lnSpc>
                <a:spcPct val="115000"/>
              </a:lnSpc>
            </a:pPr>
            <a:r>
              <a:rPr sz="1200" b="1">
                <a:solidFill>
                  <a:srgbClr val="FFFFFF"/>
                </a:solidFill>
                <a:latin typeface="Calibri"/>
              </a:rPr>
              <a:t>Analytics + CQRS</a:t>
            </a:r>
          </a:p>
        </p:txBody>
      </p:sp>
      <p:sp>
        <p:nvSpPr>
          <p:cNvPr id="40" name="TextBox 39"/>
          <p:cNvSpPr txBox="1"/>
          <p:nvPr/>
        </p:nvSpPr>
        <p:spPr>
          <a:xfrm>
            <a:off x="4663440" y="5605272"/>
            <a:ext cx="6766560" cy="365760"/>
          </a:xfrm>
          <a:prstGeom prst="rect">
            <a:avLst/>
          </a:prstGeom>
          <a:noFill/>
        </p:spPr>
        <p:txBody>
          <a:bodyPr wrap="square" lIns="0" tIns="0" rIns="0" bIns="0" anchor="t">
            <a:spAutoFit/>
          </a:bodyPr>
          <a:lstStyle/>
          <a:p>
            <a:pPr algn="l">
              <a:lnSpc>
                <a:spcPct val="115000"/>
              </a:lnSpc>
            </a:pPr>
            <a:r>
              <a:rPr sz="1100" b="0">
                <a:solidFill>
                  <a:srgbClr val="E8ECF4"/>
                </a:solidFill>
                <a:latin typeface="Calibri"/>
              </a:rPr>
              <a:t>Read model · Blob staging for large exports</a:t>
            </a:r>
          </a:p>
        </p:txBody>
      </p:sp>
      <p:sp>
        <p:nvSpPr>
          <p:cNvPr id="41" name="Rectangle 40"/>
          <p:cNvSpPr/>
          <p:nvPr/>
        </p:nvSpPr>
        <p:spPr>
          <a:xfrm>
            <a:off x="548640" y="5989320"/>
            <a:ext cx="11064240" cy="502920"/>
          </a:xfrm>
          <a:prstGeom prst="rect">
            <a:avLst/>
          </a:prstGeom>
          <a:solidFill>
            <a:srgbClr val="2946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31520" y="6108192"/>
            <a:ext cx="1097280" cy="365760"/>
          </a:xfrm>
          <a:prstGeom prst="rect">
            <a:avLst/>
          </a:prstGeom>
          <a:noFill/>
        </p:spPr>
        <p:txBody>
          <a:bodyPr wrap="square" lIns="0" tIns="0" rIns="0" bIns="0" anchor="t">
            <a:spAutoFit/>
          </a:bodyPr>
          <a:lstStyle/>
          <a:p>
            <a:pPr algn="l">
              <a:lnSpc>
                <a:spcPct val="115000"/>
              </a:lnSpc>
            </a:pPr>
            <a:r>
              <a:rPr sz="1200" b="1">
                <a:solidFill>
                  <a:srgbClr val="1E88E5"/>
                </a:solidFill>
                <a:latin typeface="Calibri"/>
              </a:rPr>
              <a:t>8</a:t>
            </a:r>
          </a:p>
        </p:txBody>
      </p:sp>
      <p:sp>
        <p:nvSpPr>
          <p:cNvPr id="43" name="TextBox 42"/>
          <p:cNvSpPr txBox="1"/>
          <p:nvPr/>
        </p:nvSpPr>
        <p:spPr>
          <a:xfrm>
            <a:off x="1920240" y="6108192"/>
            <a:ext cx="2651760" cy="365760"/>
          </a:xfrm>
          <a:prstGeom prst="rect">
            <a:avLst/>
          </a:prstGeom>
          <a:noFill/>
        </p:spPr>
        <p:txBody>
          <a:bodyPr wrap="square" lIns="0" tIns="0" rIns="0" bIns="0" anchor="t">
            <a:spAutoFit/>
          </a:bodyPr>
          <a:lstStyle/>
          <a:p>
            <a:pPr algn="l">
              <a:lnSpc>
                <a:spcPct val="115000"/>
              </a:lnSpc>
            </a:pPr>
            <a:r>
              <a:rPr sz="1200" b="1">
                <a:solidFill>
                  <a:srgbClr val="FFFFFF"/>
                </a:solidFill>
                <a:latin typeface="Calibri"/>
              </a:rPr>
              <a:t>Hardening</a:t>
            </a:r>
          </a:p>
        </p:txBody>
      </p:sp>
      <p:sp>
        <p:nvSpPr>
          <p:cNvPr id="44" name="TextBox 43"/>
          <p:cNvSpPr txBox="1"/>
          <p:nvPr/>
        </p:nvSpPr>
        <p:spPr>
          <a:xfrm>
            <a:off x="4663440" y="6108192"/>
            <a:ext cx="6766560" cy="365760"/>
          </a:xfrm>
          <a:prstGeom prst="rect">
            <a:avLst/>
          </a:prstGeom>
          <a:noFill/>
        </p:spPr>
        <p:txBody>
          <a:bodyPr wrap="square" lIns="0" tIns="0" rIns="0" bIns="0" anchor="t">
            <a:spAutoFit/>
          </a:bodyPr>
          <a:lstStyle/>
          <a:p>
            <a:pPr algn="l">
              <a:lnSpc>
                <a:spcPct val="115000"/>
              </a:lnSpc>
            </a:pPr>
            <a:r>
              <a:rPr sz="1100" b="0">
                <a:solidFill>
                  <a:srgbClr val="E8ECF4"/>
                </a:solidFill>
                <a:latin typeface="Calibri"/>
              </a:rPr>
              <a:t>Private Endpoints · Defender · geo-replication</a:t>
            </a:r>
          </a:p>
        </p:txBody>
      </p:sp>
      <p:sp>
        <p:nvSpPr>
          <p:cNvPr id="45" name="TextBox 44"/>
          <p:cNvSpPr txBox="1"/>
          <p:nvPr/>
        </p:nvSpPr>
        <p:spPr>
          <a:xfrm>
            <a:off x="548640" y="6126480"/>
            <a:ext cx="11064240" cy="365760"/>
          </a:xfrm>
          <a:prstGeom prst="rect">
            <a:avLst/>
          </a:prstGeom>
          <a:noFill/>
        </p:spPr>
        <p:txBody>
          <a:bodyPr wrap="square" lIns="0" tIns="0" rIns="0" bIns="0" anchor="t">
            <a:spAutoFit/>
          </a:bodyPr>
          <a:lstStyle/>
          <a:p>
            <a:pPr algn="ctr">
              <a:lnSpc>
                <a:spcPct val="115000"/>
              </a:lnSpc>
            </a:pPr>
            <a:r>
              <a:rPr sz="1000" b="0">
                <a:solidFill>
                  <a:srgbClr val="B8C6E3"/>
                </a:solidFill>
                <a:latin typeface="Calibri"/>
              </a:rPr>
              <a:t>Each phase is gated by an explicit trigger (team size, traffic, SLO, regulatory) — not a calendar date.</a:t>
            </a:r>
          </a:p>
        </p:txBody>
      </p:sp>
      <p:sp>
        <p:nvSpPr>
          <p:cNvPr id="46" name="TextBox 45"/>
          <p:cNvSpPr txBox="1"/>
          <p:nvPr/>
        </p:nvSpPr>
        <p:spPr>
          <a:xfrm>
            <a:off x="457200" y="6492240"/>
            <a:ext cx="548640" cy="228600"/>
          </a:xfrm>
          <a:prstGeom prst="rect">
            <a:avLst/>
          </a:prstGeom>
          <a:noFill/>
        </p:spPr>
        <p:txBody>
          <a:bodyPr wrap="square" lIns="0" tIns="0" rIns="0" bIns="0" anchor="t">
            <a:spAutoFit/>
          </a:bodyPr>
          <a:lstStyle/>
          <a:p>
            <a:pPr algn="l">
              <a:lnSpc>
                <a:spcPct val="115000"/>
              </a:lnSpc>
            </a:pPr>
            <a:r>
              <a:rPr sz="1000" b="0">
                <a:solidFill>
                  <a:srgbClr val="B8C6E3"/>
                </a:solidFill>
                <a:latin typeface="Calibri"/>
              </a:rPr>
              <a:t>23</a:t>
            </a:r>
          </a:p>
        </p:txBody>
      </p:sp>
      <p:sp>
        <p:nvSpPr>
          <p:cNvPr id="47" name="TextBox 46"/>
          <p:cNvSpPr txBox="1"/>
          <p:nvPr/>
        </p:nvSpPr>
        <p:spPr>
          <a:xfrm>
            <a:off x="1005840" y="6492240"/>
            <a:ext cx="7315200" cy="228600"/>
          </a:xfrm>
          <a:prstGeom prst="rect">
            <a:avLst/>
          </a:prstGeom>
          <a:noFill/>
        </p:spPr>
        <p:txBody>
          <a:bodyPr wrap="square" lIns="0" tIns="0" rIns="0" bIns="0" anchor="t">
            <a:spAutoFit/>
          </a:bodyPr>
          <a:lstStyle/>
          <a:p>
            <a:pPr algn="l">
              <a:lnSpc>
                <a:spcPct val="115000"/>
              </a:lnSpc>
            </a:pPr>
            <a:r>
              <a:rPr sz="900" b="0">
                <a:solidFill>
                  <a:srgbClr val="B8C6E3"/>
                </a:solidFill>
                <a:latin typeface="Calibri"/>
              </a:rPr>
              <a:t>© 2026 Cognizant | Confidential &amp; Proprietary</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gRect"/>
          <p:cNvSpPr/>
          <p:nvPr/>
        </p:nvSpPr>
        <p:spPr>
          <a:xfrm>
            <a:off x="0" y="0"/>
            <a:ext cx="12192000" cy="6858000"/>
          </a:xfrm>
          <a:prstGeom prst="rect">
            <a:avLst/>
          </a:prstGeom>
          <a:solidFill>
            <a:srgbClr val="02082E"/>
          </a:solidFill>
          <a:ln>
            <a:noFill/>
          </a:ln>
        </p:spPr>
        <p:txBody>
          <a:bodyPr rtlCol="0" anchor="ctr"/>
          <a:lstStyle/>
          <a:p>
            <a:endParaRPr/>
          </a:p>
        </p:txBody>
      </p:sp>
      <p:sp>
        <p:nvSpPr>
          <p:cNvPr id="3" name="Title"/>
          <p:cNvSpPr txBox="1"/>
          <p:nvPr/>
        </p:nvSpPr>
        <p:spPr>
          <a:xfrm>
            <a:off x="548640" y="411480"/>
            <a:ext cx="11094720" cy="640080"/>
          </a:xfrm>
          <a:prstGeom prst="rect">
            <a:avLst/>
          </a:prstGeom>
          <a:noFill/>
        </p:spPr>
        <p:txBody>
          <a:bodyPr wrap="square" lIns="0" tIns="0" rIns="0" bIns="0" anchor="t">
            <a:spAutoFit/>
          </a:bodyPr>
          <a:lstStyle/>
          <a:p>
            <a:pPr algn="l">
              <a:lnSpc>
                <a:spcPct val="115000"/>
              </a:lnSpc>
            </a:pPr>
            <a:r>
              <a:rPr sz="2600" b="1">
                <a:solidFill>
                  <a:srgbClr val="FFFFFF"/>
                </a:solidFill>
                <a:latin typeface="Calibri"/>
              </a:rPr>
              <a:t>FUTURE-STATE ARCHITECTURE — TARGET</a:t>
            </a:r>
          </a:p>
        </p:txBody>
      </p:sp>
      <p:sp>
        <p:nvSpPr>
          <p:cNvPr id="4" name="AccentBar"/>
          <p:cNvSpPr/>
          <p:nvPr/>
        </p:nvSpPr>
        <p:spPr>
          <a:xfrm>
            <a:off x="548640" y="1097280"/>
            <a:ext cx="502920" cy="38100"/>
          </a:xfrm>
          <a:prstGeom prst="rect">
            <a:avLst/>
          </a:prstGeom>
          <a:solidFill>
            <a:srgbClr val="1E88E5"/>
          </a:solidFill>
          <a:ln>
            <a:noFill/>
          </a:ln>
        </p:spPr>
        <p:txBody>
          <a:bodyPr/>
          <a:lstStyle/>
          <a:p>
            <a:endParaRPr/>
          </a:p>
        </p:txBody>
      </p:sp>
      <p:sp>
        <p:nvSpPr>
          <p:cNvPr id="10" name="Explain"/>
          <p:cNvSpPr txBox="1"/>
          <p:nvPr/>
        </p:nvSpPr>
        <p:spPr>
          <a:xfrm>
            <a:off x="548640" y="1250000"/>
            <a:ext cx="5450000" cy="5050000"/>
          </a:xfrm>
          <a:prstGeom prst="rect">
            <a:avLst/>
          </a:prstGeom>
          <a:noFill/>
        </p:spPr>
        <p:txBody>
          <a:bodyPr wrap="square" lIns="91440" tIns="45720" rIns="91440" bIns="45720">
            <a:spAutoFit/>
          </a:bodyPr>
          <a:lstStyle/>
          <a:p>
            <a:pPr algn="l">
              <a:lnSpc>
                <a:spcPct val="130000"/>
              </a:lnSpc>
            </a:pPr>
            <a:r>
              <a:rPr sz="1200" b="1">
                <a:solidFill>
                  <a:srgbClr val="00BFFF"/>
                </a:solidFill>
                <a:latin typeface="Calibri"/>
              </a:rPr>
              <a:t>Multi-Channel Edge</a:t>
            </a:r>
          </a:p>
          <a:p>
            <a:pPr algn="l">
              <a:lnSpc>
                <a:spcPct val="130000"/>
              </a:lnSpc>
            </a:pPr>
            <a:r>
              <a:rPr sz="1050" b="0">
                <a:solidFill>
                  <a:srgbClr val="E8ECF4"/>
                </a:solidFill>
                <a:latin typeface="Calibri"/>
              </a:rPr>
              <a:t>• Channels: Web (Angular SPA), Mobile App (future), Salesforce / Slack integrations</a:t>
            </a:r>
          </a:p>
          <a:p>
            <a:pPr algn="l">
              <a:lnSpc>
                <a:spcPct val="130000"/>
              </a:lnSpc>
            </a:pPr>
            <a:r>
              <a:rPr sz="1050" b="0">
                <a:solidFill>
                  <a:srgbClr val="E8ECF4"/>
                </a:solidFill>
                <a:latin typeface="Calibri"/>
              </a:rPr>
              <a:t>• Azure Front Door + WAF — global routing, DDoS protection, Web Application Firewall</a:t>
            </a:r>
          </a:p>
          <a:p>
            <a:pPr algn="l">
              <a:lnSpc>
                <a:spcPct val="130000"/>
              </a:lnSpc>
            </a:pPr>
            <a:endParaRPr sz="1050" b="0">
              <a:solidFill>
                <a:srgbClr val="E8ECF4"/>
              </a:solidFill>
              <a:latin typeface="Calibri"/>
            </a:endParaRPr>
          </a:p>
          <a:p>
            <a:pPr algn="l">
              <a:lnSpc>
                <a:spcPct val="130000"/>
              </a:lnSpc>
            </a:pPr>
            <a:r>
              <a:rPr sz="1200" b="1">
                <a:solidFill>
                  <a:srgbClr val="00BFFF"/>
                </a:solidFill>
                <a:latin typeface="Calibri"/>
              </a:rPr>
              <a:t>API Gateway &amp; Microservices (AKS)</a:t>
            </a:r>
          </a:p>
          <a:p>
            <a:pPr algn="l">
              <a:lnSpc>
                <a:spcPct val="130000"/>
              </a:lnSpc>
            </a:pPr>
            <a:r>
              <a:rPr sz="1050" b="0">
                <a:solidFill>
                  <a:srgbClr val="E8ECF4"/>
                </a:solidFill>
                <a:latin typeface="Calibri"/>
              </a:rPr>
              <a:t>• Azure API Management — JWT validation, RBAC, rate limiting, caching, analytics</a:t>
            </a:r>
          </a:p>
          <a:p>
            <a:pPr algn="l">
              <a:lnSpc>
                <a:spcPct val="130000"/>
              </a:lnSpc>
            </a:pPr>
            <a:r>
              <a:rPr sz="1050" b="0">
                <a:solidFill>
                  <a:srgbClr val="E8ECF4"/>
                </a:solidFill>
                <a:latin typeface="Calibri"/>
              </a:rPr>
              <a:t>• AKS with HPA: Auth Service, Customer Service, Sales Service, Analytics, Notification Service</a:t>
            </a:r>
          </a:p>
          <a:p>
            <a:pPr algn="l">
              <a:lnSpc>
                <a:spcPct val="130000"/>
              </a:lnSpc>
            </a:pPr>
            <a:endParaRPr sz="1050" b="0">
              <a:solidFill>
                <a:srgbClr val="E8ECF4"/>
              </a:solidFill>
              <a:latin typeface="Calibri"/>
            </a:endParaRPr>
          </a:p>
          <a:p>
            <a:pPr algn="l">
              <a:lnSpc>
                <a:spcPct val="130000"/>
              </a:lnSpc>
            </a:pPr>
            <a:r>
              <a:rPr sz="1200" b="1">
                <a:solidFill>
                  <a:srgbClr val="00BFFF"/>
                </a:solidFill>
                <a:latin typeface="Calibri"/>
              </a:rPr>
              <a:t>Data &amp; Messaging</a:t>
            </a:r>
          </a:p>
          <a:p>
            <a:pPr algn="l">
              <a:lnSpc>
                <a:spcPct val="130000"/>
              </a:lnSpc>
            </a:pPr>
            <a:r>
              <a:rPr sz="1050" b="0">
                <a:solidFill>
                  <a:srgbClr val="E8ECF4"/>
                </a:solidFill>
                <a:latin typeface="Calibri"/>
              </a:rPr>
              <a:t>• Azure SQL (geo-replicated, Zone-Redundant) + Azure Cache for Redis (read-cache layer)</a:t>
            </a:r>
          </a:p>
          <a:p>
            <a:pPr algn="l">
              <a:lnSpc>
                <a:spcPct val="130000"/>
              </a:lnSpc>
            </a:pPr>
            <a:r>
              <a:rPr sz="1050" b="0">
                <a:solidFill>
                  <a:srgbClr val="E8ECF4"/>
                </a:solidFill>
                <a:latin typeface="Calibri"/>
              </a:rPr>
              <a:t>• Azure Service Bus — async event queues/topics for notifications and decoupled processing</a:t>
            </a:r>
          </a:p>
          <a:p>
            <a:pPr algn="l">
              <a:lnSpc>
                <a:spcPct val="130000"/>
              </a:lnSpc>
            </a:pPr>
            <a:r>
              <a:rPr sz="1050" b="0">
                <a:solidFill>
                  <a:srgbClr val="E8ECF4"/>
                </a:solidFill>
                <a:latin typeface="Calibri"/>
              </a:rPr>
              <a:t>• Azure Blob Storage — documents, images, large export staging</a:t>
            </a:r>
          </a:p>
          <a:p>
            <a:pPr algn="l">
              <a:lnSpc>
                <a:spcPct val="130000"/>
              </a:lnSpc>
            </a:pPr>
            <a:endParaRPr sz="1050" b="0">
              <a:solidFill>
                <a:srgbClr val="E8ECF4"/>
              </a:solidFill>
              <a:latin typeface="Calibri"/>
            </a:endParaRPr>
          </a:p>
          <a:p>
            <a:pPr algn="l">
              <a:lnSpc>
                <a:spcPct val="130000"/>
              </a:lnSpc>
            </a:pPr>
            <a:r>
              <a:rPr sz="1200" b="1">
                <a:solidFill>
                  <a:srgbClr val="00BFFF"/>
                </a:solidFill>
                <a:latin typeface="Calibri"/>
              </a:rPr>
              <a:t>Security &amp; Identity</a:t>
            </a:r>
          </a:p>
          <a:p>
            <a:pPr algn="l">
              <a:lnSpc>
                <a:spcPct val="130000"/>
              </a:lnSpc>
            </a:pPr>
            <a:r>
              <a:rPr sz="1050" b="0">
                <a:solidFill>
                  <a:srgbClr val="E8ECF4"/>
                </a:solidFill>
                <a:latin typeface="Calibri"/>
              </a:rPr>
              <a:t>• Azure Key Vault for secrets/keys/certificates; Microsoft Entra External ID for OAuth 2.0 + MFA</a:t>
            </a:r>
          </a:p>
          <a:p>
            <a:pPr algn="l">
              <a:lnSpc>
                <a:spcPct val="130000"/>
              </a:lnSpc>
            </a:pPr>
            <a:r>
              <a:rPr sz="1050" b="0">
                <a:solidFill>
                  <a:srgbClr val="E8ECF4"/>
                </a:solidFill>
                <a:latin typeface="Calibri"/>
              </a:rPr>
              <a:t>• B2B and B2C users; SSO; Zero-Trust, Least Privilege, Defence-in-Depth model</a:t>
            </a:r>
          </a:p>
          <a:p>
            <a:pPr algn="l">
              <a:lnSpc>
                <a:spcPct val="130000"/>
              </a:lnSpc>
            </a:pPr>
            <a:endParaRPr sz="1050" b="0">
              <a:solidFill>
                <a:srgbClr val="E8ECF4"/>
              </a:solidFill>
              <a:latin typeface="Calibri"/>
            </a:endParaRPr>
          </a:p>
          <a:p>
            <a:pPr algn="l">
              <a:lnSpc>
                <a:spcPct val="130000"/>
              </a:lnSpc>
            </a:pPr>
            <a:r>
              <a:rPr sz="1200" b="1">
                <a:solidFill>
                  <a:srgbClr val="00BFFF"/>
                </a:solidFill>
                <a:latin typeface="Calibri"/>
              </a:rPr>
              <a:t>Observability &amp; Operations</a:t>
            </a:r>
          </a:p>
          <a:p>
            <a:pPr algn="l">
              <a:lnSpc>
                <a:spcPct val="130000"/>
              </a:lnSpc>
            </a:pPr>
            <a:r>
              <a:rPr sz="1050" b="0">
                <a:solidFill>
                  <a:srgbClr val="E8ECF4"/>
                </a:solidFill>
                <a:latin typeface="Calibri"/>
              </a:rPr>
              <a:t>• Azure Monitor, App Insights, Log Analytics Workspace; Azure DevOps / GitHub Actions CI/CD</a:t>
            </a:r>
          </a:p>
        </p:txBody>
      </p:sp>
      <p:pic>
        <p:nvPicPr>
          <p:cNvPr id="99" name="HLD_FutureState"/>
          <p:cNvPicPr>
            <a:picLocks noChangeAspect="1"/>
          </p:cNvPicPr>
          <p:nvPr/>
        </p:nvPicPr>
        <p:blipFill>
          <a:blip r:embed="rId2"/>
          <a:stretch>
            <a:fillRect/>
          </a:stretch>
        </p:blipFill>
        <p:spPr>
          <a:xfrm>
            <a:off x="6250000" y="1150000"/>
            <a:ext cx="5700000" cy="54500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90" name="SlideNum"/>
          <p:cNvSpPr txBox="1"/>
          <p:nvPr/>
        </p:nvSpPr>
        <p:spPr>
          <a:xfrm>
            <a:off x="457200" y="6492240"/>
            <a:ext cx="548640" cy="228600"/>
          </a:xfrm>
          <a:prstGeom prst="rect">
            <a:avLst/>
          </a:prstGeom>
          <a:noFill/>
        </p:spPr>
        <p:txBody>
          <a:bodyPr wrap="square" lIns="0" tIns="0" rIns="0" bIns="0" anchor="t">
            <a:spAutoFit/>
          </a:bodyPr>
          <a:lstStyle/>
          <a:p>
            <a:pPr algn="l"/>
            <a:r>
              <a:rPr sz="1000" b="0">
                <a:solidFill>
                  <a:srgbClr val="B8C6E3"/>
                </a:solidFill>
                <a:latin typeface="Calibri"/>
              </a:rPr>
              <a:t>24</a:t>
            </a:r>
          </a:p>
        </p:txBody>
      </p:sp>
      <p:sp>
        <p:nvSpPr>
          <p:cNvPr id="91" name="Copyright"/>
          <p:cNvSpPr txBox="1"/>
          <p:nvPr/>
        </p:nvSpPr>
        <p:spPr>
          <a:xfrm>
            <a:off x="1005840" y="6492240"/>
            <a:ext cx="7315200" cy="228600"/>
          </a:xfrm>
          <a:prstGeom prst="rect">
            <a:avLst/>
          </a:prstGeom>
          <a:noFill/>
        </p:spPr>
        <p:txBody>
          <a:bodyPr wrap="square" lIns="0" tIns="0" rIns="0" bIns="0" anchor="t">
            <a:spAutoFit/>
          </a:bodyPr>
          <a:lstStyle/>
          <a:p>
            <a:pPr algn="l"/>
            <a:r>
              <a:rPr sz="900" b="0">
                <a:solidFill>
                  <a:srgbClr val="B8C6E3"/>
                </a:solidFill>
                <a:latin typeface="Calibri"/>
              </a:rPr>
              <a:t>© 2026 Cognizant | Confidential &amp; Proprietary</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20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11480"/>
            <a:ext cx="10058400" cy="640080"/>
          </a:xfrm>
          <a:prstGeom prst="rect">
            <a:avLst/>
          </a:prstGeom>
          <a:noFill/>
        </p:spPr>
        <p:txBody>
          <a:bodyPr wrap="square" lIns="0" tIns="0" rIns="0" bIns="0" anchor="t">
            <a:spAutoFit/>
          </a:bodyPr>
          <a:lstStyle/>
          <a:p>
            <a:pPr algn="l">
              <a:lnSpc>
                <a:spcPct val="115000"/>
              </a:lnSpc>
            </a:pPr>
            <a:r>
              <a:rPr sz="2600" b="1">
                <a:solidFill>
                  <a:srgbClr val="FFFFFF"/>
                </a:solidFill>
                <a:latin typeface="Calibri"/>
              </a:rPr>
              <a:t>CONCLUSION</a:t>
            </a:r>
          </a:p>
        </p:txBody>
      </p:sp>
      <p:sp>
        <p:nvSpPr>
          <p:cNvPr id="4" name="Rectangle 3"/>
          <p:cNvSpPr/>
          <p:nvPr/>
        </p:nvSpPr>
        <p:spPr>
          <a:xfrm>
            <a:off x="548640" y="1097280"/>
            <a:ext cx="502920" cy="38100"/>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1417320"/>
            <a:ext cx="5943600" cy="2286000"/>
          </a:xfrm>
          <a:prstGeom prst="rect">
            <a:avLst/>
          </a:prstGeom>
          <a:noFill/>
        </p:spPr>
        <p:txBody>
          <a:bodyPr wrap="square" lIns="0" tIns="0" rIns="0" bIns="0" anchor="t">
            <a:spAutoFit/>
          </a:bodyPr>
          <a:lstStyle/>
          <a:p>
            <a:pPr algn="l">
              <a:lnSpc>
                <a:spcPct val="120000"/>
              </a:lnSpc>
            </a:pPr>
            <a:r>
              <a:rPr sz="2400" b="1">
                <a:solidFill>
                  <a:srgbClr val="FFFFFF"/>
                </a:solidFill>
                <a:latin typeface="Calibri"/>
              </a:rPr>
              <a:t>Production-ready CRM today, </a:t>
            </a:r>
          </a:p>
          <a:p>
            <a:pPr algn="l">
              <a:lnSpc>
                <a:spcPct val="120000"/>
              </a:lnSpc>
            </a:pPr>
            <a:r>
              <a:rPr sz="2400" b="1">
                <a:solidFill>
                  <a:srgbClr val="FFFFFF"/>
                </a:solidFill>
                <a:latin typeface="Calibri"/>
              </a:rPr>
              <a:t>evolution-ready architecture for tomorrow.</a:t>
            </a:r>
          </a:p>
        </p:txBody>
      </p:sp>
      <p:sp>
        <p:nvSpPr>
          <p:cNvPr id="6" name="TextBox 5"/>
          <p:cNvSpPr txBox="1"/>
          <p:nvPr/>
        </p:nvSpPr>
        <p:spPr>
          <a:xfrm>
            <a:off x="6583680" y="1417320"/>
            <a:ext cx="5212080" cy="4572000"/>
          </a:xfrm>
          <a:prstGeom prst="rect">
            <a:avLst/>
          </a:prstGeom>
          <a:noFill/>
        </p:spPr>
        <p:txBody>
          <a:bodyPr wrap="square" lIns="0" tIns="0">
            <a:spAutoFit/>
          </a:bodyPr>
          <a:lstStyle/>
          <a:p>
            <a:pPr algn="l">
              <a:lnSpc>
                <a:spcPct val="150000"/>
              </a:lnSpc>
            </a:pPr>
            <a:r>
              <a:rPr sz="1200">
                <a:solidFill>
                  <a:srgbClr val="E8ECF4"/>
                </a:solidFill>
                <a:latin typeface="Calibri"/>
              </a:rPr>
              <a:t>•  Lean, modular .NET 8 monolith following Clean Architecture — easy to operate, easy to evolve.</a:t>
            </a:r>
          </a:p>
          <a:p>
            <a:pPr algn="l">
              <a:lnSpc>
                <a:spcPct val="150000"/>
              </a:lnSpc>
            </a:pPr>
            <a:r>
              <a:rPr sz="1200">
                <a:solidFill>
                  <a:srgbClr val="E8ECF4"/>
                </a:solidFill>
                <a:latin typeface="Calibri"/>
              </a:rPr>
              <a:t>•  Enterprise-grade controls: BCrypt-12, RBAC, lockout, rate limiting, audit trail, RowVersion concurrency.</a:t>
            </a:r>
          </a:p>
          <a:p>
            <a:pPr algn="l">
              <a:lnSpc>
                <a:spcPct val="150000"/>
              </a:lnSpc>
            </a:pPr>
            <a:r>
              <a:rPr sz="1200">
                <a:solidFill>
                  <a:srgbClr val="E8ECF4"/>
                </a:solidFill>
                <a:latin typeface="Calibri"/>
              </a:rPr>
              <a:t>•  All secrets in Azure Key Vault; passwordless access to SQL &amp; KV via Managed Identity.</a:t>
            </a:r>
          </a:p>
          <a:p>
            <a:pPr algn="l">
              <a:lnSpc>
                <a:spcPct val="150000"/>
              </a:lnSpc>
            </a:pPr>
            <a:r>
              <a:rPr sz="1200">
                <a:solidFill>
                  <a:srgbClr val="E8ECF4"/>
                </a:solidFill>
                <a:latin typeface="Calibri"/>
              </a:rPr>
              <a:t>•  Observable end-to-end: Serilog → App Insights → Log Analytics with correlation IDs.</a:t>
            </a:r>
          </a:p>
          <a:p>
            <a:pPr algn="l">
              <a:lnSpc>
                <a:spcPct val="150000"/>
              </a:lnSpc>
            </a:pPr>
            <a:r>
              <a:rPr sz="1200">
                <a:solidFill>
                  <a:srgbClr val="E8ECF4"/>
                </a:solidFill>
                <a:latin typeface="Calibri"/>
              </a:rPr>
              <a:t>•  Future-state path is open — phased migration to AKS · APIM · Service Bus · Redis · B2C documented (slides 23–24).</a:t>
            </a:r>
          </a:p>
        </p:txBody>
      </p:sp>
      <p:sp>
        <p:nvSpPr>
          <p:cNvPr id="7" name="TextBox 6"/>
          <p:cNvSpPr txBox="1"/>
          <p:nvPr/>
        </p:nvSpPr>
        <p:spPr>
          <a:xfrm>
            <a:off x="548640" y="5212080"/>
            <a:ext cx="6400800" cy="451983"/>
          </a:xfrm>
          <a:prstGeom prst="rect">
            <a:avLst/>
          </a:prstGeom>
          <a:noFill/>
        </p:spPr>
        <p:txBody>
          <a:bodyPr wrap="square" lIns="0" tIns="0" rIns="0" bIns="0" anchor="t">
            <a:spAutoFit/>
          </a:bodyPr>
          <a:lstStyle/>
          <a:p>
            <a:pPr algn="l">
              <a:lnSpc>
                <a:spcPct val="140000"/>
              </a:lnSpc>
            </a:pPr>
            <a:r>
              <a:rPr sz="1100" b="0" dirty="0">
                <a:solidFill>
                  <a:srgbClr val="B8C6E3"/>
                </a:solidFill>
                <a:latin typeface="Calibri"/>
              </a:rPr>
              <a:t>Companion documents</a:t>
            </a:r>
          </a:p>
          <a:p>
            <a:pPr>
              <a:lnSpc>
                <a:spcPct val="140000"/>
              </a:lnSpc>
            </a:pPr>
            <a:r>
              <a:rPr sz="1100" b="0" dirty="0">
                <a:solidFill>
                  <a:srgbClr val="B8C6E3"/>
                </a:solidFill>
                <a:latin typeface="Calibri"/>
              </a:rPr>
              <a:t>• </a:t>
            </a:r>
            <a:r>
              <a:rPr lang="en-IN" sz="1100" dirty="0">
                <a:solidFill>
                  <a:srgbClr val="B8C6E3"/>
                </a:solidFill>
              </a:rPr>
              <a:t>VEV_CRM_HLD.docx</a:t>
            </a:r>
            <a:r>
              <a:rPr sz="1100" b="0" dirty="0">
                <a:solidFill>
                  <a:srgbClr val="B8C6E3"/>
                </a:solidFill>
                <a:latin typeface="Calibri"/>
              </a:rPr>
              <a:t>  ·  </a:t>
            </a:r>
            <a:r>
              <a:rPr lang="en-IN" sz="1100" dirty="0">
                <a:solidFill>
                  <a:srgbClr val="B8C6E3"/>
                </a:solidFill>
              </a:rPr>
              <a:t>VEV_CRM_LLD.docx</a:t>
            </a:r>
            <a:r>
              <a:rPr sz="1100" b="0" dirty="0">
                <a:solidFill>
                  <a:srgbClr val="B8C6E3"/>
                </a:solidFill>
                <a:latin typeface="Calibri"/>
              </a:rPr>
              <a:t> ·  </a:t>
            </a:r>
            <a:r>
              <a:rPr lang="it-IT" sz="1100" dirty="0">
                <a:solidFill>
                  <a:srgbClr val="B8C6E3"/>
                </a:solidFill>
              </a:rPr>
              <a:t>VEV_CRM_API_Specification.docx</a:t>
            </a:r>
            <a:endParaRPr sz="1100" b="0" dirty="0">
              <a:solidFill>
                <a:srgbClr val="B8C6E3"/>
              </a:solidFill>
              <a:latin typeface="Calibri"/>
            </a:endParaRPr>
          </a:p>
        </p:txBody>
      </p:sp>
      <p:sp>
        <p:nvSpPr>
          <p:cNvPr id="8" name="TextBox 7"/>
          <p:cNvSpPr txBox="1"/>
          <p:nvPr/>
        </p:nvSpPr>
        <p:spPr>
          <a:xfrm>
            <a:off x="457200" y="6492240"/>
            <a:ext cx="548640" cy="228600"/>
          </a:xfrm>
          <a:prstGeom prst="rect">
            <a:avLst/>
          </a:prstGeom>
          <a:noFill/>
        </p:spPr>
        <p:txBody>
          <a:bodyPr wrap="square" lIns="0" tIns="0" rIns="0" bIns="0" anchor="t">
            <a:spAutoFit/>
          </a:bodyPr>
          <a:lstStyle/>
          <a:p>
            <a:pPr algn="l">
              <a:lnSpc>
                <a:spcPct val="115000"/>
              </a:lnSpc>
            </a:pPr>
            <a:r>
              <a:rPr sz="1000" b="0">
                <a:solidFill>
                  <a:srgbClr val="B8C6E3"/>
                </a:solidFill>
                <a:latin typeface="Calibri"/>
              </a:rPr>
              <a:t>25</a:t>
            </a:r>
          </a:p>
        </p:txBody>
      </p:sp>
      <p:sp>
        <p:nvSpPr>
          <p:cNvPr id="9" name="TextBox 8"/>
          <p:cNvSpPr txBox="1"/>
          <p:nvPr/>
        </p:nvSpPr>
        <p:spPr>
          <a:xfrm>
            <a:off x="1005840" y="6492240"/>
            <a:ext cx="7315200" cy="228600"/>
          </a:xfrm>
          <a:prstGeom prst="rect">
            <a:avLst/>
          </a:prstGeom>
          <a:noFill/>
        </p:spPr>
        <p:txBody>
          <a:bodyPr wrap="square" lIns="0" tIns="0" rIns="0" bIns="0" anchor="t">
            <a:spAutoFit/>
          </a:bodyPr>
          <a:lstStyle/>
          <a:p>
            <a:pPr algn="l">
              <a:lnSpc>
                <a:spcPct val="115000"/>
              </a:lnSpc>
            </a:pPr>
            <a:r>
              <a:rPr sz="900" b="0">
                <a:solidFill>
                  <a:srgbClr val="B8C6E3"/>
                </a:solidFill>
                <a:latin typeface="Calibri"/>
              </a:rPr>
              <a:t>© 2026 Cognizant | Confidential &amp; Proprietary</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00" cy="6858000"/>
          </a:xfrm>
          <a:prstGeom prst="rect">
            <a:avLst/>
          </a:prstGeom>
          <a:solidFill>
            <a:srgbClr val="020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ight Triangle 3"/>
          <p:cNvSpPr/>
          <p:nvPr/>
        </p:nvSpPr>
        <p:spPr>
          <a:xfrm>
            <a:off x="6400800" y="0"/>
            <a:ext cx="5943600" cy="6858000"/>
          </a:xfrm>
          <a:prstGeom prst="rtTriangl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2286000"/>
            <a:ext cx="6400800" cy="1828800"/>
          </a:xfrm>
          <a:prstGeom prst="rect">
            <a:avLst/>
          </a:prstGeom>
          <a:noFill/>
        </p:spPr>
        <p:txBody>
          <a:bodyPr wrap="square" lIns="0" tIns="0" rIns="0" bIns="0" anchor="t">
            <a:spAutoFit/>
          </a:bodyPr>
          <a:lstStyle/>
          <a:p>
            <a:pPr algn="l">
              <a:lnSpc>
                <a:spcPct val="115000"/>
              </a:lnSpc>
            </a:pPr>
            <a:r>
              <a:rPr sz="6400" b="1">
                <a:solidFill>
                  <a:srgbClr val="FFFFFF"/>
                </a:solidFill>
                <a:latin typeface="Calibri"/>
              </a:rPr>
              <a:t>Thank you</a:t>
            </a:r>
          </a:p>
        </p:txBody>
      </p:sp>
      <p:sp>
        <p:nvSpPr>
          <p:cNvPr id="6" name="TextBox 5"/>
          <p:cNvSpPr txBox="1"/>
          <p:nvPr/>
        </p:nvSpPr>
        <p:spPr>
          <a:xfrm>
            <a:off x="731520" y="4023360"/>
            <a:ext cx="6400800" cy="457200"/>
          </a:xfrm>
          <a:prstGeom prst="rect">
            <a:avLst/>
          </a:prstGeom>
          <a:noFill/>
        </p:spPr>
        <p:txBody>
          <a:bodyPr wrap="square" lIns="0" tIns="0" rIns="0" bIns="0" anchor="t">
            <a:spAutoFit/>
          </a:bodyPr>
          <a:lstStyle/>
          <a:p>
            <a:pPr algn="l">
              <a:lnSpc>
                <a:spcPct val="115000"/>
              </a:lnSpc>
            </a:pPr>
            <a:r>
              <a:rPr sz="1600" b="0">
                <a:solidFill>
                  <a:srgbClr val="E8ECF4"/>
                </a:solidFill>
                <a:latin typeface="Calibri"/>
              </a:rPr>
              <a:t>Venkateswaramma Vasapilli  ·  Technical Lead</a:t>
            </a:r>
          </a:p>
        </p:txBody>
      </p:sp>
      <p:sp>
        <p:nvSpPr>
          <p:cNvPr id="7" name="TextBox 6"/>
          <p:cNvSpPr txBox="1"/>
          <p:nvPr/>
        </p:nvSpPr>
        <p:spPr>
          <a:xfrm>
            <a:off x="731520" y="4480560"/>
            <a:ext cx="6400800" cy="233205"/>
          </a:xfrm>
          <a:prstGeom prst="rect">
            <a:avLst/>
          </a:prstGeom>
          <a:noFill/>
        </p:spPr>
        <p:txBody>
          <a:bodyPr wrap="square" lIns="0" tIns="0" rIns="0" bIns="0" anchor="t">
            <a:spAutoFit/>
          </a:bodyPr>
          <a:lstStyle/>
          <a:p>
            <a:pPr algn="l">
              <a:lnSpc>
                <a:spcPct val="115000"/>
              </a:lnSpc>
            </a:pPr>
            <a:r>
              <a:rPr sz="1400" b="0" dirty="0">
                <a:solidFill>
                  <a:srgbClr val="B8C6E3"/>
                </a:solidFill>
                <a:latin typeface="Calibri"/>
              </a:rPr>
              <a:t>venkateswaramma.vasapilli@cognizant.com</a:t>
            </a:r>
            <a:r>
              <a:rPr lang="en-IN" sz="1400" b="0" dirty="0">
                <a:solidFill>
                  <a:srgbClr val="B8C6E3"/>
                </a:solidFill>
                <a:latin typeface="Calibri"/>
              </a:rPr>
              <a:t>(2371857)</a:t>
            </a:r>
            <a:endParaRPr sz="1400" b="0" dirty="0">
              <a:solidFill>
                <a:srgbClr val="B8C6E3"/>
              </a:solidFill>
              <a:latin typeface="Calibri"/>
            </a:endParaRPr>
          </a:p>
        </p:txBody>
      </p:sp>
      <p:sp>
        <p:nvSpPr>
          <p:cNvPr id="8" name="TextBox 7"/>
          <p:cNvSpPr txBox="1"/>
          <p:nvPr/>
        </p:nvSpPr>
        <p:spPr>
          <a:xfrm>
            <a:off x="457200" y="6492240"/>
            <a:ext cx="548640" cy="228600"/>
          </a:xfrm>
          <a:prstGeom prst="rect">
            <a:avLst/>
          </a:prstGeom>
          <a:noFill/>
        </p:spPr>
        <p:txBody>
          <a:bodyPr wrap="square" lIns="0" tIns="0" rIns="0" bIns="0" anchor="t">
            <a:spAutoFit/>
          </a:bodyPr>
          <a:lstStyle/>
          <a:p>
            <a:pPr algn="l">
              <a:lnSpc>
                <a:spcPct val="115000"/>
              </a:lnSpc>
            </a:pPr>
            <a:r>
              <a:rPr sz="1000" b="0">
                <a:solidFill>
                  <a:srgbClr val="B8C6E3"/>
                </a:solidFill>
                <a:latin typeface="Calibri"/>
              </a:rPr>
              <a:t>26</a:t>
            </a:r>
          </a:p>
        </p:txBody>
      </p:sp>
      <p:sp>
        <p:nvSpPr>
          <p:cNvPr id="9" name="TextBox 8"/>
          <p:cNvSpPr txBox="1"/>
          <p:nvPr/>
        </p:nvSpPr>
        <p:spPr>
          <a:xfrm>
            <a:off x="1005840" y="6492240"/>
            <a:ext cx="7315200" cy="228600"/>
          </a:xfrm>
          <a:prstGeom prst="rect">
            <a:avLst/>
          </a:prstGeom>
          <a:noFill/>
        </p:spPr>
        <p:txBody>
          <a:bodyPr wrap="square" lIns="0" tIns="0" rIns="0" bIns="0" anchor="t">
            <a:spAutoFit/>
          </a:bodyPr>
          <a:lstStyle/>
          <a:p>
            <a:pPr algn="l">
              <a:lnSpc>
                <a:spcPct val="115000"/>
              </a:lnSpc>
            </a:pPr>
            <a:r>
              <a:rPr sz="900" b="0">
                <a:solidFill>
                  <a:srgbClr val="B8C6E3"/>
                </a:solidFill>
                <a:latin typeface="Calibri"/>
              </a:rPr>
              <a:t>© 2026 Cognizant | Confidential &amp; Proprietary</a:t>
            </a:r>
          </a:p>
        </p:txBody>
      </p: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60C10A6240B1A4DB98310176FA9D86C" ma:contentTypeVersion="18" ma:contentTypeDescription="Create a new document." ma:contentTypeScope="" ma:versionID="760b7a26037ecb1d41fed66ae826f67f">
  <xsd:schema xmlns:xsd="http://www.w3.org/2001/XMLSchema" xmlns:xs="http://www.w3.org/2001/XMLSchema" xmlns:p="http://schemas.microsoft.com/office/2006/metadata/properties" xmlns:ns2="07219c1f-7b23-4481-a899-b2109f3b4f13" xmlns:ns3="7f3dbaaf-bdd2-4e22-941e-cdf59f830fb4" xmlns:ns4="3c35e321-f73a-4dae-ae38-a0459de24735" targetNamespace="http://schemas.microsoft.com/office/2006/metadata/properties" ma:root="true" ma:fieldsID="408ef9b91bdfea185f6fb2871211c7ce" ns2:_="" ns3:_="" ns4:_="">
    <xsd:import namespace="07219c1f-7b23-4481-a899-b2109f3b4f13"/>
    <xsd:import namespace="7f3dbaaf-bdd2-4e22-941e-cdf59f830fb4"/>
    <xsd:import namespace="3c35e321-f73a-4dae-ae38-a0459de24735"/>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ServiceAutoKeyPoints" minOccurs="0"/>
                <xsd:element ref="ns2:MediaServiceKeyPoints" minOccurs="0"/>
                <xsd:element ref="ns2:lcf76f155ced4ddcb4097134ff3c332f" minOccurs="0"/>
                <xsd:element ref="ns4:TaxCatchAll" minOccurs="0"/>
                <xsd:element ref="ns2:MediaServiceObjectDetectorVersions" minOccurs="0"/>
                <xsd:element ref="ns2:MediaServiceSearchProperties"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7219c1f-7b23-4481-a899-b2109f3b4f1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63b7d1d5-7262-4eb7-85df-493a730aa64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f3dbaaf-bdd2-4e22-941e-cdf59f830fb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c35e321-f73a-4dae-ae38-a0459de24735" elementFormDefault="qualified">
    <xsd:import namespace="http://schemas.microsoft.com/office/2006/documentManagement/types"/>
    <xsd:import namespace="http://schemas.microsoft.com/office/infopath/2007/PartnerControls"/>
    <xsd:element name="TaxCatchAll" ma:index="21" nillable="true" ma:displayName="Taxonomy Catch All Column" ma:hidden="true" ma:list="{36809012-9977-41cf-89e2-520e0a9f0248}" ma:internalName="TaxCatchAll" ma:showField="CatchAllData" ma:web="7f3dbaaf-bdd2-4e22-941e-cdf59f830fb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07219c1f-7b23-4481-a899-b2109f3b4f13">
      <Terms xmlns="http://schemas.microsoft.com/office/infopath/2007/PartnerControls"/>
    </lcf76f155ced4ddcb4097134ff3c332f>
    <TaxCatchAll xmlns="3c35e321-f73a-4dae-ae38-a0459de2473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0A4934F-4671-48D3-B37D-EFB146A4B9A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7219c1f-7b23-4481-a899-b2109f3b4f13"/>
    <ds:schemaRef ds:uri="7f3dbaaf-bdd2-4e22-941e-cdf59f830fb4"/>
    <ds:schemaRef ds:uri="3c35e321-f73a-4dae-ae38-a0459de2473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7EF5969-CED1-431F-A153-EED19DE591CA}">
  <ds:schemaRefs>
    <ds:schemaRef ds:uri="http://schemas.microsoft.com/office/2006/metadata/properties"/>
    <ds:schemaRef ds:uri="http://schemas.microsoft.com/office/infopath/2007/PartnerControls"/>
    <ds:schemaRef ds:uri="07219c1f-7b23-4481-a899-b2109f3b4f13"/>
    <ds:schemaRef ds:uri="3c35e321-f73a-4dae-ae38-a0459de24735"/>
  </ds:schemaRefs>
</ds:datastoreItem>
</file>

<file path=customXml/itemProps3.xml><?xml version="1.0" encoding="utf-8"?>
<ds:datastoreItem xmlns:ds="http://schemas.openxmlformats.org/officeDocument/2006/customXml" ds:itemID="{933CEEDE-684E-4542-95D4-7F8DEEFFFED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3569</TotalTime>
  <Words>3184</Words>
  <Application>Microsoft Office PowerPoint</Application>
  <PresentationFormat>Widescreen</PresentationFormat>
  <Paragraphs>293</Paragraphs>
  <Slides>24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Shashi Shekhar</cp:lastModifiedBy>
  <cp:revision>30</cp:revision>
  <dcterms:created xsi:type="dcterms:W3CDTF">2013-01-27T09:14:16Z</dcterms:created>
  <dcterms:modified xsi:type="dcterms:W3CDTF">2026-06-14T13:00:51Z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0x010100560C10A6240B1A4DB98310176FA9D86C</vt:lpwstr>
  </property>
  <property fmtid="{D5CDD505-2E9C-101B-9397-08002B2CF9AE}" pid="3" name="MediaServiceImageTags">
    <vt:lpwstr/>
  </property>
</Properties>
</file>