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8" r:id="rId6"/>
    <p:sldId id="259" r:id="rId7"/>
    <p:sldId id="260" r:id="rId8"/>
    <p:sldId id="261" r:id="rId9"/>
    <p:sldId id="262" r:id="rId10"/>
    <p:sldId id="263" r:id="rId11"/>
    <p:sldId id="282" r:id="rId12"/>
    <p:sldId id="283" r:id="rId13"/>
    <p:sldId id="266" r:id="rId14"/>
    <p:sldId id="284" r:id="rId15"/>
    <p:sldId id="285" r:id="rId16"/>
    <p:sldId id="269" r:id="rId17"/>
    <p:sldId id="271" r:id="rId18"/>
    <p:sldId id="273" r:id="rId19"/>
    <p:sldId id="274" r:id="rId20"/>
    <p:sldId id="280" r:id="rId21"/>
    <p:sldId id="275" r:id="rId22"/>
    <p:sldId id="28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7B2CC6-26B4-48E7-B18F-CE55405DB2CD}" v="48" dt="2026-05-23T14:47:22.242"/>
    <p1510:client id="{D33C1811-CA99-58B1-0BE3-21D0396BB763}" v="2" dt="2026-05-24T12:31:17.8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napToObjects="1">
      <p:cViewPr varScale="1">
        <p:scale>
          <a:sx n="83" d="100"/>
          <a:sy n="83" d="100"/>
        </p:scale>
        <p:origin x="435"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bey, Manish (Cognizant)" userId="S::2371402@cognizant.com::a50a5a91-7942-4cd4-a0f5-47e4a96abf7f" providerId="AD" clId="Web-{D33C1811-CA99-58B1-0BE3-21D0396BB763}"/>
    <pc:docChg chg="sldOrd">
      <pc:chgData name="Dubey, Manish (Cognizant)" userId="S::2371402@cognizant.com::a50a5a91-7942-4cd4-a0f5-47e4a96abf7f" providerId="AD" clId="Web-{D33C1811-CA99-58B1-0BE3-21D0396BB763}" dt="2026-05-24T12:31:17.817" v="1"/>
      <pc:docMkLst>
        <pc:docMk/>
      </pc:docMkLst>
      <pc:sldChg chg="ord">
        <pc:chgData name="Dubey, Manish (Cognizant)" userId="S::2371402@cognizant.com::a50a5a91-7942-4cd4-a0f5-47e4a96abf7f" providerId="AD" clId="Web-{D33C1811-CA99-58B1-0BE3-21D0396BB763}" dt="2026-05-24T12:31:05.723" v="0"/>
        <pc:sldMkLst>
          <pc:docMk/>
          <pc:sldMk cId="0" sldId="280"/>
        </pc:sldMkLst>
      </pc:sldChg>
      <pc:sldChg chg="ord">
        <pc:chgData name="Dubey, Manish (Cognizant)" userId="S::2371402@cognizant.com::a50a5a91-7942-4cd4-a0f5-47e4a96abf7f" providerId="AD" clId="Web-{D33C1811-CA99-58B1-0BE3-21D0396BB763}" dt="2026-05-24T12:31:17.817" v="1"/>
        <pc:sldMkLst>
          <pc:docMk/>
          <pc:sldMk cId="0" sldId="281"/>
        </pc:sldMkLst>
      </pc:sldChg>
    </pc:docChg>
  </pc:docChgLst>
  <pc:docChgLst>
    <pc:chgData name="Vasapilli, Venkateswaramma (Cognizant)" userId="5d6181c3-31b7-4cdf-b869-a73168a4cc66" providerId="ADAL" clId="{831FCA6E-DA30-4629-8629-C2EC9055A6C7}"/>
    <pc:docChg chg="undo custSel modSld">
      <pc:chgData name="Vasapilli, Venkateswaramma (Cognizant)" userId="5d6181c3-31b7-4cdf-b869-a73168a4cc66" providerId="ADAL" clId="{831FCA6E-DA30-4629-8629-C2EC9055A6C7}" dt="2026-05-23T14:50:02.524" v="80" actId="20577"/>
      <pc:docMkLst>
        <pc:docMk/>
      </pc:docMkLst>
      <pc:sldChg chg="modSp mod modTransition">
        <pc:chgData name="Vasapilli, Venkateswaramma (Cognizant)" userId="5d6181c3-31b7-4cdf-b869-a73168a4cc66" providerId="ADAL" clId="{831FCA6E-DA30-4629-8629-C2EC9055A6C7}" dt="2026-05-23T14:41:41.207" v="38"/>
        <pc:sldMkLst>
          <pc:docMk/>
          <pc:sldMk cId="0" sldId="256"/>
        </pc:sldMkLst>
        <pc:spChg chg="mod">
          <ac:chgData name="Vasapilli, Venkateswaramma (Cognizant)" userId="5d6181c3-31b7-4cdf-b869-a73168a4cc66" providerId="ADAL" clId="{831FCA6E-DA30-4629-8629-C2EC9055A6C7}" dt="2026-05-23T14:33:14.057" v="1" actId="20577"/>
          <ac:spMkLst>
            <pc:docMk/>
            <pc:sldMk cId="0" sldId="256"/>
            <ac:spMk id="8" creationId="{00000000-0000-0000-0000-000000000000}"/>
          </ac:spMkLst>
        </pc:spChg>
      </pc:sldChg>
      <pc:sldChg chg="modTransition">
        <pc:chgData name="Vasapilli, Venkateswaramma (Cognizant)" userId="5d6181c3-31b7-4cdf-b869-a73168a4cc66" providerId="ADAL" clId="{831FCA6E-DA30-4629-8629-C2EC9055A6C7}" dt="2026-05-23T14:42:01.277" v="40"/>
        <pc:sldMkLst>
          <pc:docMk/>
          <pc:sldMk cId="0" sldId="257"/>
        </pc:sldMkLst>
      </pc:sldChg>
      <pc:sldChg chg="modTransition">
        <pc:chgData name="Vasapilli, Venkateswaramma (Cognizant)" userId="5d6181c3-31b7-4cdf-b869-a73168a4cc66" providerId="ADAL" clId="{831FCA6E-DA30-4629-8629-C2EC9055A6C7}" dt="2026-05-23T14:42:10.711" v="41"/>
        <pc:sldMkLst>
          <pc:docMk/>
          <pc:sldMk cId="0" sldId="258"/>
        </pc:sldMkLst>
      </pc:sldChg>
      <pc:sldChg chg="modTransition">
        <pc:chgData name="Vasapilli, Venkateswaramma (Cognizant)" userId="5d6181c3-31b7-4cdf-b869-a73168a4cc66" providerId="ADAL" clId="{831FCA6E-DA30-4629-8629-C2EC9055A6C7}" dt="2026-05-23T14:43:03.633" v="43"/>
        <pc:sldMkLst>
          <pc:docMk/>
          <pc:sldMk cId="0" sldId="259"/>
        </pc:sldMkLst>
      </pc:sldChg>
      <pc:sldChg chg="modTransition">
        <pc:chgData name="Vasapilli, Venkateswaramma (Cognizant)" userId="5d6181c3-31b7-4cdf-b869-a73168a4cc66" providerId="ADAL" clId="{831FCA6E-DA30-4629-8629-C2EC9055A6C7}" dt="2026-05-23T14:43:10.551" v="44"/>
        <pc:sldMkLst>
          <pc:docMk/>
          <pc:sldMk cId="0" sldId="260"/>
        </pc:sldMkLst>
      </pc:sldChg>
      <pc:sldChg chg="modSp mod modTransition">
        <pc:chgData name="Vasapilli, Venkateswaramma (Cognizant)" userId="5d6181c3-31b7-4cdf-b869-a73168a4cc66" providerId="ADAL" clId="{831FCA6E-DA30-4629-8629-C2EC9055A6C7}" dt="2026-05-23T14:43:24.214" v="45"/>
        <pc:sldMkLst>
          <pc:docMk/>
          <pc:sldMk cId="0" sldId="261"/>
        </pc:sldMkLst>
        <pc:picChg chg="mod">
          <ac:chgData name="Vasapilli, Venkateswaramma (Cognizant)" userId="5d6181c3-31b7-4cdf-b869-a73168a4cc66" providerId="ADAL" clId="{831FCA6E-DA30-4629-8629-C2EC9055A6C7}" dt="2026-05-23T14:36:59.157" v="7" actId="1440"/>
          <ac:picMkLst>
            <pc:docMk/>
            <pc:sldMk cId="0" sldId="261"/>
            <ac:picMk id="99" creationId="{00000000-0000-0000-0000-000000000000}"/>
          </ac:picMkLst>
        </pc:picChg>
      </pc:sldChg>
      <pc:sldChg chg="modTransition">
        <pc:chgData name="Vasapilli, Venkateswaramma (Cognizant)" userId="5d6181c3-31b7-4cdf-b869-a73168a4cc66" providerId="ADAL" clId="{831FCA6E-DA30-4629-8629-C2EC9055A6C7}" dt="2026-05-23T14:43:43.381" v="47"/>
        <pc:sldMkLst>
          <pc:docMk/>
          <pc:sldMk cId="0" sldId="262"/>
        </pc:sldMkLst>
      </pc:sldChg>
      <pc:sldChg chg="modSp mod modTransition">
        <pc:chgData name="Vasapilli, Venkateswaramma (Cognizant)" userId="5d6181c3-31b7-4cdf-b869-a73168a4cc66" providerId="ADAL" clId="{831FCA6E-DA30-4629-8629-C2EC9055A6C7}" dt="2026-05-23T14:43:54.570" v="48"/>
        <pc:sldMkLst>
          <pc:docMk/>
          <pc:sldMk cId="0" sldId="263"/>
        </pc:sldMkLst>
        <pc:picChg chg="mod">
          <ac:chgData name="Vasapilli, Venkateswaramma (Cognizant)" userId="5d6181c3-31b7-4cdf-b869-a73168a4cc66" providerId="ADAL" clId="{831FCA6E-DA30-4629-8629-C2EC9055A6C7}" dt="2026-05-23T14:37:26.868" v="8" actId="1440"/>
          <ac:picMkLst>
            <pc:docMk/>
            <pc:sldMk cId="0" sldId="263"/>
            <ac:picMk id="99" creationId="{00000000-0000-0000-0000-000000000000}"/>
          </ac:picMkLst>
        </pc:picChg>
      </pc:sldChg>
      <pc:sldChg chg="modSp mod modTransition">
        <pc:chgData name="Vasapilli, Venkateswaramma (Cognizant)" userId="5d6181c3-31b7-4cdf-b869-a73168a4cc66" providerId="ADAL" clId="{831FCA6E-DA30-4629-8629-C2EC9055A6C7}" dt="2026-05-23T14:44:05.209" v="49"/>
        <pc:sldMkLst>
          <pc:docMk/>
          <pc:sldMk cId="0" sldId="264"/>
        </pc:sldMkLst>
        <pc:picChg chg="mod">
          <ac:chgData name="Vasapilli, Venkateswaramma (Cognizant)" userId="5d6181c3-31b7-4cdf-b869-a73168a4cc66" providerId="ADAL" clId="{831FCA6E-DA30-4629-8629-C2EC9055A6C7}" dt="2026-05-23T14:38:02.697" v="10" actId="1440"/>
          <ac:picMkLst>
            <pc:docMk/>
            <pc:sldMk cId="0" sldId="264"/>
            <ac:picMk id="99" creationId="{00000000-0000-0000-0000-000000000000}"/>
          </ac:picMkLst>
        </pc:picChg>
      </pc:sldChg>
      <pc:sldChg chg="modSp mod modTransition">
        <pc:chgData name="Vasapilli, Venkateswaramma (Cognizant)" userId="5d6181c3-31b7-4cdf-b869-a73168a4cc66" providerId="ADAL" clId="{831FCA6E-DA30-4629-8629-C2EC9055A6C7}" dt="2026-05-23T14:44:17.876" v="50"/>
        <pc:sldMkLst>
          <pc:docMk/>
          <pc:sldMk cId="0" sldId="265"/>
        </pc:sldMkLst>
        <pc:picChg chg="mod">
          <ac:chgData name="Vasapilli, Venkateswaramma (Cognizant)" userId="5d6181c3-31b7-4cdf-b869-a73168a4cc66" providerId="ADAL" clId="{831FCA6E-DA30-4629-8629-C2EC9055A6C7}" dt="2026-05-23T14:38:18.813" v="11" actId="1440"/>
          <ac:picMkLst>
            <pc:docMk/>
            <pc:sldMk cId="0" sldId="265"/>
            <ac:picMk id="99" creationId="{00000000-0000-0000-0000-000000000000}"/>
          </ac:picMkLst>
        </pc:picChg>
      </pc:sldChg>
      <pc:sldChg chg="modTransition">
        <pc:chgData name="Vasapilli, Venkateswaramma (Cognizant)" userId="5d6181c3-31b7-4cdf-b869-a73168a4cc66" providerId="ADAL" clId="{831FCA6E-DA30-4629-8629-C2EC9055A6C7}" dt="2026-05-23T14:44:28.307" v="51"/>
        <pc:sldMkLst>
          <pc:docMk/>
          <pc:sldMk cId="0" sldId="266"/>
        </pc:sldMkLst>
      </pc:sldChg>
      <pc:sldChg chg="modSp mod modTransition">
        <pc:chgData name="Vasapilli, Venkateswaramma (Cognizant)" userId="5d6181c3-31b7-4cdf-b869-a73168a4cc66" providerId="ADAL" clId="{831FCA6E-DA30-4629-8629-C2EC9055A6C7}" dt="2026-05-23T14:44:37.096" v="52"/>
        <pc:sldMkLst>
          <pc:docMk/>
          <pc:sldMk cId="0" sldId="267"/>
        </pc:sldMkLst>
        <pc:picChg chg="mod">
          <ac:chgData name="Vasapilli, Venkateswaramma (Cognizant)" userId="5d6181c3-31b7-4cdf-b869-a73168a4cc66" providerId="ADAL" clId="{831FCA6E-DA30-4629-8629-C2EC9055A6C7}" dt="2026-05-23T14:38:31.130" v="12" actId="1440"/>
          <ac:picMkLst>
            <pc:docMk/>
            <pc:sldMk cId="0" sldId="267"/>
            <ac:picMk id="99" creationId="{00000000-0000-0000-0000-000000000000}"/>
          </ac:picMkLst>
        </pc:picChg>
      </pc:sldChg>
      <pc:sldChg chg="modSp mod modTransition">
        <pc:chgData name="Vasapilli, Venkateswaramma (Cognizant)" userId="5d6181c3-31b7-4cdf-b869-a73168a4cc66" providerId="ADAL" clId="{831FCA6E-DA30-4629-8629-C2EC9055A6C7}" dt="2026-05-23T14:44:50.829" v="53"/>
        <pc:sldMkLst>
          <pc:docMk/>
          <pc:sldMk cId="0" sldId="268"/>
        </pc:sldMkLst>
        <pc:picChg chg="mod">
          <ac:chgData name="Vasapilli, Venkateswaramma (Cognizant)" userId="5d6181c3-31b7-4cdf-b869-a73168a4cc66" providerId="ADAL" clId="{831FCA6E-DA30-4629-8629-C2EC9055A6C7}" dt="2026-05-23T14:39:12.937" v="18" actId="1440"/>
          <ac:picMkLst>
            <pc:docMk/>
            <pc:sldMk cId="0" sldId="268"/>
            <ac:picMk id="20" creationId="{00000000-0000-0000-0000-000000000000}"/>
          </ac:picMkLst>
        </pc:picChg>
        <pc:picChg chg="mod">
          <ac:chgData name="Vasapilli, Venkateswaramma (Cognizant)" userId="5d6181c3-31b7-4cdf-b869-a73168a4cc66" providerId="ADAL" clId="{831FCA6E-DA30-4629-8629-C2EC9055A6C7}" dt="2026-05-23T14:39:12.247" v="17" actId="1440"/>
          <ac:picMkLst>
            <pc:docMk/>
            <pc:sldMk cId="0" sldId="268"/>
            <ac:picMk id="21" creationId="{00000000-0000-0000-0000-000000000000}"/>
          </ac:picMkLst>
        </pc:picChg>
        <pc:picChg chg="mod">
          <ac:chgData name="Vasapilli, Venkateswaramma (Cognizant)" userId="5d6181c3-31b7-4cdf-b869-a73168a4cc66" providerId="ADAL" clId="{831FCA6E-DA30-4629-8629-C2EC9055A6C7}" dt="2026-05-23T14:39:11.513" v="16" actId="1440"/>
          <ac:picMkLst>
            <pc:docMk/>
            <pc:sldMk cId="0" sldId="268"/>
            <ac:picMk id="22" creationId="{00000000-0000-0000-0000-000000000000}"/>
          </ac:picMkLst>
        </pc:picChg>
      </pc:sldChg>
      <pc:sldChg chg="modSp mod modTransition">
        <pc:chgData name="Vasapilli, Venkateswaramma (Cognizant)" userId="5d6181c3-31b7-4cdf-b869-a73168a4cc66" providerId="ADAL" clId="{831FCA6E-DA30-4629-8629-C2EC9055A6C7}" dt="2026-05-23T14:45:03.075" v="54"/>
        <pc:sldMkLst>
          <pc:docMk/>
          <pc:sldMk cId="0" sldId="269"/>
        </pc:sldMkLst>
        <pc:picChg chg="mod">
          <ac:chgData name="Vasapilli, Venkateswaramma (Cognizant)" userId="5d6181c3-31b7-4cdf-b869-a73168a4cc66" providerId="ADAL" clId="{831FCA6E-DA30-4629-8629-C2EC9055A6C7}" dt="2026-05-23T14:39:32.344" v="19" actId="1440"/>
          <ac:picMkLst>
            <pc:docMk/>
            <pc:sldMk cId="0" sldId="269"/>
            <ac:picMk id="99" creationId="{00000000-0000-0000-0000-000000000000}"/>
          </ac:picMkLst>
        </pc:picChg>
      </pc:sldChg>
      <pc:sldChg chg="modSp mod modTransition">
        <pc:chgData name="Vasapilli, Venkateswaramma (Cognizant)" userId="5d6181c3-31b7-4cdf-b869-a73168a4cc66" providerId="ADAL" clId="{831FCA6E-DA30-4629-8629-C2EC9055A6C7}" dt="2026-05-23T14:45:13.163" v="55"/>
        <pc:sldMkLst>
          <pc:docMk/>
          <pc:sldMk cId="0" sldId="270"/>
        </pc:sldMkLst>
        <pc:picChg chg="mod">
          <ac:chgData name="Vasapilli, Venkateswaramma (Cognizant)" userId="5d6181c3-31b7-4cdf-b869-a73168a4cc66" providerId="ADAL" clId="{831FCA6E-DA30-4629-8629-C2EC9055A6C7}" dt="2026-05-23T14:39:46.264" v="20" actId="1440"/>
          <ac:picMkLst>
            <pc:docMk/>
            <pc:sldMk cId="0" sldId="270"/>
            <ac:picMk id="99" creationId="{00000000-0000-0000-0000-000000000000}"/>
          </ac:picMkLst>
        </pc:picChg>
      </pc:sldChg>
      <pc:sldChg chg="modSp mod modTransition">
        <pc:chgData name="Vasapilli, Venkateswaramma (Cognizant)" userId="5d6181c3-31b7-4cdf-b869-a73168a4cc66" providerId="ADAL" clId="{831FCA6E-DA30-4629-8629-C2EC9055A6C7}" dt="2026-05-23T14:45:22.771" v="56"/>
        <pc:sldMkLst>
          <pc:docMk/>
          <pc:sldMk cId="0" sldId="271"/>
        </pc:sldMkLst>
        <pc:picChg chg="mod">
          <ac:chgData name="Vasapilli, Venkateswaramma (Cognizant)" userId="5d6181c3-31b7-4cdf-b869-a73168a4cc66" providerId="ADAL" clId="{831FCA6E-DA30-4629-8629-C2EC9055A6C7}" dt="2026-05-23T14:39:56.306" v="21" actId="1440"/>
          <ac:picMkLst>
            <pc:docMk/>
            <pc:sldMk cId="0" sldId="271"/>
            <ac:picMk id="99" creationId="{00000000-0000-0000-0000-000000000000}"/>
          </ac:picMkLst>
        </pc:picChg>
      </pc:sldChg>
      <pc:sldChg chg="modSp mod modTransition">
        <pc:chgData name="Vasapilli, Venkateswaramma (Cognizant)" userId="5d6181c3-31b7-4cdf-b869-a73168a4cc66" providerId="ADAL" clId="{831FCA6E-DA30-4629-8629-C2EC9055A6C7}" dt="2026-05-23T14:45:41.135" v="58"/>
        <pc:sldMkLst>
          <pc:docMk/>
          <pc:sldMk cId="0" sldId="272"/>
        </pc:sldMkLst>
        <pc:picChg chg="mod">
          <ac:chgData name="Vasapilli, Venkateswaramma (Cognizant)" userId="5d6181c3-31b7-4cdf-b869-a73168a4cc66" providerId="ADAL" clId="{831FCA6E-DA30-4629-8629-C2EC9055A6C7}" dt="2026-05-23T14:40:04.573" v="22" actId="1440"/>
          <ac:picMkLst>
            <pc:docMk/>
            <pc:sldMk cId="0" sldId="272"/>
            <ac:picMk id="99" creationId="{00000000-0000-0000-0000-000000000000}"/>
          </ac:picMkLst>
        </pc:picChg>
      </pc:sldChg>
      <pc:sldChg chg="modSp mod modTransition">
        <pc:chgData name="Vasapilli, Venkateswaramma (Cognizant)" userId="5d6181c3-31b7-4cdf-b869-a73168a4cc66" providerId="ADAL" clId="{831FCA6E-DA30-4629-8629-C2EC9055A6C7}" dt="2026-05-23T14:45:49.423" v="59"/>
        <pc:sldMkLst>
          <pc:docMk/>
          <pc:sldMk cId="0" sldId="273"/>
        </pc:sldMkLst>
        <pc:picChg chg="mod">
          <ac:chgData name="Vasapilli, Venkateswaramma (Cognizant)" userId="5d6181c3-31b7-4cdf-b869-a73168a4cc66" providerId="ADAL" clId="{831FCA6E-DA30-4629-8629-C2EC9055A6C7}" dt="2026-05-23T14:40:12.922" v="23" actId="1440"/>
          <ac:picMkLst>
            <pc:docMk/>
            <pc:sldMk cId="0" sldId="273"/>
            <ac:picMk id="99" creationId="{00000000-0000-0000-0000-000000000000}"/>
          </ac:picMkLst>
        </pc:picChg>
      </pc:sldChg>
      <pc:sldChg chg="modTransition">
        <pc:chgData name="Vasapilli, Venkateswaramma (Cognizant)" userId="5d6181c3-31b7-4cdf-b869-a73168a4cc66" providerId="ADAL" clId="{831FCA6E-DA30-4629-8629-C2EC9055A6C7}" dt="2026-05-23T14:45:55.918" v="60"/>
        <pc:sldMkLst>
          <pc:docMk/>
          <pc:sldMk cId="0" sldId="274"/>
        </pc:sldMkLst>
      </pc:sldChg>
      <pc:sldChg chg="modTransition">
        <pc:chgData name="Vasapilli, Venkateswaramma (Cognizant)" userId="5d6181c3-31b7-4cdf-b869-a73168a4cc66" providerId="ADAL" clId="{831FCA6E-DA30-4629-8629-C2EC9055A6C7}" dt="2026-05-23T14:46:04.700" v="61"/>
        <pc:sldMkLst>
          <pc:docMk/>
          <pc:sldMk cId="0" sldId="275"/>
        </pc:sldMkLst>
      </pc:sldChg>
      <pc:sldChg chg="modSp mod modTransition">
        <pc:chgData name="Vasapilli, Venkateswaramma (Cognizant)" userId="5d6181c3-31b7-4cdf-b869-a73168a4cc66" providerId="ADAL" clId="{831FCA6E-DA30-4629-8629-C2EC9055A6C7}" dt="2026-05-23T14:46:20.999" v="64"/>
        <pc:sldMkLst>
          <pc:docMk/>
          <pc:sldMk cId="0" sldId="276"/>
        </pc:sldMkLst>
        <pc:picChg chg="mod">
          <ac:chgData name="Vasapilli, Venkateswaramma (Cognizant)" userId="5d6181c3-31b7-4cdf-b869-a73168a4cc66" providerId="ADAL" clId="{831FCA6E-DA30-4629-8629-C2EC9055A6C7}" dt="2026-05-23T14:40:21.718" v="24" actId="1440"/>
          <ac:picMkLst>
            <pc:docMk/>
            <pc:sldMk cId="0" sldId="276"/>
            <ac:picMk id="20" creationId="{00000000-0000-0000-0000-000000000000}"/>
          </ac:picMkLst>
        </pc:picChg>
      </pc:sldChg>
      <pc:sldChg chg="modSp mod modTransition">
        <pc:chgData name="Vasapilli, Venkateswaramma (Cognizant)" userId="5d6181c3-31b7-4cdf-b869-a73168a4cc66" providerId="ADAL" clId="{831FCA6E-DA30-4629-8629-C2EC9055A6C7}" dt="2026-05-23T14:46:33.473" v="67"/>
        <pc:sldMkLst>
          <pc:docMk/>
          <pc:sldMk cId="0" sldId="277"/>
        </pc:sldMkLst>
        <pc:picChg chg="mod">
          <ac:chgData name="Vasapilli, Venkateswaramma (Cognizant)" userId="5d6181c3-31b7-4cdf-b869-a73168a4cc66" providerId="ADAL" clId="{831FCA6E-DA30-4629-8629-C2EC9055A6C7}" dt="2026-05-23T14:40:29.371" v="25" actId="1440"/>
          <ac:picMkLst>
            <pc:docMk/>
            <pc:sldMk cId="0" sldId="277"/>
            <ac:picMk id="20" creationId="{00000000-0000-0000-0000-000000000000}"/>
          </ac:picMkLst>
        </pc:picChg>
      </pc:sldChg>
      <pc:sldChg chg="modTransition">
        <pc:chgData name="Vasapilli, Venkateswaramma (Cognizant)" userId="5d6181c3-31b7-4cdf-b869-a73168a4cc66" providerId="ADAL" clId="{831FCA6E-DA30-4629-8629-C2EC9055A6C7}" dt="2026-05-23T14:46:44.448" v="68"/>
        <pc:sldMkLst>
          <pc:docMk/>
          <pc:sldMk cId="0" sldId="278"/>
        </pc:sldMkLst>
      </pc:sldChg>
      <pc:sldChg chg="modSp mod modTransition">
        <pc:chgData name="Vasapilli, Venkateswaramma (Cognizant)" userId="5d6181c3-31b7-4cdf-b869-a73168a4cc66" providerId="ADAL" clId="{831FCA6E-DA30-4629-8629-C2EC9055A6C7}" dt="2026-05-23T14:46:55.638" v="69"/>
        <pc:sldMkLst>
          <pc:docMk/>
          <pc:sldMk cId="0" sldId="279"/>
        </pc:sldMkLst>
        <pc:picChg chg="mod">
          <ac:chgData name="Vasapilli, Venkateswaramma (Cognizant)" userId="5d6181c3-31b7-4cdf-b869-a73168a4cc66" providerId="ADAL" clId="{831FCA6E-DA30-4629-8629-C2EC9055A6C7}" dt="2026-05-23T14:40:37.902" v="26" actId="1440"/>
          <ac:picMkLst>
            <pc:docMk/>
            <pc:sldMk cId="0" sldId="279"/>
            <ac:picMk id="99" creationId="{00000000-0000-0000-0000-000000000000}"/>
          </ac:picMkLst>
        </pc:picChg>
      </pc:sldChg>
      <pc:sldChg chg="modSp mod modTransition">
        <pc:chgData name="Vasapilli, Venkateswaramma (Cognizant)" userId="5d6181c3-31b7-4cdf-b869-a73168a4cc66" providerId="ADAL" clId="{831FCA6E-DA30-4629-8629-C2EC9055A6C7}" dt="2026-05-23T14:47:02.733" v="70"/>
        <pc:sldMkLst>
          <pc:docMk/>
          <pc:sldMk cId="0" sldId="280"/>
        </pc:sldMkLst>
        <pc:spChg chg="mod">
          <ac:chgData name="Vasapilli, Venkateswaramma (Cognizant)" userId="5d6181c3-31b7-4cdf-b869-a73168a4cc66" providerId="ADAL" clId="{831FCA6E-DA30-4629-8629-C2EC9055A6C7}" dt="2026-05-23T14:35:16.563" v="6"/>
          <ac:spMkLst>
            <pc:docMk/>
            <pc:sldMk cId="0" sldId="280"/>
            <ac:spMk id="7" creationId="{00000000-0000-0000-0000-000000000000}"/>
          </ac:spMkLst>
        </pc:spChg>
      </pc:sldChg>
      <pc:sldChg chg="modSp mod modTransition">
        <pc:chgData name="Vasapilli, Venkateswaramma (Cognizant)" userId="5d6181c3-31b7-4cdf-b869-a73168a4cc66" providerId="ADAL" clId="{831FCA6E-DA30-4629-8629-C2EC9055A6C7}" dt="2026-05-23T14:50:02.524" v="80" actId="20577"/>
        <pc:sldMkLst>
          <pc:docMk/>
          <pc:sldMk cId="0" sldId="281"/>
        </pc:sldMkLst>
        <pc:spChg chg="mod">
          <ac:chgData name="Vasapilli, Venkateswaramma (Cognizant)" userId="5d6181c3-31b7-4cdf-b869-a73168a4cc66" providerId="ADAL" clId="{831FCA6E-DA30-4629-8629-C2EC9055A6C7}" dt="2026-05-23T14:50:02.524" v="80" actId="20577"/>
          <ac:spMkLst>
            <pc:docMk/>
            <pc:sldMk cId="0" sldId="281"/>
            <ac:spMk id="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p:blipFill>
        <p:spPr>
          <a:xfrm>
            <a:off x="0" y="0"/>
            <a:ext cx="12192000" cy="6858000"/>
          </a:xfrm>
          <a:prstGeom prst="rect">
            <a:avLst/>
          </a:prstGeom>
        </p:spPr>
      </p:pic>
      <p:pic>
        <p:nvPicPr>
          <p:cNvPr id="6" name="CognizantLogo"/>
          <p:cNvPicPr>
            <a:picLocks noChangeAspect="1"/>
          </p:cNvPicPr>
          <p:nvPr/>
        </p:nvPicPr>
        <p:blipFill>
          <a:blip r:embed="rId3"/>
          <a:stretch/>
        </p:blipFill>
        <p:spPr>
          <a:xfrm>
            <a:off x="457200" y="411480"/>
            <a:ext cx="2286000" cy="411480"/>
          </a:xfrm>
          <a:prstGeom prst="rect">
            <a:avLst/>
          </a:prstGeom>
        </p:spPr>
      </p:pic>
      <p:sp>
        <p:nvSpPr>
          <p:cNvPr id="7" name="TextBox 6"/>
          <p:cNvSpPr txBox="1"/>
          <p:nvPr/>
        </p:nvSpPr>
        <p:spPr>
          <a:xfrm>
            <a:off x="640080" y="2103120"/>
            <a:ext cx="7772400" cy="1393138"/>
          </a:xfrm>
          <a:prstGeom prst="rect">
            <a:avLst/>
          </a:prstGeom>
          <a:noFill/>
        </p:spPr>
        <p:txBody>
          <a:bodyPr wrap="square" lIns="0" tIns="0" rIns="0" bIns="0" anchor="t">
            <a:spAutoFit/>
          </a:bodyPr>
          <a:lstStyle/>
          <a:p>
            <a:pPr algn="l">
              <a:lnSpc>
                <a:spcPct val="105000"/>
              </a:lnSpc>
            </a:pPr>
            <a:r>
              <a:rPr lang="en-US" sz="4400" b="1" dirty="0">
                <a:solidFill>
                  <a:srgbClr val="FFFFFF"/>
                </a:solidFill>
                <a:latin typeface="Calibri"/>
              </a:rPr>
              <a:t>Document Upload Portal</a:t>
            </a:r>
            <a:r>
              <a:rPr sz="4400" b="1" dirty="0">
                <a:solidFill>
                  <a:srgbClr val="FFFFFF"/>
                </a:solidFill>
                <a:latin typeface="Calibri"/>
              </a:rPr>
              <a:t> –</a:t>
            </a:r>
          </a:p>
          <a:p>
            <a:pPr algn="l">
              <a:lnSpc>
                <a:spcPct val="105000"/>
              </a:lnSpc>
            </a:pPr>
            <a:r>
              <a:rPr sz="4400" b="1" dirty="0">
                <a:solidFill>
                  <a:srgbClr val="FFFFFF"/>
                </a:solidFill>
                <a:latin typeface="Calibri"/>
              </a:rPr>
              <a:t>ARCHITECTURE &amp; DESIGN</a:t>
            </a:r>
          </a:p>
        </p:txBody>
      </p:sp>
      <p:sp>
        <p:nvSpPr>
          <p:cNvPr id="8" name="TextBox 7"/>
          <p:cNvSpPr txBox="1"/>
          <p:nvPr/>
        </p:nvSpPr>
        <p:spPr>
          <a:xfrm>
            <a:off x="640080" y="4114800"/>
            <a:ext cx="7315200" cy="299826"/>
          </a:xfrm>
          <a:prstGeom prst="rect">
            <a:avLst/>
          </a:prstGeom>
          <a:noFill/>
        </p:spPr>
        <p:txBody>
          <a:bodyPr wrap="square" lIns="0" tIns="0" rIns="0" bIns="0" anchor="t">
            <a:spAutoFit/>
          </a:bodyPr>
          <a:lstStyle/>
          <a:p>
            <a:pPr algn="l">
              <a:lnSpc>
                <a:spcPct val="115000"/>
              </a:lnSpc>
            </a:pPr>
            <a:r>
              <a:rPr lang="en-US" sz="1800" b="0" dirty="0">
                <a:solidFill>
                  <a:srgbClr val="E8ECF4"/>
                </a:solidFill>
                <a:latin typeface="Calibri"/>
              </a:rPr>
              <a:t>Sprint</a:t>
            </a:r>
            <a:r>
              <a:rPr sz="1800" b="0" dirty="0">
                <a:solidFill>
                  <a:srgbClr val="E8ECF4"/>
                </a:solidFill>
                <a:latin typeface="Calibri"/>
              </a:rPr>
              <a:t> </a:t>
            </a:r>
            <a:r>
              <a:rPr lang="en-IN" dirty="0">
                <a:solidFill>
                  <a:srgbClr val="E8ECF4"/>
                </a:solidFill>
                <a:latin typeface="Calibri"/>
              </a:rPr>
              <a:t>1</a:t>
            </a:r>
            <a:r>
              <a:rPr sz="1800" b="0" dirty="0">
                <a:solidFill>
                  <a:srgbClr val="E8ECF4"/>
                </a:solidFill>
                <a:latin typeface="Calibri"/>
              </a:rPr>
              <a:t> – UPGRADE </a:t>
            </a:r>
            <a:r>
              <a:rPr lang="en-US" sz="1800" b="0" dirty="0">
                <a:solidFill>
                  <a:srgbClr val="E8ECF4"/>
                </a:solidFill>
                <a:latin typeface="Calibri"/>
              </a:rPr>
              <a:t>2</a:t>
            </a:r>
            <a:r>
              <a:rPr sz="1800" b="0" dirty="0">
                <a:solidFill>
                  <a:srgbClr val="E8ECF4"/>
                </a:solidFill>
                <a:latin typeface="Calibri"/>
              </a:rPr>
              <a:t> ARCHITECT</a:t>
            </a:r>
          </a:p>
        </p:txBody>
      </p:sp>
      <p:sp>
        <p:nvSpPr>
          <p:cNvPr id="9" name="TextBox 8"/>
          <p:cNvSpPr txBox="1"/>
          <p:nvPr/>
        </p:nvSpPr>
        <p:spPr>
          <a:xfrm>
            <a:off x="640080" y="4572000"/>
            <a:ext cx="7315200" cy="233205"/>
          </a:xfrm>
          <a:prstGeom prst="rect">
            <a:avLst/>
          </a:prstGeom>
          <a:noFill/>
        </p:spPr>
        <p:txBody>
          <a:bodyPr wrap="square" lIns="0" tIns="0" rIns="0" bIns="0" anchor="t">
            <a:spAutoFit/>
          </a:bodyPr>
          <a:lstStyle/>
          <a:p>
            <a:pPr algn="l">
              <a:lnSpc>
                <a:spcPct val="115000"/>
              </a:lnSpc>
            </a:pPr>
            <a:r>
              <a:rPr lang="en-US" sz="1400" b="1" dirty="0">
                <a:solidFill>
                  <a:srgbClr val="B8C6E3"/>
                </a:solidFill>
                <a:latin typeface="Calibri"/>
              </a:rPr>
              <a:t>June</a:t>
            </a:r>
            <a:r>
              <a:rPr sz="1400" b="1" dirty="0">
                <a:solidFill>
                  <a:srgbClr val="B8C6E3"/>
                </a:solidFill>
                <a:latin typeface="Calibri"/>
              </a:rPr>
              <a:t> 2026</a:t>
            </a:r>
          </a:p>
        </p:txBody>
      </p:sp>
      <p:sp>
        <p:nvSpPr>
          <p:cNvPr id="10" name="TextBox 9"/>
          <p:cNvSpPr txBox="1"/>
          <p:nvPr/>
        </p:nvSpPr>
        <p:spPr>
          <a:xfrm>
            <a:off x="640080" y="5120640"/>
            <a:ext cx="7315200" cy="199927"/>
          </a:xfrm>
          <a:prstGeom prst="rect">
            <a:avLst/>
          </a:prstGeom>
          <a:noFill/>
        </p:spPr>
        <p:txBody>
          <a:bodyPr wrap="square" lIns="0" tIns="0" rIns="0" bIns="0" anchor="t">
            <a:spAutoFit/>
          </a:bodyPr>
          <a:lstStyle/>
          <a:p>
            <a:pPr algn="l">
              <a:lnSpc>
                <a:spcPct val="115000"/>
              </a:lnSpc>
            </a:pPr>
            <a:r>
              <a:rPr lang="en-US" sz="1200" dirty="0">
                <a:solidFill>
                  <a:srgbClr val="B8C6E3"/>
                </a:solidFill>
                <a:latin typeface="Calibri"/>
              </a:rPr>
              <a:t>Shashi Shekhar</a:t>
            </a:r>
            <a:r>
              <a:rPr sz="1200" b="0" dirty="0">
                <a:solidFill>
                  <a:srgbClr val="B8C6E3"/>
                </a:solidFill>
                <a:latin typeface="Calibri"/>
              </a:rPr>
              <a:t>  ·  Technical Lead</a:t>
            </a:r>
          </a:p>
        </p:txBody>
      </p:sp>
      <p:sp>
        <p:nvSpPr>
          <p:cNvPr id="11" name="TextBox 10"/>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1</a:t>
            </a:r>
          </a:p>
        </p:txBody>
      </p:sp>
      <p:sp>
        <p:nvSpPr>
          <p:cNvPr id="12" name="TextBox 11"/>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AGENDA</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554480"/>
            <a:ext cx="2697480" cy="457200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91640"/>
            <a:ext cx="2423160" cy="548640"/>
          </a:xfrm>
          <a:prstGeom prst="rect">
            <a:avLst/>
          </a:prstGeom>
          <a:noFill/>
        </p:spPr>
        <p:txBody>
          <a:bodyPr wrap="square" lIns="0" tIns="0" rIns="0" bIns="0" anchor="t">
            <a:spAutoFit/>
          </a:bodyPr>
          <a:lstStyle/>
          <a:p>
            <a:pPr algn="r">
              <a:lnSpc>
                <a:spcPct val="115000"/>
              </a:lnSpc>
            </a:pPr>
            <a:r>
              <a:rPr sz="2000" b="1">
                <a:solidFill>
                  <a:srgbClr val="FFFFFF"/>
                </a:solidFill>
                <a:latin typeface="Calibri"/>
              </a:rPr>
              <a:t>Architecture</a:t>
            </a:r>
          </a:p>
        </p:txBody>
      </p:sp>
      <p:sp>
        <p:nvSpPr>
          <p:cNvPr id="7" name="TextBox 6"/>
          <p:cNvSpPr txBox="1"/>
          <p:nvPr/>
        </p:nvSpPr>
        <p:spPr>
          <a:xfrm>
            <a:off x="685800" y="2468880"/>
            <a:ext cx="2423160" cy="365760"/>
          </a:xfrm>
          <a:prstGeom prst="rect">
            <a:avLst/>
          </a:prstGeom>
          <a:noFill/>
        </p:spPr>
        <p:txBody>
          <a:bodyPr wrap="square" lIns="0" tIns="0" rIns="0" bIns="0" anchor="t">
            <a:spAutoFit/>
          </a:bodyPr>
          <a:lstStyle/>
          <a:p>
            <a:pPr algn="l">
              <a:lnSpc>
                <a:spcPct val="115000"/>
              </a:lnSpc>
            </a:pPr>
            <a:r>
              <a:rPr sz="1100" b="1">
                <a:solidFill>
                  <a:srgbClr val="1E88E5"/>
                </a:solidFill>
                <a:latin typeface="Calibri"/>
              </a:rPr>
              <a:t>Section 01</a:t>
            </a:r>
          </a:p>
        </p:txBody>
      </p:sp>
      <p:sp>
        <p:nvSpPr>
          <p:cNvPr id="8" name="TextBox 7"/>
          <p:cNvSpPr txBox="1"/>
          <p:nvPr/>
        </p:nvSpPr>
        <p:spPr>
          <a:xfrm>
            <a:off x="731520" y="3108960"/>
            <a:ext cx="2331720" cy="2743200"/>
          </a:xfrm>
          <a:prstGeom prst="rect">
            <a:avLst/>
          </a:prstGeom>
          <a:noFill/>
        </p:spPr>
        <p:txBody>
          <a:bodyPr wrap="square" lIns="0" tIns="0">
            <a:spAutoFit/>
          </a:bodyPr>
          <a:lstStyle/>
          <a:p>
            <a:pPr algn="l">
              <a:lnSpc>
                <a:spcPct val="125000"/>
              </a:lnSpc>
            </a:pPr>
            <a:r>
              <a:rPr sz="1100">
                <a:solidFill>
                  <a:srgbClr val="E8ECF4"/>
                </a:solidFill>
                <a:latin typeface="Calibri"/>
              </a:rPr>
              <a:t>•  Problem statement &amp; requirements</a:t>
            </a:r>
          </a:p>
          <a:p>
            <a:pPr algn="l">
              <a:lnSpc>
                <a:spcPct val="125000"/>
              </a:lnSpc>
            </a:pPr>
            <a:r>
              <a:rPr sz="1100">
                <a:solidFill>
                  <a:srgbClr val="E8ECF4"/>
                </a:solidFill>
                <a:latin typeface="Calibri"/>
              </a:rPr>
              <a:t>•  Technology stack</a:t>
            </a:r>
          </a:p>
          <a:p>
            <a:pPr algn="l">
              <a:lnSpc>
                <a:spcPct val="125000"/>
              </a:lnSpc>
            </a:pPr>
            <a:r>
              <a:rPr sz="1100">
                <a:solidFill>
                  <a:srgbClr val="E8ECF4"/>
                </a:solidFill>
                <a:latin typeface="Calibri"/>
              </a:rPr>
              <a:t>•  High-level &amp; application architecture</a:t>
            </a:r>
          </a:p>
        </p:txBody>
      </p:sp>
      <p:sp>
        <p:nvSpPr>
          <p:cNvPr id="9" name="Rounded Rectangle 8"/>
          <p:cNvSpPr/>
          <p:nvPr/>
        </p:nvSpPr>
        <p:spPr>
          <a:xfrm>
            <a:off x="3364992" y="1554480"/>
            <a:ext cx="2697480" cy="457200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02152" y="1691640"/>
            <a:ext cx="2423160" cy="548640"/>
          </a:xfrm>
          <a:prstGeom prst="rect">
            <a:avLst/>
          </a:prstGeom>
          <a:noFill/>
        </p:spPr>
        <p:txBody>
          <a:bodyPr wrap="square" lIns="0" tIns="0" rIns="0" bIns="0" anchor="t">
            <a:spAutoFit/>
          </a:bodyPr>
          <a:lstStyle/>
          <a:p>
            <a:pPr algn="r">
              <a:lnSpc>
                <a:spcPct val="115000"/>
              </a:lnSpc>
            </a:pPr>
            <a:r>
              <a:rPr sz="2000" b="1">
                <a:solidFill>
                  <a:srgbClr val="FFFFFF"/>
                </a:solidFill>
                <a:latin typeface="Calibri"/>
              </a:rPr>
              <a:t>Design</a:t>
            </a:r>
          </a:p>
        </p:txBody>
      </p:sp>
      <p:sp>
        <p:nvSpPr>
          <p:cNvPr id="11" name="TextBox 10"/>
          <p:cNvSpPr txBox="1"/>
          <p:nvPr/>
        </p:nvSpPr>
        <p:spPr>
          <a:xfrm>
            <a:off x="3502152" y="2468880"/>
            <a:ext cx="2423160" cy="365760"/>
          </a:xfrm>
          <a:prstGeom prst="rect">
            <a:avLst/>
          </a:prstGeom>
          <a:noFill/>
        </p:spPr>
        <p:txBody>
          <a:bodyPr wrap="square" lIns="0" tIns="0" rIns="0" bIns="0" anchor="t">
            <a:spAutoFit/>
          </a:bodyPr>
          <a:lstStyle/>
          <a:p>
            <a:pPr algn="l">
              <a:lnSpc>
                <a:spcPct val="115000"/>
              </a:lnSpc>
            </a:pPr>
            <a:r>
              <a:rPr sz="1100" b="1">
                <a:solidFill>
                  <a:srgbClr val="1E88E5"/>
                </a:solidFill>
                <a:latin typeface="Calibri"/>
              </a:rPr>
              <a:t>Section 02</a:t>
            </a:r>
          </a:p>
        </p:txBody>
      </p:sp>
      <p:sp>
        <p:nvSpPr>
          <p:cNvPr id="12" name="TextBox 11"/>
          <p:cNvSpPr txBox="1"/>
          <p:nvPr/>
        </p:nvSpPr>
        <p:spPr>
          <a:xfrm>
            <a:off x="3547872" y="3108960"/>
            <a:ext cx="2331720" cy="2743200"/>
          </a:xfrm>
          <a:prstGeom prst="rect">
            <a:avLst/>
          </a:prstGeom>
          <a:noFill/>
        </p:spPr>
        <p:txBody>
          <a:bodyPr wrap="square" lIns="0" tIns="0">
            <a:spAutoFit/>
          </a:bodyPr>
          <a:lstStyle/>
          <a:p>
            <a:pPr algn="l">
              <a:lnSpc>
                <a:spcPct val="125000"/>
              </a:lnSpc>
            </a:pPr>
            <a:r>
              <a:rPr sz="1100">
                <a:solidFill>
                  <a:srgbClr val="E8ECF4"/>
                </a:solidFill>
                <a:latin typeface="Calibri"/>
              </a:rPr>
              <a:t>•  Authentication &amp; API design</a:t>
            </a:r>
          </a:p>
          <a:p>
            <a:pPr algn="l">
              <a:lnSpc>
                <a:spcPct val="125000"/>
              </a:lnSpc>
            </a:pPr>
            <a:r>
              <a:rPr sz="1100">
                <a:solidFill>
                  <a:srgbClr val="E8ECF4"/>
                </a:solidFill>
                <a:latin typeface="Calibri"/>
              </a:rPr>
              <a:t>•  Database ER diagram</a:t>
            </a:r>
          </a:p>
          <a:p>
            <a:pPr algn="l">
              <a:lnSpc>
                <a:spcPct val="125000"/>
              </a:lnSpc>
            </a:pPr>
            <a:r>
              <a:rPr sz="1100">
                <a:solidFill>
                  <a:srgbClr val="E8ECF4"/>
                </a:solidFill>
                <a:latin typeface="Calibri"/>
              </a:rPr>
              <a:t>•  Class &amp; sequence diagrams</a:t>
            </a:r>
          </a:p>
        </p:txBody>
      </p:sp>
      <p:sp>
        <p:nvSpPr>
          <p:cNvPr id="13" name="Rounded Rectangle 12"/>
          <p:cNvSpPr/>
          <p:nvPr/>
        </p:nvSpPr>
        <p:spPr>
          <a:xfrm>
            <a:off x="6181344" y="1554480"/>
            <a:ext cx="2697480" cy="457200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18504" y="1691640"/>
            <a:ext cx="2423160" cy="548640"/>
          </a:xfrm>
          <a:prstGeom prst="rect">
            <a:avLst/>
          </a:prstGeom>
          <a:noFill/>
        </p:spPr>
        <p:txBody>
          <a:bodyPr wrap="square" lIns="0" tIns="0" rIns="0" bIns="0" anchor="t">
            <a:spAutoFit/>
          </a:bodyPr>
          <a:lstStyle/>
          <a:p>
            <a:pPr algn="r">
              <a:lnSpc>
                <a:spcPct val="115000"/>
              </a:lnSpc>
            </a:pPr>
            <a:r>
              <a:rPr sz="2000" b="1">
                <a:solidFill>
                  <a:srgbClr val="FFFFFF"/>
                </a:solidFill>
                <a:latin typeface="Calibri"/>
              </a:rPr>
              <a:t>Infrastructure</a:t>
            </a:r>
          </a:p>
        </p:txBody>
      </p:sp>
      <p:sp>
        <p:nvSpPr>
          <p:cNvPr id="15" name="TextBox 14"/>
          <p:cNvSpPr txBox="1"/>
          <p:nvPr/>
        </p:nvSpPr>
        <p:spPr>
          <a:xfrm>
            <a:off x="6318504" y="2468880"/>
            <a:ext cx="2423160" cy="365760"/>
          </a:xfrm>
          <a:prstGeom prst="rect">
            <a:avLst/>
          </a:prstGeom>
          <a:noFill/>
        </p:spPr>
        <p:txBody>
          <a:bodyPr wrap="square" lIns="0" tIns="0" rIns="0" bIns="0" anchor="t">
            <a:spAutoFit/>
          </a:bodyPr>
          <a:lstStyle/>
          <a:p>
            <a:pPr algn="l">
              <a:lnSpc>
                <a:spcPct val="115000"/>
              </a:lnSpc>
            </a:pPr>
            <a:r>
              <a:rPr sz="1100" b="1">
                <a:solidFill>
                  <a:srgbClr val="1E88E5"/>
                </a:solidFill>
                <a:latin typeface="Calibri"/>
              </a:rPr>
              <a:t>Section 03</a:t>
            </a:r>
          </a:p>
        </p:txBody>
      </p:sp>
      <p:sp>
        <p:nvSpPr>
          <p:cNvPr id="16" name="TextBox 15"/>
          <p:cNvSpPr txBox="1"/>
          <p:nvPr/>
        </p:nvSpPr>
        <p:spPr>
          <a:xfrm>
            <a:off x="6364224" y="3108960"/>
            <a:ext cx="2331720" cy="453714"/>
          </a:xfrm>
          <a:prstGeom prst="rect">
            <a:avLst/>
          </a:prstGeom>
          <a:noFill/>
        </p:spPr>
        <p:txBody>
          <a:bodyPr wrap="square" lIns="0" tIns="0">
            <a:spAutoFit/>
          </a:bodyPr>
          <a:lstStyle/>
          <a:p>
            <a:pPr algn="l">
              <a:lnSpc>
                <a:spcPct val="125000"/>
              </a:lnSpc>
            </a:pPr>
            <a:r>
              <a:rPr sz="1100" dirty="0">
                <a:solidFill>
                  <a:srgbClr val="E8ECF4"/>
                </a:solidFill>
                <a:latin typeface="Calibri"/>
              </a:rPr>
              <a:t>•  Component diagram</a:t>
            </a:r>
          </a:p>
          <a:p>
            <a:pPr algn="l">
              <a:lnSpc>
                <a:spcPct val="125000"/>
              </a:lnSpc>
            </a:pPr>
            <a:r>
              <a:rPr sz="1100" dirty="0">
                <a:solidFill>
                  <a:srgbClr val="E8ECF4"/>
                </a:solidFill>
                <a:latin typeface="Calibri"/>
              </a:rPr>
              <a:t>•  Deployment architecture</a:t>
            </a:r>
          </a:p>
        </p:txBody>
      </p:sp>
      <p:sp>
        <p:nvSpPr>
          <p:cNvPr id="17" name="Rounded Rectangle 16"/>
          <p:cNvSpPr/>
          <p:nvPr/>
        </p:nvSpPr>
        <p:spPr>
          <a:xfrm>
            <a:off x="8997696" y="1554480"/>
            <a:ext cx="2697480" cy="457200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34856" y="1691640"/>
            <a:ext cx="2423160" cy="548640"/>
          </a:xfrm>
          <a:prstGeom prst="rect">
            <a:avLst/>
          </a:prstGeom>
          <a:noFill/>
        </p:spPr>
        <p:txBody>
          <a:bodyPr wrap="square" lIns="0" tIns="0" rIns="0" bIns="0" anchor="t">
            <a:spAutoFit/>
          </a:bodyPr>
          <a:lstStyle/>
          <a:p>
            <a:pPr algn="r">
              <a:lnSpc>
                <a:spcPct val="115000"/>
              </a:lnSpc>
            </a:pPr>
            <a:r>
              <a:rPr sz="2000" b="1">
                <a:solidFill>
                  <a:srgbClr val="FFFFFF"/>
                </a:solidFill>
                <a:latin typeface="Calibri"/>
              </a:rPr>
              <a:t>Operations</a:t>
            </a:r>
          </a:p>
        </p:txBody>
      </p:sp>
      <p:sp>
        <p:nvSpPr>
          <p:cNvPr id="19" name="TextBox 18"/>
          <p:cNvSpPr txBox="1"/>
          <p:nvPr/>
        </p:nvSpPr>
        <p:spPr>
          <a:xfrm>
            <a:off x="9134856" y="2468880"/>
            <a:ext cx="2423160" cy="365760"/>
          </a:xfrm>
          <a:prstGeom prst="rect">
            <a:avLst/>
          </a:prstGeom>
          <a:noFill/>
        </p:spPr>
        <p:txBody>
          <a:bodyPr wrap="square" lIns="0" tIns="0" rIns="0" bIns="0" anchor="t">
            <a:spAutoFit/>
          </a:bodyPr>
          <a:lstStyle/>
          <a:p>
            <a:pPr algn="l">
              <a:lnSpc>
                <a:spcPct val="115000"/>
              </a:lnSpc>
            </a:pPr>
            <a:r>
              <a:rPr sz="1100" b="1">
                <a:solidFill>
                  <a:srgbClr val="1E88E5"/>
                </a:solidFill>
                <a:latin typeface="Calibri"/>
              </a:rPr>
              <a:t>Section 04</a:t>
            </a:r>
          </a:p>
        </p:txBody>
      </p:sp>
      <p:sp>
        <p:nvSpPr>
          <p:cNvPr id="20" name="TextBox 19"/>
          <p:cNvSpPr txBox="1"/>
          <p:nvPr/>
        </p:nvSpPr>
        <p:spPr>
          <a:xfrm>
            <a:off x="9180576" y="3114711"/>
            <a:ext cx="2331720" cy="2743200"/>
          </a:xfrm>
          <a:prstGeom prst="rect">
            <a:avLst/>
          </a:prstGeom>
          <a:noFill/>
        </p:spPr>
        <p:txBody>
          <a:bodyPr wrap="square" lIns="0" tIns="0">
            <a:spAutoFit/>
          </a:bodyPr>
          <a:lstStyle/>
          <a:p>
            <a:pPr algn="l">
              <a:lnSpc>
                <a:spcPct val="125000"/>
              </a:lnSpc>
            </a:pPr>
            <a:r>
              <a:rPr sz="1100">
                <a:solidFill>
                  <a:srgbClr val="E8ECF4"/>
                </a:solidFill>
                <a:latin typeface="Calibri"/>
              </a:rPr>
              <a:t>•  Security &amp; compliance</a:t>
            </a:r>
          </a:p>
          <a:p>
            <a:pPr algn="l">
              <a:lnSpc>
                <a:spcPct val="125000"/>
              </a:lnSpc>
            </a:pPr>
            <a:r>
              <a:rPr sz="1100">
                <a:solidFill>
                  <a:srgbClr val="E8ECF4"/>
                </a:solidFill>
                <a:latin typeface="Calibri"/>
              </a:rPr>
              <a:t>•  Monitoring &amp; logging</a:t>
            </a:r>
          </a:p>
          <a:p>
            <a:pPr algn="l">
              <a:lnSpc>
                <a:spcPct val="125000"/>
              </a:lnSpc>
            </a:pPr>
            <a:r>
              <a:rPr sz="1100">
                <a:solidFill>
                  <a:srgbClr val="E8ECF4"/>
                </a:solidFill>
                <a:latin typeface="Calibri"/>
              </a:rPr>
              <a:t>•  Performance, scalability &amp; future-state</a:t>
            </a:r>
          </a:p>
        </p:txBody>
      </p:sp>
      <p:sp>
        <p:nvSpPr>
          <p:cNvPr id="21" name="TextBox 20"/>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3</a:t>
            </a:r>
          </a:p>
        </p:txBody>
      </p:sp>
      <p:sp>
        <p:nvSpPr>
          <p:cNvPr id="22" name="TextBox 21"/>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PROBLEM STATEMENT</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0"/>
            <a:ext cx="5300069" cy="1799467"/>
          </a:xfrm>
          <a:prstGeom prst="rect">
            <a:avLst/>
          </a:prstGeom>
          <a:noFill/>
        </p:spPr>
        <p:txBody>
          <a:bodyPr wrap="square" lIns="0" tIns="0" rIns="0" bIns="0" anchor="t">
            <a:spAutoFit/>
          </a:bodyPr>
          <a:lstStyle/>
          <a:p>
            <a:pPr algn="just">
              <a:lnSpc>
                <a:spcPct val="130000"/>
              </a:lnSpc>
            </a:pPr>
            <a:r>
              <a:rPr lang="en-IN" sz="1300" dirty="0">
                <a:solidFill>
                  <a:srgbClr val="E8ECF4"/>
                </a:solidFill>
                <a:latin typeface="Calibri"/>
              </a:rPr>
              <a:t>Organizations require a secure and centralized platform to upload, store, and preview image documents while enforcing role-based access controls. Existing manual or shared-storage approaches lack proper authentication, ownership tracking, scalability, auditability, and secure document management. The Document Upload Portal addresses these challenges by providing a cloud-native solution built on Microsoft Azure for secure image upload, storage, retrieval, and governance.</a:t>
            </a:r>
            <a:endParaRPr lang="en-US" sz="1300" dirty="0">
              <a:solidFill>
                <a:srgbClr val="E8ECF4"/>
              </a:solidFill>
              <a:latin typeface="Calibri"/>
            </a:endParaRPr>
          </a:p>
        </p:txBody>
      </p:sp>
      <p:sp>
        <p:nvSpPr>
          <p:cNvPr id="6" name="TextBox 5"/>
          <p:cNvSpPr txBox="1"/>
          <p:nvPr/>
        </p:nvSpPr>
        <p:spPr>
          <a:xfrm>
            <a:off x="6583680" y="1463040"/>
            <a:ext cx="5120640" cy="457200"/>
          </a:xfrm>
          <a:prstGeom prst="rect">
            <a:avLst/>
          </a:prstGeom>
          <a:noFill/>
        </p:spPr>
        <p:txBody>
          <a:bodyPr wrap="square" lIns="0" tIns="0" rIns="0" bIns="0" anchor="t">
            <a:spAutoFit/>
          </a:bodyPr>
          <a:lstStyle/>
          <a:p>
            <a:pPr algn="l">
              <a:lnSpc>
                <a:spcPct val="115000"/>
              </a:lnSpc>
            </a:pPr>
            <a:r>
              <a:rPr sz="1400" b="1" dirty="0">
                <a:solidFill>
                  <a:srgbClr val="FFFFFF"/>
                </a:solidFill>
                <a:latin typeface="Calibri"/>
              </a:rPr>
              <a:t>Key challenges driving this initiative:</a:t>
            </a:r>
          </a:p>
        </p:txBody>
      </p:sp>
      <p:sp>
        <p:nvSpPr>
          <p:cNvPr id="7" name="TextBox 6"/>
          <p:cNvSpPr txBox="1"/>
          <p:nvPr/>
        </p:nvSpPr>
        <p:spPr>
          <a:xfrm>
            <a:off x="6583680" y="1920240"/>
            <a:ext cx="5120640" cy="3478581"/>
          </a:xfrm>
          <a:prstGeom prst="rect">
            <a:avLst/>
          </a:prstGeom>
          <a:noFill/>
        </p:spPr>
        <p:txBody>
          <a:bodyPr wrap="square" lIns="0" tIns="0">
            <a:spAutoFit/>
          </a:bodyPr>
          <a:lstStyle/>
          <a:p>
            <a:r>
              <a:rPr lang="en-IN" sz="1300" dirty="0">
                <a:solidFill>
                  <a:srgbClr val="E8ECF4"/>
                </a:solidFill>
                <a:latin typeface="Calibri"/>
              </a:rPr>
              <a:t>• Secure Authentication &amp; Authorization – Ensure only authorized users can access and manage documents using Azure Entra ID and RBAC.</a:t>
            </a:r>
          </a:p>
          <a:p>
            <a:r>
              <a:rPr lang="en-IN" sz="1300" dirty="0">
                <a:solidFill>
                  <a:srgbClr val="E8ECF4"/>
                </a:solidFill>
                <a:latin typeface="Calibri"/>
              </a:rPr>
              <a:t>• Centralized Document Management – Provide a single platform for uploading, storing, and previewing image files.</a:t>
            </a:r>
          </a:p>
          <a:p>
            <a:r>
              <a:rPr lang="en-IN" sz="1300" dirty="0">
                <a:solidFill>
                  <a:srgbClr val="E8ECF4"/>
                </a:solidFill>
                <a:latin typeface="Calibri"/>
              </a:rPr>
              <a:t>• Ownership &amp; Access Control – Restrict document access based on user roles and ownership.</a:t>
            </a:r>
          </a:p>
          <a:p>
            <a:r>
              <a:rPr lang="en-IN" sz="1300" dirty="0">
                <a:solidFill>
                  <a:srgbClr val="E8ECF4"/>
                </a:solidFill>
                <a:latin typeface="Calibri"/>
              </a:rPr>
              <a:t>• Scalability &amp; Performance – Support growing document volumes and concurrent users without impacting performance.</a:t>
            </a:r>
          </a:p>
          <a:p>
            <a:r>
              <a:rPr lang="en-IN" sz="1300" dirty="0">
                <a:solidFill>
                  <a:srgbClr val="E8ECF4"/>
                </a:solidFill>
                <a:latin typeface="Calibri"/>
              </a:rPr>
              <a:t>• Secure Storage &amp; Metadata Management – Store image files securely in Azure Blob Storage while maintaining metadata in Azure SQL Database.</a:t>
            </a:r>
          </a:p>
          <a:p>
            <a:r>
              <a:rPr lang="en-IN" sz="1300" dirty="0">
                <a:solidFill>
                  <a:srgbClr val="E8ECF4"/>
                </a:solidFill>
                <a:latin typeface="Calibri"/>
              </a:rPr>
              <a:t>• Compliance &amp; Auditability – Enable logging, monitoring, and traceability of user activities.</a:t>
            </a:r>
          </a:p>
          <a:p>
            <a:r>
              <a:rPr lang="en-IN" sz="1300" dirty="0">
                <a:solidFill>
                  <a:srgbClr val="E8ECF4"/>
                </a:solidFill>
                <a:latin typeface="Calibri"/>
              </a:rPr>
              <a:t>• Operational Visibility – Provide real-time monitoring, telemetry, alerting, and health insights for proactive support.</a:t>
            </a:r>
          </a:p>
          <a:p>
            <a:pPr algn="just"/>
            <a:r>
              <a:rPr lang="en-IN" sz="1300" dirty="0">
                <a:solidFill>
                  <a:srgbClr val="E8ECF4"/>
                </a:solidFill>
                <a:latin typeface="Calibri"/>
              </a:rPr>
              <a:t>• Cloud-Native Architecture – Leverage Azure managed services to improve reliability, security, maintainability, and cost efficiency.</a:t>
            </a:r>
          </a:p>
          <a:p>
            <a:pPr algn="l">
              <a:lnSpc>
                <a:spcPct val="125000"/>
              </a:lnSpc>
            </a:pPr>
            <a:endParaRPr sz="1300" dirty="0">
              <a:solidFill>
                <a:srgbClr val="E8ECF4"/>
              </a:solidFill>
              <a:latin typeface="Calibri"/>
            </a:endParaRPr>
          </a:p>
        </p:txBody>
      </p:sp>
      <p:sp>
        <p:nvSpPr>
          <p:cNvPr id="8" name="TextBox 7"/>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4</a:t>
            </a:r>
          </a:p>
        </p:txBody>
      </p:sp>
      <p:sp>
        <p:nvSpPr>
          <p:cNvPr id="9" name="TextBox 8"/>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REQUIREMENTS OVERVIEW</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30352" y="1417320"/>
            <a:ext cx="2697480" cy="484632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554480"/>
            <a:ext cx="2423160" cy="548640"/>
          </a:xfrm>
          <a:prstGeom prst="rect">
            <a:avLst/>
          </a:prstGeom>
          <a:noFill/>
        </p:spPr>
        <p:txBody>
          <a:bodyPr wrap="square" lIns="0" tIns="0" rIns="0" bIns="0" anchor="t">
            <a:spAutoFit/>
          </a:bodyPr>
          <a:lstStyle/>
          <a:p>
            <a:pPr algn="r">
              <a:lnSpc>
                <a:spcPct val="115000"/>
              </a:lnSpc>
            </a:pPr>
            <a:r>
              <a:rPr sz="1800" b="1">
                <a:solidFill>
                  <a:srgbClr val="FFFFFF"/>
                </a:solidFill>
                <a:latin typeface="Calibri"/>
              </a:rPr>
              <a:t>Functional</a:t>
            </a:r>
          </a:p>
        </p:txBody>
      </p:sp>
      <p:sp>
        <p:nvSpPr>
          <p:cNvPr id="8" name="TextBox 7"/>
          <p:cNvSpPr txBox="1"/>
          <p:nvPr/>
        </p:nvSpPr>
        <p:spPr>
          <a:xfrm>
            <a:off x="731520" y="2270174"/>
            <a:ext cx="2331720" cy="1723292"/>
          </a:xfrm>
          <a:prstGeom prst="rect">
            <a:avLst/>
          </a:prstGeom>
          <a:noFill/>
        </p:spPr>
        <p:txBody>
          <a:bodyPr wrap="square" lIns="0" tIns="0">
            <a:spAutoFit/>
          </a:bodyPr>
          <a:lstStyle/>
          <a:p>
            <a:pPr>
              <a:lnSpc>
                <a:spcPct val="125000"/>
              </a:lnSpc>
            </a:pPr>
            <a:r>
              <a:rPr lang="en-IN" sz="1100" dirty="0">
                <a:solidFill>
                  <a:srgbClr val="E8ECF4"/>
                </a:solidFill>
                <a:latin typeface="Calibri"/>
              </a:rPr>
              <a:t>• User Authentication</a:t>
            </a:r>
            <a:br>
              <a:rPr lang="en-IN" sz="1100" dirty="0">
                <a:solidFill>
                  <a:srgbClr val="E8ECF4"/>
                </a:solidFill>
                <a:latin typeface="Calibri"/>
              </a:rPr>
            </a:br>
            <a:r>
              <a:rPr lang="en-IN" sz="1100" dirty="0">
                <a:solidFill>
                  <a:srgbClr val="E8ECF4"/>
                </a:solidFill>
                <a:latin typeface="Calibri"/>
              </a:rPr>
              <a:t>• Role-Based Access Control (Admin, Uploader, Viewer)</a:t>
            </a:r>
            <a:br>
              <a:rPr lang="en-IN" sz="1100" dirty="0">
                <a:solidFill>
                  <a:srgbClr val="E8ECF4"/>
                </a:solidFill>
                <a:latin typeface="Calibri"/>
              </a:rPr>
            </a:br>
            <a:r>
              <a:rPr lang="en-IN" sz="1100" dirty="0">
                <a:solidFill>
                  <a:srgbClr val="E8ECF4"/>
                </a:solidFill>
                <a:latin typeface="Calibri"/>
              </a:rPr>
              <a:t>• Secure Image Upload (JPG, PNG, GIF)</a:t>
            </a:r>
            <a:br>
              <a:rPr lang="en-IN" sz="1100" dirty="0">
                <a:solidFill>
                  <a:srgbClr val="E8ECF4"/>
                </a:solidFill>
                <a:latin typeface="Calibri"/>
              </a:rPr>
            </a:br>
            <a:r>
              <a:rPr lang="en-IN" sz="1100" dirty="0">
                <a:solidFill>
                  <a:srgbClr val="E8ECF4"/>
                </a:solidFill>
                <a:latin typeface="Calibri"/>
              </a:rPr>
              <a:t>• Image Preview and Retrieval</a:t>
            </a:r>
            <a:br>
              <a:rPr lang="en-IN" sz="1100" dirty="0">
                <a:solidFill>
                  <a:srgbClr val="E8ECF4"/>
                </a:solidFill>
                <a:latin typeface="Calibri"/>
              </a:rPr>
            </a:br>
            <a:r>
              <a:rPr lang="en-IN" sz="1100" dirty="0">
                <a:solidFill>
                  <a:srgbClr val="E8ECF4"/>
                </a:solidFill>
                <a:latin typeface="Calibri"/>
              </a:rPr>
              <a:t>• Image Metadata Management</a:t>
            </a:r>
            <a:br>
              <a:rPr lang="en-IN" sz="1100" dirty="0">
                <a:solidFill>
                  <a:srgbClr val="E8ECF4"/>
                </a:solidFill>
                <a:latin typeface="Calibri"/>
              </a:rPr>
            </a:br>
            <a:r>
              <a:rPr lang="en-IN" sz="1100" dirty="0">
                <a:solidFill>
                  <a:srgbClr val="E8ECF4"/>
                </a:solidFill>
                <a:latin typeface="Calibri"/>
              </a:rPr>
              <a:t>• Dashboard and Upload Status Tracking</a:t>
            </a:r>
            <a:endParaRPr sz="1100" dirty="0">
              <a:solidFill>
                <a:srgbClr val="E8ECF4"/>
              </a:solidFill>
              <a:latin typeface="Calibri"/>
            </a:endParaRPr>
          </a:p>
        </p:txBody>
      </p:sp>
      <p:sp>
        <p:nvSpPr>
          <p:cNvPr id="9" name="Rounded Rectangle 8"/>
          <p:cNvSpPr/>
          <p:nvPr/>
        </p:nvSpPr>
        <p:spPr>
          <a:xfrm>
            <a:off x="3346704" y="1417320"/>
            <a:ext cx="2697480" cy="484632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3502152" y="1554480"/>
            <a:ext cx="2423160" cy="548640"/>
          </a:xfrm>
          <a:prstGeom prst="rect">
            <a:avLst/>
          </a:prstGeom>
          <a:noFill/>
        </p:spPr>
        <p:txBody>
          <a:bodyPr wrap="square" lIns="0" tIns="0" rIns="0" bIns="0" anchor="t">
            <a:spAutoFit/>
          </a:bodyPr>
          <a:lstStyle/>
          <a:p>
            <a:pPr algn="r">
              <a:lnSpc>
                <a:spcPct val="115000"/>
              </a:lnSpc>
            </a:pPr>
            <a:r>
              <a:rPr sz="1800" b="1">
                <a:solidFill>
                  <a:srgbClr val="FFFFFF"/>
                </a:solidFill>
                <a:latin typeface="Calibri"/>
              </a:rPr>
              <a:t>Features</a:t>
            </a:r>
          </a:p>
        </p:txBody>
      </p:sp>
      <p:sp>
        <p:nvSpPr>
          <p:cNvPr id="12" name="TextBox 11"/>
          <p:cNvSpPr txBox="1"/>
          <p:nvPr/>
        </p:nvSpPr>
        <p:spPr>
          <a:xfrm>
            <a:off x="3547872" y="2240280"/>
            <a:ext cx="2331720" cy="1934889"/>
          </a:xfrm>
          <a:prstGeom prst="rect">
            <a:avLst/>
          </a:prstGeom>
          <a:noFill/>
        </p:spPr>
        <p:txBody>
          <a:bodyPr wrap="square" lIns="0" tIns="0">
            <a:spAutoFit/>
          </a:bodyPr>
          <a:lstStyle/>
          <a:p>
            <a:pPr>
              <a:lnSpc>
                <a:spcPct val="125000"/>
              </a:lnSpc>
            </a:pPr>
            <a:r>
              <a:rPr lang="en-IN" sz="1100" dirty="0">
                <a:solidFill>
                  <a:srgbClr val="E8ECF4"/>
                </a:solidFill>
                <a:latin typeface="Calibri"/>
              </a:rPr>
              <a:t>• Centralized Document/Image Repository</a:t>
            </a:r>
            <a:br>
              <a:rPr lang="en-IN" sz="1100" dirty="0">
                <a:solidFill>
                  <a:srgbClr val="E8ECF4"/>
                </a:solidFill>
                <a:latin typeface="Calibri"/>
              </a:rPr>
            </a:br>
            <a:r>
              <a:rPr lang="en-IN" sz="1100" dirty="0">
                <a:solidFill>
                  <a:srgbClr val="E8ECF4"/>
                </a:solidFill>
                <a:latin typeface="Calibri"/>
              </a:rPr>
              <a:t>• Azure Blob Storage Integration</a:t>
            </a:r>
            <a:br>
              <a:rPr lang="en-IN" sz="1100" dirty="0">
                <a:solidFill>
                  <a:srgbClr val="E8ECF4"/>
                </a:solidFill>
                <a:latin typeface="Calibri"/>
              </a:rPr>
            </a:br>
            <a:r>
              <a:rPr lang="en-IN" sz="1100" dirty="0">
                <a:solidFill>
                  <a:srgbClr val="E8ECF4"/>
                </a:solidFill>
                <a:latin typeface="Calibri"/>
              </a:rPr>
              <a:t>• Metadata Storage in Azure SQL Database</a:t>
            </a:r>
            <a:br>
              <a:rPr lang="en-IN" sz="1100" dirty="0">
                <a:solidFill>
                  <a:srgbClr val="E8ECF4"/>
                </a:solidFill>
                <a:latin typeface="Calibri"/>
              </a:rPr>
            </a:br>
            <a:r>
              <a:rPr lang="en-IN" sz="1100" dirty="0">
                <a:solidFill>
                  <a:srgbClr val="E8ECF4"/>
                </a:solidFill>
                <a:latin typeface="Calibri"/>
              </a:rPr>
              <a:t>• JWT-Based Secure API Communication</a:t>
            </a:r>
            <a:br>
              <a:rPr lang="en-IN" sz="1100" dirty="0">
                <a:solidFill>
                  <a:srgbClr val="E8ECF4"/>
                </a:solidFill>
                <a:latin typeface="Calibri"/>
              </a:rPr>
            </a:br>
            <a:r>
              <a:rPr lang="en-IN" sz="1100" dirty="0">
                <a:solidFill>
                  <a:srgbClr val="E8ECF4"/>
                </a:solidFill>
                <a:latin typeface="Calibri"/>
              </a:rPr>
              <a:t>• Real-Time Monitoring and Alerting</a:t>
            </a:r>
            <a:br>
              <a:rPr lang="en-IN" sz="1100" dirty="0">
                <a:solidFill>
                  <a:srgbClr val="E8ECF4"/>
                </a:solidFill>
                <a:latin typeface="Calibri"/>
              </a:rPr>
            </a:br>
            <a:r>
              <a:rPr lang="en-IN" sz="1100" dirty="0">
                <a:solidFill>
                  <a:srgbClr val="E8ECF4"/>
                </a:solidFill>
                <a:latin typeface="Calibri"/>
              </a:rPr>
              <a:t>• Audit Logging and Activity Tracking</a:t>
            </a:r>
          </a:p>
        </p:txBody>
      </p:sp>
      <p:sp>
        <p:nvSpPr>
          <p:cNvPr id="13" name="Rounded Rectangle 12"/>
          <p:cNvSpPr/>
          <p:nvPr/>
        </p:nvSpPr>
        <p:spPr>
          <a:xfrm>
            <a:off x="6227064" y="1417320"/>
            <a:ext cx="2697480" cy="484632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18504" y="1554480"/>
            <a:ext cx="2423160" cy="548640"/>
          </a:xfrm>
          <a:prstGeom prst="rect">
            <a:avLst/>
          </a:prstGeom>
          <a:noFill/>
        </p:spPr>
        <p:txBody>
          <a:bodyPr wrap="square" lIns="0" tIns="0" rIns="0" bIns="0" anchor="t">
            <a:spAutoFit/>
          </a:bodyPr>
          <a:lstStyle/>
          <a:p>
            <a:pPr algn="r">
              <a:lnSpc>
                <a:spcPct val="115000"/>
              </a:lnSpc>
            </a:pPr>
            <a:r>
              <a:rPr sz="1800" b="1">
                <a:solidFill>
                  <a:srgbClr val="FFFFFF"/>
                </a:solidFill>
                <a:latin typeface="Calibri"/>
              </a:rPr>
              <a:t>Non-Functional</a:t>
            </a:r>
          </a:p>
        </p:txBody>
      </p:sp>
      <p:sp>
        <p:nvSpPr>
          <p:cNvPr id="16" name="TextBox 15"/>
          <p:cNvSpPr txBox="1"/>
          <p:nvPr/>
        </p:nvSpPr>
        <p:spPr>
          <a:xfrm>
            <a:off x="6483096" y="2240280"/>
            <a:ext cx="2331720" cy="2781274"/>
          </a:xfrm>
          <a:prstGeom prst="rect">
            <a:avLst/>
          </a:prstGeom>
          <a:noFill/>
        </p:spPr>
        <p:txBody>
          <a:bodyPr wrap="square" lIns="0" tIns="0">
            <a:spAutoFit/>
          </a:bodyPr>
          <a:lstStyle/>
          <a:p>
            <a:pPr>
              <a:lnSpc>
                <a:spcPct val="125000"/>
              </a:lnSpc>
            </a:pPr>
            <a:r>
              <a:rPr lang="en-IN" sz="1100" dirty="0">
                <a:solidFill>
                  <a:srgbClr val="E8ECF4"/>
                </a:solidFill>
                <a:latin typeface="Calibri"/>
              </a:rPr>
              <a:t>• High Availability and Reliability</a:t>
            </a:r>
            <a:br>
              <a:rPr lang="en-IN" sz="1100" dirty="0">
                <a:solidFill>
                  <a:srgbClr val="E8ECF4"/>
                </a:solidFill>
                <a:latin typeface="Calibri"/>
              </a:rPr>
            </a:br>
            <a:r>
              <a:rPr lang="en-IN" sz="1100" dirty="0">
                <a:solidFill>
                  <a:srgbClr val="E8ECF4"/>
                </a:solidFill>
                <a:latin typeface="Calibri"/>
              </a:rPr>
              <a:t>• Scalable Architecture for Future Growth</a:t>
            </a:r>
            <a:br>
              <a:rPr lang="en-IN" sz="1100" dirty="0">
                <a:solidFill>
                  <a:srgbClr val="E8ECF4"/>
                </a:solidFill>
                <a:latin typeface="Calibri"/>
              </a:rPr>
            </a:br>
            <a:r>
              <a:rPr lang="en-IN" sz="1100" dirty="0">
                <a:solidFill>
                  <a:srgbClr val="E8ECF4"/>
                </a:solidFill>
                <a:latin typeface="Calibri"/>
              </a:rPr>
              <a:t>• Enterprise-Grade Security and Compliance</a:t>
            </a:r>
            <a:br>
              <a:rPr lang="en-IN" sz="1100" dirty="0">
                <a:solidFill>
                  <a:srgbClr val="E8ECF4"/>
                </a:solidFill>
                <a:latin typeface="Calibri"/>
              </a:rPr>
            </a:br>
            <a:r>
              <a:rPr lang="en-IN" sz="1100" dirty="0">
                <a:solidFill>
                  <a:srgbClr val="E8ECF4"/>
                </a:solidFill>
                <a:latin typeface="Calibri"/>
              </a:rPr>
              <a:t>• Optimized Performance and Low Latency</a:t>
            </a:r>
            <a:br>
              <a:rPr lang="en-IN" sz="1100" dirty="0">
                <a:solidFill>
                  <a:srgbClr val="E8ECF4"/>
                </a:solidFill>
                <a:latin typeface="Calibri"/>
              </a:rPr>
            </a:br>
            <a:r>
              <a:rPr lang="en-IN" sz="1100" dirty="0">
                <a:solidFill>
                  <a:srgbClr val="E8ECF4"/>
                </a:solidFill>
                <a:latin typeface="Calibri"/>
              </a:rPr>
              <a:t>• Secure Data Storage and Encryption</a:t>
            </a:r>
            <a:br>
              <a:rPr lang="en-IN" sz="1100" dirty="0">
                <a:solidFill>
                  <a:srgbClr val="E8ECF4"/>
                </a:solidFill>
                <a:latin typeface="Calibri"/>
              </a:rPr>
            </a:br>
            <a:r>
              <a:rPr lang="en-IN" sz="1100" dirty="0">
                <a:solidFill>
                  <a:srgbClr val="E8ECF4"/>
                </a:solidFill>
                <a:latin typeface="Calibri"/>
              </a:rPr>
              <a:t>• Comprehensive Logging and Monitoring</a:t>
            </a:r>
            <a:br>
              <a:rPr lang="en-IN" sz="1100" dirty="0">
                <a:solidFill>
                  <a:srgbClr val="E8ECF4"/>
                </a:solidFill>
                <a:latin typeface="Calibri"/>
              </a:rPr>
            </a:br>
            <a:r>
              <a:rPr lang="en-IN" sz="1100" dirty="0">
                <a:solidFill>
                  <a:srgbClr val="E8ECF4"/>
                </a:solidFill>
                <a:latin typeface="Calibri"/>
              </a:rPr>
              <a:t>• Maintainable and Modular Design</a:t>
            </a:r>
            <a:br>
              <a:rPr lang="en-IN" sz="1100" dirty="0">
                <a:solidFill>
                  <a:srgbClr val="E8ECF4"/>
                </a:solidFill>
                <a:latin typeface="Calibri"/>
              </a:rPr>
            </a:br>
            <a:r>
              <a:rPr lang="en-IN" sz="1100" dirty="0">
                <a:solidFill>
                  <a:srgbClr val="E8ECF4"/>
                </a:solidFill>
                <a:latin typeface="Calibri"/>
              </a:rPr>
              <a:t>• Disaster Recovery and Backup Readiness</a:t>
            </a:r>
            <a:endParaRPr sz="1100" dirty="0">
              <a:solidFill>
                <a:srgbClr val="E8ECF4"/>
              </a:solidFill>
              <a:latin typeface="Calibri"/>
            </a:endParaRPr>
          </a:p>
        </p:txBody>
      </p:sp>
      <p:sp>
        <p:nvSpPr>
          <p:cNvPr id="17" name="Rounded Rectangle 16"/>
          <p:cNvSpPr/>
          <p:nvPr/>
        </p:nvSpPr>
        <p:spPr>
          <a:xfrm>
            <a:off x="8997696" y="1417320"/>
            <a:ext cx="2697480" cy="484632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34856" y="1554480"/>
            <a:ext cx="2423160" cy="548640"/>
          </a:xfrm>
          <a:prstGeom prst="rect">
            <a:avLst/>
          </a:prstGeom>
          <a:noFill/>
        </p:spPr>
        <p:txBody>
          <a:bodyPr wrap="square" lIns="0" tIns="0" rIns="0" bIns="0" anchor="t">
            <a:spAutoFit/>
          </a:bodyPr>
          <a:lstStyle/>
          <a:p>
            <a:pPr algn="r">
              <a:lnSpc>
                <a:spcPct val="115000"/>
              </a:lnSpc>
            </a:pPr>
            <a:r>
              <a:rPr sz="1800" b="1">
                <a:solidFill>
                  <a:srgbClr val="FFFFFF"/>
                </a:solidFill>
                <a:latin typeface="Calibri"/>
              </a:rPr>
              <a:t>Quality</a:t>
            </a:r>
          </a:p>
        </p:txBody>
      </p:sp>
      <p:sp>
        <p:nvSpPr>
          <p:cNvPr id="20" name="TextBox 19"/>
          <p:cNvSpPr txBox="1"/>
          <p:nvPr/>
        </p:nvSpPr>
        <p:spPr>
          <a:xfrm>
            <a:off x="9142907" y="2248342"/>
            <a:ext cx="2331720" cy="2146485"/>
          </a:xfrm>
          <a:prstGeom prst="rect">
            <a:avLst/>
          </a:prstGeom>
          <a:noFill/>
        </p:spPr>
        <p:txBody>
          <a:bodyPr wrap="square" lIns="0" tIns="0">
            <a:spAutoFit/>
          </a:bodyPr>
          <a:lstStyle/>
          <a:p>
            <a:pPr marL="171450" indent="-171450">
              <a:lnSpc>
                <a:spcPct val="125000"/>
              </a:lnSpc>
              <a:buFont typeface="Arial" panose="020B0604020202020204" pitchFamily="34" charset="0"/>
              <a:buChar char="•"/>
            </a:pPr>
            <a:r>
              <a:rPr lang="en-IN" sz="1100" dirty="0">
                <a:solidFill>
                  <a:srgbClr val="E8ECF4"/>
                </a:solidFill>
                <a:latin typeface="Calibri"/>
              </a:rPr>
              <a:t>Secure Authentication &amp; Authorization </a:t>
            </a:r>
          </a:p>
          <a:p>
            <a:pPr marL="171450" indent="-171450">
              <a:lnSpc>
                <a:spcPct val="125000"/>
              </a:lnSpc>
              <a:buFont typeface="Arial" panose="020B0604020202020204" pitchFamily="34" charset="0"/>
              <a:buChar char="•"/>
            </a:pPr>
            <a:r>
              <a:rPr lang="en-IN" sz="1100" dirty="0">
                <a:solidFill>
                  <a:srgbClr val="E8ECF4"/>
                </a:solidFill>
                <a:latin typeface="Calibri"/>
              </a:rPr>
              <a:t>Role-Based Access Control (RBAC) </a:t>
            </a:r>
          </a:p>
          <a:p>
            <a:pPr marL="171450" indent="-171450">
              <a:lnSpc>
                <a:spcPct val="125000"/>
              </a:lnSpc>
              <a:buFont typeface="Arial" panose="020B0604020202020204" pitchFamily="34" charset="0"/>
              <a:buChar char="•"/>
            </a:pPr>
            <a:r>
              <a:rPr lang="en-IN" sz="1100" dirty="0">
                <a:solidFill>
                  <a:srgbClr val="E8ECF4"/>
                </a:solidFill>
                <a:latin typeface="Calibri"/>
              </a:rPr>
              <a:t>Image Upload &amp; Preview Management </a:t>
            </a:r>
          </a:p>
          <a:p>
            <a:pPr marL="171450" indent="-171450">
              <a:lnSpc>
                <a:spcPct val="125000"/>
              </a:lnSpc>
              <a:buFont typeface="Arial" panose="020B0604020202020204" pitchFamily="34" charset="0"/>
              <a:buChar char="•"/>
            </a:pPr>
            <a:r>
              <a:rPr lang="en-IN" sz="1100" dirty="0">
                <a:solidFill>
                  <a:srgbClr val="E8ECF4"/>
                </a:solidFill>
                <a:latin typeface="Calibri"/>
              </a:rPr>
              <a:t>Azure Blob Storage Integration </a:t>
            </a:r>
          </a:p>
          <a:p>
            <a:pPr marL="171450" indent="-171450">
              <a:lnSpc>
                <a:spcPct val="125000"/>
              </a:lnSpc>
              <a:buFont typeface="Arial" panose="020B0604020202020204" pitchFamily="34" charset="0"/>
              <a:buChar char="•"/>
            </a:pPr>
            <a:r>
              <a:rPr lang="en-IN" sz="1100" dirty="0">
                <a:solidFill>
                  <a:srgbClr val="E8ECF4"/>
                </a:solidFill>
                <a:latin typeface="Calibri"/>
              </a:rPr>
              <a:t>Azure SQL Metadata Management </a:t>
            </a:r>
          </a:p>
          <a:p>
            <a:pPr marL="171450" indent="-171450">
              <a:lnSpc>
                <a:spcPct val="125000"/>
              </a:lnSpc>
              <a:buFont typeface="Arial" panose="020B0604020202020204" pitchFamily="34" charset="0"/>
              <a:buChar char="•"/>
            </a:pPr>
            <a:r>
              <a:rPr lang="en-IN" sz="1100" dirty="0">
                <a:solidFill>
                  <a:srgbClr val="E8ECF4"/>
                </a:solidFill>
                <a:latin typeface="Calibri"/>
              </a:rPr>
              <a:t>Monitoring, Logging &amp; Auditability </a:t>
            </a:r>
          </a:p>
          <a:p>
            <a:pPr algn="l">
              <a:lnSpc>
                <a:spcPct val="125000"/>
              </a:lnSpc>
            </a:pPr>
            <a:endParaRPr lang="en-IN" sz="1100" dirty="0">
              <a:solidFill>
                <a:srgbClr val="E8ECF4"/>
              </a:solidFill>
              <a:latin typeface="Calibri"/>
            </a:endParaRPr>
          </a:p>
          <a:p>
            <a:pPr algn="l">
              <a:lnSpc>
                <a:spcPct val="125000"/>
              </a:lnSpc>
            </a:pPr>
            <a:endParaRPr lang="en-IN" sz="1100" dirty="0">
              <a:solidFill>
                <a:srgbClr val="E8ECF4"/>
              </a:solidFill>
              <a:latin typeface="Calibri"/>
            </a:endParaRPr>
          </a:p>
        </p:txBody>
      </p:sp>
      <p:sp>
        <p:nvSpPr>
          <p:cNvPr id="21" name="TextBox 20"/>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5</a:t>
            </a:r>
          </a:p>
        </p:txBody>
      </p:sp>
      <p:sp>
        <p:nvSpPr>
          <p:cNvPr id="22" name="TextBox 21"/>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a:p>
        </p:txBody>
      </p:sp>
      <p:sp>
        <p:nvSpPr>
          <p:cNvPr id="3" name="Title"/>
          <p:cNvSpPr txBox="1"/>
          <p:nvPr/>
        </p:nvSpPr>
        <p:spPr>
          <a:xfrm>
            <a:off x="548640" y="411480"/>
            <a:ext cx="11094720" cy="433067"/>
          </a:xfrm>
          <a:prstGeom prst="rect">
            <a:avLst/>
          </a:prstGeom>
          <a:noFill/>
        </p:spPr>
        <p:txBody>
          <a:bodyPr wrap="square" lIns="0" tIns="0" rIns="0" bIns="0" anchor="t">
            <a:spAutoFit/>
          </a:bodyPr>
          <a:lstStyle/>
          <a:p>
            <a:pPr algn="l">
              <a:lnSpc>
                <a:spcPct val="115000"/>
              </a:lnSpc>
            </a:pPr>
            <a:r>
              <a:rPr lang="en-US" sz="2600" b="1" dirty="0">
                <a:solidFill>
                  <a:srgbClr val="FFFFFF"/>
                </a:solidFill>
                <a:latin typeface="Calibri"/>
              </a:rPr>
              <a:t>Document Upload Portal</a:t>
            </a:r>
            <a:r>
              <a:rPr sz="2600" b="1" dirty="0">
                <a:solidFill>
                  <a:srgbClr val="FFFFFF"/>
                </a:solidFill>
                <a:latin typeface="Calibri"/>
              </a:rPr>
              <a:t>— TECHNOLOGY STACK</a:t>
            </a: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Explain"/>
          <p:cNvSpPr txBox="1"/>
          <p:nvPr/>
        </p:nvSpPr>
        <p:spPr>
          <a:xfrm>
            <a:off x="548639" y="1250000"/>
            <a:ext cx="7542937" cy="3290581"/>
          </a:xfrm>
          <a:prstGeom prst="rect">
            <a:avLst/>
          </a:prstGeom>
          <a:noFill/>
        </p:spPr>
        <p:txBody>
          <a:bodyPr wrap="square" lIns="91440" tIns="45720" rIns="91440" bIns="45720">
            <a:spAutoFit/>
          </a:bodyPr>
          <a:lstStyle/>
          <a:p>
            <a:pPr>
              <a:lnSpc>
                <a:spcPct val="130000"/>
              </a:lnSpc>
            </a:pPr>
            <a:r>
              <a:rPr lang="en-IN" sz="1400" b="1" dirty="0">
                <a:solidFill>
                  <a:srgbClr val="00BFFF"/>
                </a:solidFill>
              </a:rPr>
              <a:t>Frontend — .NET Core Web </a:t>
            </a:r>
          </a:p>
          <a:p>
            <a:pPr algn="l">
              <a:lnSpc>
                <a:spcPct val="130000"/>
              </a:lnSpc>
            </a:pPr>
            <a:r>
              <a:rPr sz="1400" b="0" dirty="0">
                <a:solidFill>
                  <a:srgbClr val="E8ECF4"/>
                </a:solidFill>
                <a:latin typeface="Calibri"/>
              </a:rPr>
              <a:t>• </a:t>
            </a:r>
            <a:r>
              <a:rPr lang="en-US" sz="1400" b="0" dirty="0">
                <a:solidFill>
                  <a:srgbClr val="E8ECF4"/>
                </a:solidFill>
                <a:latin typeface="Calibri"/>
              </a:rPr>
              <a:t>Creating Monolith, N-Tier Architecture Web Application using .NET Core Web .</a:t>
            </a:r>
            <a:endParaRPr sz="1400" b="0" dirty="0">
              <a:solidFill>
                <a:srgbClr val="E8ECF4"/>
              </a:solidFill>
              <a:latin typeface="Calibri"/>
            </a:endParaRPr>
          </a:p>
          <a:p>
            <a:pPr algn="l">
              <a:lnSpc>
                <a:spcPct val="130000"/>
              </a:lnSpc>
            </a:pPr>
            <a:r>
              <a:rPr sz="1400" b="0" dirty="0">
                <a:solidFill>
                  <a:srgbClr val="E8ECF4"/>
                </a:solidFill>
                <a:latin typeface="Calibri"/>
              </a:rPr>
              <a:t>• JWT interceptor attaches Bearer token;</a:t>
            </a:r>
          </a:p>
          <a:p>
            <a:pPr algn="l">
              <a:lnSpc>
                <a:spcPct val="130000"/>
              </a:lnSpc>
            </a:pPr>
            <a:endParaRPr sz="1050" b="0" dirty="0">
              <a:solidFill>
                <a:srgbClr val="E8ECF4"/>
              </a:solidFill>
              <a:latin typeface="Calibri"/>
            </a:endParaRPr>
          </a:p>
          <a:p>
            <a:pPr>
              <a:lnSpc>
                <a:spcPct val="130000"/>
              </a:lnSpc>
            </a:pPr>
            <a:r>
              <a:rPr sz="1400" b="1" dirty="0">
                <a:solidFill>
                  <a:srgbClr val="00BFFF"/>
                </a:solidFill>
              </a:rPr>
              <a:t>Backend — .NET Web API </a:t>
            </a:r>
            <a:endParaRPr lang="en-US" sz="1400" b="1" dirty="0">
              <a:solidFill>
                <a:srgbClr val="00BFFF"/>
              </a:solidFill>
            </a:endParaRPr>
          </a:p>
          <a:p>
            <a:pPr>
              <a:lnSpc>
                <a:spcPct val="130000"/>
              </a:lnSpc>
            </a:pPr>
            <a:r>
              <a:rPr sz="1400" dirty="0">
                <a:solidFill>
                  <a:srgbClr val="E8ECF4"/>
                </a:solidFill>
                <a:latin typeface="Calibri"/>
              </a:rPr>
              <a:t>• Clean Architecture monolith</a:t>
            </a:r>
            <a:endParaRPr lang="en-US" sz="1400" dirty="0">
              <a:solidFill>
                <a:srgbClr val="E8ECF4"/>
              </a:solidFill>
              <a:latin typeface="Calibri"/>
            </a:endParaRPr>
          </a:p>
          <a:p>
            <a:pPr>
              <a:lnSpc>
                <a:spcPct val="130000"/>
              </a:lnSpc>
            </a:pPr>
            <a:r>
              <a:rPr sz="1400" dirty="0">
                <a:solidFill>
                  <a:srgbClr val="E8ECF4"/>
                </a:solidFill>
                <a:latin typeface="Calibri"/>
              </a:rPr>
              <a:t>• Swagger at /swagger; health probe at /health; </a:t>
            </a:r>
            <a:r>
              <a:rPr sz="1400" dirty="0" err="1">
                <a:solidFill>
                  <a:srgbClr val="E8ECF4"/>
                </a:solidFill>
                <a:latin typeface="Calibri"/>
              </a:rPr>
              <a:t>Serilog</a:t>
            </a:r>
            <a:r>
              <a:rPr sz="1400" dirty="0">
                <a:solidFill>
                  <a:srgbClr val="E8ECF4"/>
                </a:solidFill>
                <a:latin typeface="Calibri"/>
              </a:rPr>
              <a:t> → App Insights → Log Analytics</a:t>
            </a:r>
          </a:p>
          <a:p>
            <a:pPr algn="l">
              <a:lnSpc>
                <a:spcPct val="130000"/>
              </a:lnSpc>
            </a:pPr>
            <a:endParaRPr sz="1050" b="0" dirty="0">
              <a:solidFill>
                <a:srgbClr val="E8ECF4"/>
              </a:solidFill>
              <a:latin typeface="Calibri"/>
            </a:endParaRPr>
          </a:p>
          <a:p>
            <a:pPr>
              <a:lnSpc>
                <a:spcPct val="130000"/>
              </a:lnSpc>
            </a:pPr>
            <a:r>
              <a:rPr sz="1400" b="1" dirty="0">
                <a:solidFill>
                  <a:srgbClr val="00BFFF"/>
                </a:solidFill>
              </a:rPr>
              <a:t>Data &amp; Cloud — Azure Managed Services</a:t>
            </a:r>
          </a:p>
          <a:p>
            <a:pPr algn="l">
              <a:lnSpc>
                <a:spcPct val="130000"/>
              </a:lnSpc>
            </a:pPr>
            <a:r>
              <a:rPr sz="1400" dirty="0">
                <a:solidFill>
                  <a:srgbClr val="E8ECF4"/>
                </a:solidFill>
                <a:latin typeface="Calibri"/>
              </a:rPr>
              <a:t>• Azure SQL Database — </a:t>
            </a:r>
            <a:r>
              <a:rPr lang="en-US" sz="1400" dirty="0">
                <a:solidFill>
                  <a:srgbClr val="E8ECF4"/>
                </a:solidFill>
                <a:latin typeface="Calibri"/>
              </a:rPr>
              <a:t>Manage Metadata</a:t>
            </a:r>
          </a:p>
          <a:p>
            <a:pPr marL="171450" indent="-171450">
              <a:lnSpc>
                <a:spcPct val="130000"/>
              </a:lnSpc>
              <a:buFont typeface="Arial" panose="020B0604020202020204" pitchFamily="34" charset="0"/>
              <a:buChar char="•"/>
            </a:pPr>
            <a:r>
              <a:rPr lang="en-US" sz="1400" dirty="0">
                <a:solidFill>
                  <a:srgbClr val="E8ECF4"/>
                </a:solidFill>
                <a:latin typeface="Calibri"/>
              </a:rPr>
              <a:t>Azure BLOB Storage – Store Image</a:t>
            </a:r>
            <a:endParaRPr sz="1400" dirty="0">
              <a:solidFill>
                <a:srgbClr val="E8ECF4"/>
              </a:solidFill>
              <a:latin typeface="Calibri"/>
            </a:endParaRPr>
          </a:p>
          <a:p>
            <a:pPr algn="l">
              <a:lnSpc>
                <a:spcPct val="130000"/>
              </a:lnSpc>
            </a:pPr>
            <a:r>
              <a:rPr sz="1400" dirty="0">
                <a:solidFill>
                  <a:srgbClr val="E8ECF4"/>
                </a:solidFill>
                <a:latin typeface="Calibri"/>
              </a:rPr>
              <a:t>• Azure Key Vault — secrets via Managed Identity; Application Insights — APM &amp; alerts</a:t>
            </a:r>
          </a:p>
        </p:txBody>
      </p:sp>
      <p:sp>
        <p:nvSpPr>
          <p:cNvPr id="90" name="SlideNum"/>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6</a:t>
            </a:r>
          </a:p>
        </p:txBody>
      </p:sp>
      <p:sp>
        <p:nvSpPr>
          <p:cNvPr id="91" name="Copyright"/>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p:blipFill>
        <p:spPr>
          <a:xfrm>
            <a:off x="0" y="0"/>
            <a:ext cx="12192000" cy="6858000"/>
          </a:xfrm>
          <a:prstGeom prst="rect">
            <a:avLst/>
          </a:prstGeom>
        </p:spPr>
      </p:pic>
      <p:pic>
        <p:nvPicPr>
          <p:cNvPr id="3" name="CognizantLogo"/>
          <p:cNvPicPr>
            <a:picLocks noChangeAspect="1"/>
          </p:cNvPicPr>
          <p:nvPr/>
        </p:nvPicPr>
        <p:blipFill>
          <a:blip r:embed="rId3"/>
          <a:stretch/>
        </p:blipFill>
        <p:spPr>
          <a:xfrm>
            <a:off x="457200" y="411480"/>
            <a:ext cx="2286000" cy="411480"/>
          </a:xfrm>
          <a:prstGeom prst="rect">
            <a:avLst/>
          </a:prstGeom>
        </p:spPr>
      </p:pic>
      <p:sp>
        <p:nvSpPr>
          <p:cNvPr id="4" name="TextBox 3"/>
          <p:cNvSpPr txBox="1"/>
          <p:nvPr/>
        </p:nvSpPr>
        <p:spPr>
          <a:xfrm>
            <a:off x="731520" y="2377440"/>
            <a:ext cx="8229600" cy="1097280"/>
          </a:xfrm>
          <a:prstGeom prst="rect">
            <a:avLst/>
          </a:prstGeom>
          <a:noFill/>
        </p:spPr>
        <p:txBody>
          <a:bodyPr wrap="square" lIns="0" tIns="0" rIns="0" bIns="0" anchor="t">
            <a:spAutoFit/>
          </a:bodyPr>
          <a:lstStyle/>
          <a:p>
            <a:pPr algn="l">
              <a:lnSpc>
                <a:spcPct val="110000"/>
              </a:lnSpc>
            </a:pPr>
            <a:r>
              <a:rPr sz="4000" b="1">
                <a:solidFill>
                  <a:srgbClr val="FFFFFF"/>
                </a:solidFill>
                <a:latin typeface="Calibri"/>
              </a:rPr>
              <a:t>Design</a:t>
            </a:r>
          </a:p>
        </p:txBody>
      </p:sp>
      <p:sp>
        <p:nvSpPr>
          <p:cNvPr id="5" name="TextBox 4"/>
          <p:cNvSpPr txBox="1"/>
          <p:nvPr/>
        </p:nvSpPr>
        <p:spPr>
          <a:xfrm>
            <a:off x="731520" y="4023360"/>
            <a:ext cx="8229600" cy="548640"/>
          </a:xfrm>
          <a:prstGeom prst="rect">
            <a:avLst/>
          </a:prstGeom>
          <a:noFill/>
        </p:spPr>
        <p:txBody>
          <a:bodyPr wrap="square" lIns="0" tIns="0" rIns="0" bIns="0" anchor="t">
            <a:spAutoFit/>
          </a:bodyPr>
          <a:lstStyle/>
          <a:p>
            <a:pPr algn="l">
              <a:lnSpc>
                <a:spcPct val="115000"/>
              </a:lnSpc>
            </a:pPr>
            <a:r>
              <a:rPr sz="1600" b="0">
                <a:solidFill>
                  <a:srgbClr val="B8C6E3"/>
                </a:solidFill>
                <a:latin typeface="Calibri"/>
              </a:rPr>
              <a:t>Auth · API · ER · Class · Sequence</a:t>
            </a:r>
          </a:p>
        </p:txBody>
      </p:sp>
      <p:sp>
        <p:nvSpPr>
          <p:cNvPr id="6" name="TextBox 5"/>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7</a:t>
            </a:r>
          </a:p>
        </p:txBody>
      </p:sp>
      <p:sp>
        <p:nvSpPr>
          <p:cNvPr id="7" name="TextBox 6"/>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dirty="0"/>
          </a:p>
        </p:txBody>
      </p:sp>
      <p:sp>
        <p:nvSpPr>
          <p:cNvPr id="3" name="Title"/>
          <p:cNvSpPr txBox="1"/>
          <p:nvPr/>
        </p:nvSpPr>
        <p:spPr>
          <a:xfrm>
            <a:off x="548640" y="411480"/>
            <a:ext cx="11094720" cy="433067"/>
          </a:xfrm>
          <a:prstGeom prst="rect">
            <a:avLst/>
          </a:prstGeom>
          <a:noFill/>
        </p:spPr>
        <p:txBody>
          <a:bodyPr wrap="square" lIns="0" tIns="0" rIns="0" bIns="0" anchor="t">
            <a:spAutoFit/>
          </a:bodyPr>
          <a:lstStyle/>
          <a:p>
            <a:pPr algn="l">
              <a:lnSpc>
                <a:spcPct val="115000"/>
              </a:lnSpc>
            </a:pPr>
            <a:r>
              <a:rPr sz="2600" b="1" dirty="0">
                <a:solidFill>
                  <a:srgbClr val="FFFFFF"/>
                </a:solidFill>
                <a:latin typeface="Calibri"/>
              </a:rPr>
              <a:t>HIGH-LEVEL ARCHITECTURE</a:t>
            </a: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Explain"/>
          <p:cNvSpPr txBox="1"/>
          <p:nvPr/>
        </p:nvSpPr>
        <p:spPr>
          <a:xfrm>
            <a:off x="548640" y="1148927"/>
            <a:ext cx="5079345" cy="6167009"/>
          </a:xfrm>
          <a:prstGeom prst="rect">
            <a:avLst/>
          </a:prstGeom>
          <a:noFill/>
        </p:spPr>
        <p:txBody>
          <a:bodyPr wrap="square" lIns="91440" tIns="45720" rIns="91440" bIns="45720">
            <a:spAutoFit/>
          </a:bodyPr>
          <a:lstStyle/>
          <a:p>
            <a:pPr>
              <a:lnSpc>
                <a:spcPct val="130000"/>
              </a:lnSpc>
            </a:pPr>
            <a:r>
              <a:rPr lang="en-US" sz="1300" dirty="0">
                <a:solidFill>
                  <a:srgbClr val="E8ECF4"/>
                </a:solidFill>
                <a:latin typeface="Calibri"/>
              </a:rPr>
              <a:t>The Document Upload Portal follows a layered Azure-based architecture with a .NET Core Web Application as the presentation layer and a .NET Core Web API as the backend API layer.</a:t>
            </a:r>
            <a:endParaRPr lang="en-IN" sz="1300" dirty="0">
              <a:solidFill>
                <a:srgbClr val="E8ECF4"/>
              </a:solidFill>
              <a:latin typeface="Calibri"/>
            </a:endParaRPr>
          </a:p>
          <a:p>
            <a:pPr>
              <a:lnSpc>
                <a:spcPct val="130000"/>
              </a:lnSpc>
            </a:pPr>
            <a:r>
              <a:rPr lang="en-US" sz="1300" dirty="0">
                <a:solidFill>
                  <a:srgbClr val="E8ECF4"/>
                </a:solidFill>
                <a:latin typeface="Calibri"/>
              </a:rPr>
              <a:t>Users upload and preview images through the Web UI. The API validates and handles JWT authentication and RBAC for Admin/Uploader Roles. Secrets such as SQL connection strings, JWT secrets are securely stored in Azure Key Vault.</a:t>
            </a:r>
            <a:endParaRPr lang="en-IN" sz="1300" dirty="0">
              <a:solidFill>
                <a:srgbClr val="E8ECF4"/>
              </a:solidFill>
              <a:latin typeface="Calibri"/>
            </a:endParaRPr>
          </a:p>
          <a:p>
            <a:pPr>
              <a:lnSpc>
                <a:spcPct val="130000"/>
              </a:lnSpc>
            </a:pPr>
            <a:r>
              <a:rPr lang="en-US" sz="1300" dirty="0">
                <a:solidFill>
                  <a:srgbClr val="E8ECF4"/>
                </a:solidFill>
                <a:latin typeface="Calibri"/>
              </a:rPr>
              <a:t>Images are stored in Azure BLOB Storage, while metadata such as image ID, type, size, path, and uploaded user details are stored in Azure SQL Server.</a:t>
            </a:r>
          </a:p>
          <a:p>
            <a:pPr>
              <a:lnSpc>
                <a:spcPct val="130000"/>
              </a:lnSpc>
            </a:pPr>
            <a:endParaRPr lang="en-US" sz="1300" dirty="0">
              <a:solidFill>
                <a:srgbClr val="E8ECF4"/>
              </a:solidFill>
              <a:latin typeface="Calibri"/>
            </a:endParaRPr>
          </a:p>
          <a:p>
            <a:pPr>
              <a:lnSpc>
                <a:spcPct val="130000"/>
              </a:lnSpc>
            </a:pPr>
            <a:r>
              <a:rPr lang="en-IN" sz="1300" dirty="0">
                <a:solidFill>
                  <a:srgbClr val="E8ECF4"/>
                </a:solidFill>
                <a:latin typeface="Calibri"/>
              </a:rPr>
              <a:t>The Document Upload Portal is designed as a secure, Azure-native solution that enables role-based image upload and preview capabilities. Azure Entra ID provides centralized authentication and authorization, while Azure Application Gateway secures inbound traffic. The application, hosted on Azure App Service, processes image upload and preview requests, stores image files in Azure Blob Storage, and maintains metadata in Azure SQL Database. Azure Key Vault secures application secrets, and Azure Monitor with Application Insights delivers centralized monitoring, logging, and operational visibility, ensuring a scalable, secure, and enterprise-ready platform.</a:t>
            </a:r>
          </a:p>
          <a:p>
            <a:pPr>
              <a:lnSpc>
                <a:spcPct val="130000"/>
              </a:lnSpc>
            </a:pPr>
            <a:endParaRPr lang="en-IN" sz="1050" dirty="0">
              <a:solidFill>
                <a:srgbClr val="E8ECF4"/>
              </a:solidFill>
              <a:latin typeface="Calibri"/>
            </a:endParaRPr>
          </a:p>
          <a:p>
            <a:pPr algn="l">
              <a:lnSpc>
                <a:spcPct val="130000"/>
              </a:lnSpc>
            </a:pPr>
            <a:endParaRPr lang="en-IN" sz="1050" dirty="0">
              <a:solidFill>
                <a:srgbClr val="E8ECF4"/>
              </a:solidFill>
              <a:latin typeface="Calibri"/>
            </a:endParaRPr>
          </a:p>
          <a:p>
            <a:pPr algn="l">
              <a:lnSpc>
                <a:spcPct val="130000"/>
              </a:lnSpc>
            </a:pPr>
            <a:endParaRPr sz="1050" b="0" dirty="0">
              <a:solidFill>
                <a:srgbClr val="E8ECF4"/>
              </a:solidFill>
              <a:latin typeface="Calibri"/>
            </a:endParaRPr>
          </a:p>
        </p:txBody>
      </p:sp>
      <p:sp>
        <p:nvSpPr>
          <p:cNvPr id="90" name="SlideNum"/>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8</a:t>
            </a:r>
          </a:p>
        </p:txBody>
      </p:sp>
      <p:sp>
        <p:nvSpPr>
          <p:cNvPr id="91" name="Copyright"/>
          <p:cNvSpPr txBox="1"/>
          <p:nvPr/>
        </p:nvSpPr>
        <p:spPr>
          <a:xfrm>
            <a:off x="1005840" y="6446520"/>
            <a:ext cx="7315200" cy="228600"/>
          </a:xfrm>
          <a:prstGeom prst="rect">
            <a:avLst/>
          </a:prstGeom>
          <a:noFill/>
        </p:spPr>
        <p:txBody>
          <a:bodyPr wrap="square" lIns="0" tIns="0" rIns="0" bIns="0" anchor="t">
            <a:spAutoFit/>
          </a:bodyPr>
          <a:lstStyle/>
          <a:p>
            <a:pPr algn="l"/>
            <a:r>
              <a:rPr sz="900" b="0" dirty="0">
                <a:solidFill>
                  <a:srgbClr val="B8C6E3"/>
                </a:solidFill>
                <a:latin typeface="Calibri"/>
              </a:rPr>
              <a:t>© 2026 Cognizant | Confidential &amp; Proprietary</a:t>
            </a:r>
          </a:p>
        </p:txBody>
      </p:sp>
      <p:pic>
        <p:nvPicPr>
          <p:cNvPr id="3077" name="Picture 5">
            <a:extLst>
              <a:ext uri="{FF2B5EF4-FFF2-40B4-BE49-F238E27FC236}">
                <a16:creationId xmlns:a16="http://schemas.microsoft.com/office/drawing/2014/main" id="{F5EFE7FA-0D9C-4678-9854-C32D5BA6F2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0362" y="896702"/>
            <a:ext cx="6206122" cy="5238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43359-4B1D-D5C4-FF71-7A381AE422BD}"/>
            </a:ext>
          </a:extLst>
        </p:cNvPr>
        <p:cNvGrpSpPr/>
        <p:nvPr/>
      </p:nvGrpSpPr>
      <p:grpSpPr>
        <a:xfrm>
          <a:off x="0" y="0"/>
          <a:ext cx="0" cy="0"/>
          <a:chOff x="0" y="0"/>
          <a:chExt cx="0" cy="0"/>
        </a:xfrm>
      </p:grpSpPr>
      <p:sp>
        <p:nvSpPr>
          <p:cNvPr id="2" name="BgRect">
            <a:extLst>
              <a:ext uri="{FF2B5EF4-FFF2-40B4-BE49-F238E27FC236}">
                <a16:creationId xmlns:a16="http://schemas.microsoft.com/office/drawing/2014/main" id="{C3FF8CC1-2314-7923-1EBE-7C4A9D038AD9}"/>
              </a:ext>
            </a:extLst>
          </p:cNvPr>
          <p:cNvSpPr/>
          <p:nvPr/>
        </p:nvSpPr>
        <p:spPr>
          <a:xfrm>
            <a:off x="0" y="0"/>
            <a:ext cx="12192000" cy="6858000"/>
          </a:xfrm>
          <a:prstGeom prst="rect">
            <a:avLst/>
          </a:prstGeom>
          <a:solidFill>
            <a:srgbClr val="02082E"/>
          </a:solidFill>
          <a:ln>
            <a:noFill/>
          </a:ln>
        </p:spPr>
        <p:txBody>
          <a:bodyPr rtlCol="0" anchor="ctr"/>
          <a:lstStyle/>
          <a:p>
            <a:r>
              <a:rPr lang="en-US" dirty="0"/>
              <a:t>     </a:t>
            </a:r>
            <a:endParaRPr dirty="0"/>
          </a:p>
        </p:txBody>
      </p:sp>
      <p:sp>
        <p:nvSpPr>
          <p:cNvPr id="3" name="Title">
            <a:extLst>
              <a:ext uri="{FF2B5EF4-FFF2-40B4-BE49-F238E27FC236}">
                <a16:creationId xmlns:a16="http://schemas.microsoft.com/office/drawing/2014/main" id="{60CE5DFE-8391-7340-8E43-6A87D6023334}"/>
              </a:ext>
            </a:extLst>
          </p:cNvPr>
          <p:cNvSpPr txBox="1"/>
          <p:nvPr/>
        </p:nvSpPr>
        <p:spPr>
          <a:xfrm>
            <a:off x="548640" y="411480"/>
            <a:ext cx="11094720" cy="433067"/>
          </a:xfrm>
          <a:prstGeom prst="rect">
            <a:avLst/>
          </a:prstGeom>
          <a:noFill/>
        </p:spPr>
        <p:txBody>
          <a:bodyPr wrap="square" lIns="0" tIns="0" rIns="0" bIns="0" anchor="t">
            <a:spAutoFit/>
          </a:bodyPr>
          <a:lstStyle/>
          <a:p>
            <a:pPr algn="l">
              <a:lnSpc>
                <a:spcPct val="115000"/>
              </a:lnSpc>
            </a:pPr>
            <a:r>
              <a:rPr lang="en-US" sz="2600" b="1" dirty="0">
                <a:solidFill>
                  <a:srgbClr val="FFFFFF"/>
                </a:solidFill>
                <a:latin typeface="Calibri"/>
              </a:rPr>
              <a:t>APPLICATION ARCHITECTURE DIAGRAM</a:t>
            </a:r>
            <a:endParaRPr sz="2600" b="1" dirty="0">
              <a:solidFill>
                <a:srgbClr val="FFFFFF"/>
              </a:solidFill>
              <a:latin typeface="Calibri"/>
            </a:endParaRPr>
          </a:p>
        </p:txBody>
      </p:sp>
      <p:sp>
        <p:nvSpPr>
          <p:cNvPr id="4" name="AccentBar">
            <a:extLst>
              <a:ext uri="{FF2B5EF4-FFF2-40B4-BE49-F238E27FC236}">
                <a16:creationId xmlns:a16="http://schemas.microsoft.com/office/drawing/2014/main" id="{A5C2C994-32B5-0866-C709-9F3832F7B375}"/>
              </a:ext>
            </a:extLst>
          </p:cNvPr>
          <p:cNvSpPr/>
          <p:nvPr/>
        </p:nvSpPr>
        <p:spPr>
          <a:xfrm>
            <a:off x="548640" y="1097280"/>
            <a:ext cx="502920" cy="38100"/>
          </a:xfrm>
          <a:prstGeom prst="rect">
            <a:avLst/>
          </a:prstGeom>
          <a:solidFill>
            <a:srgbClr val="1E88E5"/>
          </a:solidFill>
          <a:ln>
            <a:noFill/>
          </a:ln>
        </p:spPr>
        <p:txBody>
          <a:bodyPr/>
          <a:lstStyle/>
          <a:p>
            <a:endParaRPr/>
          </a:p>
        </p:txBody>
      </p:sp>
      <p:sp>
        <p:nvSpPr>
          <p:cNvPr id="10" name="Explain">
            <a:extLst>
              <a:ext uri="{FF2B5EF4-FFF2-40B4-BE49-F238E27FC236}">
                <a16:creationId xmlns:a16="http://schemas.microsoft.com/office/drawing/2014/main" id="{22D46A54-8402-8DFB-20C5-47ADB1CF36F7}"/>
              </a:ext>
            </a:extLst>
          </p:cNvPr>
          <p:cNvSpPr txBox="1"/>
          <p:nvPr/>
        </p:nvSpPr>
        <p:spPr>
          <a:xfrm>
            <a:off x="548640" y="1250000"/>
            <a:ext cx="5079345" cy="5426807"/>
          </a:xfrm>
          <a:prstGeom prst="rect">
            <a:avLst/>
          </a:prstGeom>
          <a:noFill/>
        </p:spPr>
        <p:txBody>
          <a:bodyPr wrap="square" lIns="91440" tIns="45720" rIns="91440" bIns="45720">
            <a:spAutoFit/>
          </a:bodyPr>
          <a:lstStyle/>
          <a:p>
            <a:pPr>
              <a:lnSpc>
                <a:spcPct val="130000"/>
              </a:lnSpc>
            </a:pPr>
            <a:r>
              <a:rPr lang="en-IN" sz="1400" dirty="0">
                <a:solidFill>
                  <a:srgbClr val="E8ECF4"/>
                </a:solidFill>
                <a:latin typeface="Calibri"/>
              </a:rPr>
              <a:t>The Document Upload Portal follows a secure layered architecture where users authenticate through Azure Entra ID and access the application based on role-based permissions (Admin, Uploader, and Viewer). The .NET Core Web Application consumes secured .NET Core APIs using JWT tokens, while the API layer enforces authentication, authorization, and business rules. Image files are stored in Azure Blob Storage, metadata is maintained in Azure SQL Database, Azure Key Vault secures application secrets, and Azure Monitor with Application Insights provides centralized monitoring and observability.</a:t>
            </a:r>
          </a:p>
          <a:p>
            <a:pPr>
              <a:lnSpc>
                <a:spcPct val="130000"/>
              </a:lnSpc>
            </a:pPr>
            <a:endParaRPr lang="en-IN" sz="1400" dirty="0">
              <a:solidFill>
                <a:srgbClr val="E8ECF4"/>
              </a:solidFill>
              <a:latin typeface="Calibri"/>
            </a:endParaRPr>
          </a:p>
          <a:p>
            <a:pPr>
              <a:lnSpc>
                <a:spcPct val="130000"/>
              </a:lnSpc>
            </a:pPr>
            <a:r>
              <a:rPr lang="en-IN" sz="1400" dirty="0">
                <a:solidFill>
                  <a:srgbClr val="E8ECF4"/>
                </a:solidFill>
                <a:latin typeface="Calibri"/>
              </a:rPr>
              <a:t>A secure and scalable Azure-based application architecture that enables authenticated users to upload and preview images through role-based access control, centralized identity management, secure API interactions, optimized storage services, and enterprise-grade monitoring capabilities.</a:t>
            </a:r>
          </a:p>
          <a:p>
            <a:pPr>
              <a:lnSpc>
                <a:spcPct val="130000"/>
              </a:lnSpc>
            </a:pPr>
            <a:endParaRPr lang="en-IN" sz="1200" dirty="0">
              <a:solidFill>
                <a:srgbClr val="E8ECF4"/>
              </a:solidFill>
              <a:latin typeface="Calibri"/>
            </a:endParaRPr>
          </a:p>
          <a:p>
            <a:pPr>
              <a:lnSpc>
                <a:spcPct val="130000"/>
              </a:lnSpc>
            </a:pPr>
            <a:endParaRPr lang="en-IN" sz="1050" dirty="0">
              <a:solidFill>
                <a:srgbClr val="E8ECF4"/>
              </a:solidFill>
              <a:latin typeface="Calibri"/>
            </a:endParaRPr>
          </a:p>
          <a:p>
            <a:pPr algn="l">
              <a:lnSpc>
                <a:spcPct val="130000"/>
              </a:lnSpc>
            </a:pPr>
            <a:endParaRPr lang="en-IN" sz="1050" dirty="0">
              <a:solidFill>
                <a:srgbClr val="E8ECF4"/>
              </a:solidFill>
              <a:latin typeface="Calibri"/>
            </a:endParaRPr>
          </a:p>
          <a:p>
            <a:pPr algn="l">
              <a:lnSpc>
                <a:spcPct val="130000"/>
              </a:lnSpc>
            </a:pPr>
            <a:endParaRPr sz="1050" b="0" dirty="0">
              <a:solidFill>
                <a:srgbClr val="E8ECF4"/>
              </a:solidFill>
              <a:latin typeface="Calibri"/>
            </a:endParaRPr>
          </a:p>
        </p:txBody>
      </p:sp>
      <p:sp>
        <p:nvSpPr>
          <p:cNvPr id="90" name="SlideNum">
            <a:extLst>
              <a:ext uri="{FF2B5EF4-FFF2-40B4-BE49-F238E27FC236}">
                <a16:creationId xmlns:a16="http://schemas.microsoft.com/office/drawing/2014/main" id="{EDD7B086-358F-07F6-77FA-10CAC474BF88}"/>
              </a:ext>
            </a:extLst>
          </p:cNvPr>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8</a:t>
            </a:r>
          </a:p>
        </p:txBody>
      </p:sp>
      <p:sp>
        <p:nvSpPr>
          <p:cNvPr id="91" name="Copyright">
            <a:extLst>
              <a:ext uri="{FF2B5EF4-FFF2-40B4-BE49-F238E27FC236}">
                <a16:creationId xmlns:a16="http://schemas.microsoft.com/office/drawing/2014/main" id="{C4BD18B1-A8B8-AF5C-0FF6-1D56E87E406B}"/>
              </a:ext>
            </a:extLst>
          </p:cNvPr>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pic>
        <p:nvPicPr>
          <p:cNvPr id="1026" name="Picture 2">
            <a:extLst>
              <a:ext uri="{FF2B5EF4-FFF2-40B4-BE49-F238E27FC236}">
                <a16:creationId xmlns:a16="http://schemas.microsoft.com/office/drawing/2014/main" id="{52ED32E5-8032-AA3F-C652-7D24C050F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8320" y="960408"/>
            <a:ext cx="5864374" cy="5126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374949"/>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0FA66-82E2-0CB1-A130-D1D1D89F18AB}"/>
            </a:ext>
          </a:extLst>
        </p:cNvPr>
        <p:cNvGrpSpPr/>
        <p:nvPr/>
      </p:nvGrpSpPr>
      <p:grpSpPr>
        <a:xfrm>
          <a:off x="0" y="0"/>
          <a:ext cx="0" cy="0"/>
          <a:chOff x="0" y="0"/>
          <a:chExt cx="0" cy="0"/>
        </a:xfrm>
      </p:grpSpPr>
      <p:sp>
        <p:nvSpPr>
          <p:cNvPr id="2" name="BgRect">
            <a:extLst>
              <a:ext uri="{FF2B5EF4-FFF2-40B4-BE49-F238E27FC236}">
                <a16:creationId xmlns:a16="http://schemas.microsoft.com/office/drawing/2014/main" id="{68FCB4D1-A933-C658-E4C4-B820C86715E9}"/>
              </a:ext>
            </a:extLst>
          </p:cNvPr>
          <p:cNvSpPr/>
          <p:nvPr/>
        </p:nvSpPr>
        <p:spPr>
          <a:xfrm>
            <a:off x="0" y="0"/>
            <a:ext cx="12192000" cy="6858000"/>
          </a:xfrm>
          <a:prstGeom prst="rect">
            <a:avLst/>
          </a:prstGeom>
          <a:solidFill>
            <a:srgbClr val="02082E"/>
          </a:solidFill>
          <a:ln>
            <a:noFill/>
          </a:ln>
        </p:spPr>
        <p:txBody>
          <a:bodyPr rtlCol="0" anchor="ctr"/>
          <a:lstStyle/>
          <a:p>
            <a:r>
              <a:rPr lang="en-US" dirty="0"/>
              <a:t>     </a:t>
            </a:r>
            <a:endParaRPr dirty="0"/>
          </a:p>
        </p:txBody>
      </p:sp>
      <p:sp>
        <p:nvSpPr>
          <p:cNvPr id="3" name="Title">
            <a:extLst>
              <a:ext uri="{FF2B5EF4-FFF2-40B4-BE49-F238E27FC236}">
                <a16:creationId xmlns:a16="http://schemas.microsoft.com/office/drawing/2014/main" id="{BD0A5B30-6EFB-8911-948D-17D44DC1E32A}"/>
              </a:ext>
            </a:extLst>
          </p:cNvPr>
          <p:cNvSpPr txBox="1"/>
          <p:nvPr/>
        </p:nvSpPr>
        <p:spPr>
          <a:xfrm>
            <a:off x="548640" y="408467"/>
            <a:ext cx="11094720" cy="433067"/>
          </a:xfrm>
          <a:prstGeom prst="rect">
            <a:avLst/>
          </a:prstGeom>
          <a:noFill/>
        </p:spPr>
        <p:txBody>
          <a:bodyPr wrap="square" lIns="0" tIns="0" rIns="0" bIns="0" anchor="t">
            <a:spAutoFit/>
          </a:bodyPr>
          <a:lstStyle/>
          <a:p>
            <a:pPr algn="l">
              <a:lnSpc>
                <a:spcPct val="115000"/>
              </a:lnSpc>
            </a:pPr>
            <a:r>
              <a:rPr lang="en-US" sz="2600" b="1" dirty="0">
                <a:solidFill>
                  <a:srgbClr val="FFFFFF"/>
                </a:solidFill>
                <a:latin typeface="Calibri"/>
              </a:rPr>
              <a:t>DEPLOYMENT DESIGN </a:t>
            </a:r>
            <a:r>
              <a:rPr sz="2600" b="1" dirty="0">
                <a:solidFill>
                  <a:srgbClr val="FFFFFF"/>
                </a:solidFill>
                <a:latin typeface="Calibri"/>
              </a:rPr>
              <a:t>ARCHITECTURE</a:t>
            </a:r>
          </a:p>
        </p:txBody>
      </p:sp>
      <p:sp>
        <p:nvSpPr>
          <p:cNvPr id="4" name="AccentBar">
            <a:extLst>
              <a:ext uri="{FF2B5EF4-FFF2-40B4-BE49-F238E27FC236}">
                <a16:creationId xmlns:a16="http://schemas.microsoft.com/office/drawing/2014/main" id="{D0749D53-B2B1-31F0-8995-2A608F7D6489}"/>
              </a:ext>
            </a:extLst>
          </p:cNvPr>
          <p:cNvSpPr/>
          <p:nvPr/>
        </p:nvSpPr>
        <p:spPr>
          <a:xfrm>
            <a:off x="548640" y="1097280"/>
            <a:ext cx="502920" cy="38100"/>
          </a:xfrm>
          <a:prstGeom prst="rect">
            <a:avLst/>
          </a:prstGeom>
          <a:solidFill>
            <a:srgbClr val="1E88E5"/>
          </a:solidFill>
          <a:ln>
            <a:noFill/>
          </a:ln>
        </p:spPr>
        <p:txBody>
          <a:bodyPr/>
          <a:lstStyle/>
          <a:p>
            <a:endParaRPr/>
          </a:p>
        </p:txBody>
      </p:sp>
      <p:sp>
        <p:nvSpPr>
          <p:cNvPr id="10" name="Explain">
            <a:extLst>
              <a:ext uri="{FF2B5EF4-FFF2-40B4-BE49-F238E27FC236}">
                <a16:creationId xmlns:a16="http://schemas.microsoft.com/office/drawing/2014/main" id="{2BF189EA-2705-D4E1-383F-5776A9215E03}"/>
              </a:ext>
            </a:extLst>
          </p:cNvPr>
          <p:cNvSpPr txBox="1"/>
          <p:nvPr/>
        </p:nvSpPr>
        <p:spPr>
          <a:xfrm>
            <a:off x="548640" y="1250000"/>
            <a:ext cx="5079345" cy="5026697"/>
          </a:xfrm>
          <a:prstGeom prst="rect">
            <a:avLst/>
          </a:prstGeom>
          <a:noFill/>
        </p:spPr>
        <p:txBody>
          <a:bodyPr wrap="square" lIns="91440" tIns="45720" rIns="91440" bIns="45720">
            <a:spAutoFit/>
          </a:bodyPr>
          <a:lstStyle/>
          <a:p>
            <a:pPr>
              <a:lnSpc>
                <a:spcPct val="130000"/>
              </a:lnSpc>
            </a:pPr>
            <a:r>
              <a:rPr lang="en-US" sz="1200" dirty="0">
                <a:solidFill>
                  <a:srgbClr val="E8ECF4"/>
                </a:solidFill>
                <a:latin typeface="Calibri"/>
              </a:rPr>
              <a:t>The Document Upload Portal follows a layered Azure-based architecture with a .NET Core Web Application as the presentation layer and a .NET Core Web API as the backend API layer.</a:t>
            </a:r>
            <a:endParaRPr lang="en-IN" sz="1200" dirty="0">
              <a:solidFill>
                <a:srgbClr val="E8ECF4"/>
              </a:solidFill>
              <a:latin typeface="Calibri"/>
            </a:endParaRPr>
          </a:p>
          <a:p>
            <a:pPr>
              <a:lnSpc>
                <a:spcPct val="130000"/>
              </a:lnSpc>
            </a:pPr>
            <a:r>
              <a:rPr lang="en-US" sz="1200" dirty="0">
                <a:solidFill>
                  <a:srgbClr val="E8ECF4"/>
                </a:solidFill>
                <a:latin typeface="Calibri"/>
              </a:rPr>
              <a:t>Users upload and preview images through the Web UI. The API validates and handles JWT authentication and RBAC for Admin/Uploader Roles. Secrets such as SQL connection strings, JWT secrets are securely stored in Azure Key Vault.</a:t>
            </a:r>
            <a:endParaRPr lang="en-IN" sz="1200" dirty="0">
              <a:solidFill>
                <a:srgbClr val="E8ECF4"/>
              </a:solidFill>
              <a:latin typeface="Calibri"/>
            </a:endParaRPr>
          </a:p>
          <a:p>
            <a:pPr>
              <a:lnSpc>
                <a:spcPct val="130000"/>
              </a:lnSpc>
            </a:pPr>
            <a:r>
              <a:rPr lang="en-US" sz="1200" dirty="0">
                <a:solidFill>
                  <a:srgbClr val="E8ECF4"/>
                </a:solidFill>
                <a:latin typeface="Calibri"/>
              </a:rPr>
              <a:t>Images are stored in Azure BLOB Storage, while metadata such as image ID, type, size, path, and uploaded user details are stored in Azure SQL Server.</a:t>
            </a:r>
          </a:p>
          <a:p>
            <a:pPr>
              <a:lnSpc>
                <a:spcPct val="130000"/>
              </a:lnSpc>
            </a:pPr>
            <a:endParaRPr lang="en-US" sz="1200" dirty="0">
              <a:solidFill>
                <a:srgbClr val="E8ECF4"/>
              </a:solidFill>
              <a:latin typeface="Calibri"/>
            </a:endParaRPr>
          </a:p>
          <a:p>
            <a:pPr>
              <a:lnSpc>
                <a:spcPct val="130000"/>
              </a:lnSpc>
            </a:pPr>
            <a:r>
              <a:rPr lang="en-IN" sz="1200" dirty="0">
                <a:solidFill>
                  <a:srgbClr val="E8ECF4"/>
                </a:solidFill>
                <a:latin typeface="Calibri"/>
              </a:rPr>
              <a:t>The Document Upload Portal is designed as a secure, Azure-native solution that enables role-based image upload and preview capabilities. Azure Entra ID provides centralized authentication and authorization, while Azure Application Gateway secures inbound traffic. The application, hosted on Azure App Service, processes image upload and preview requests, stores image files in Azure Blob Storage, and maintains metadata in Azure SQL Database. Azure Key Vault secures application secrets, and Azure Monitor with Application Insights delivers centralized monitoring, logging, and operational visibility, ensuring a scalable, secure, and enterprise-ready platform.</a:t>
            </a:r>
          </a:p>
          <a:p>
            <a:pPr>
              <a:lnSpc>
                <a:spcPct val="130000"/>
              </a:lnSpc>
            </a:pPr>
            <a:endParaRPr lang="en-IN" sz="1050" dirty="0">
              <a:solidFill>
                <a:srgbClr val="E8ECF4"/>
              </a:solidFill>
              <a:latin typeface="Calibri"/>
            </a:endParaRPr>
          </a:p>
          <a:p>
            <a:pPr algn="l">
              <a:lnSpc>
                <a:spcPct val="130000"/>
              </a:lnSpc>
            </a:pPr>
            <a:endParaRPr lang="en-IN" sz="1050" dirty="0">
              <a:solidFill>
                <a:srgbClr val="E8ECF4"/>
              </a:solidFill>
              <a:latin typeface="Calibri"/>
            </a:endParaRPr>
          </a:p>
          <a:p>
            <a:pPr algn="l">
              <a:lnSpc>
                <a:spcPct val="130000"/>
              </a:lnSpc>
            </a:pPr>
            <a:endParaRPr sz="1050" b="0" dirty="0">
              <a:solidFill>
                <a:srgbClr val="E8ECF4"/>
              </a:solidFill>
              <a:latin typeface="Calibri"/>
            </a:endParaRPr>
          </a:p>
        </p:txBody>
      </p:sp>
      <p:sp>
        <p:nvSpPr>
          <p:cNvPr id="90" name="SlideNum">
            <a:extLst>
              <a:ext uri="{FF2B5EF4-FFF2-40B4-BE49-F238E27FC236}">
                <a16:creationId xmlns:a16="http://schemas.microsoft.com/office/drawing/2014/main" id="{43B75B45-2891-DF07-241E-17C925758B12}"/>
              </a:ext>
            </a:extLst>
          </p:cNvPr>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8</a:t>
            </a:r>
          </a:p>
        </p:txBody>
      </p:sp>
      <p:sp>
        <p:nvSpPr>
          <p:cNvPr id="91" name="Copyright">
            <a:extLst>
              <a:ext uri="{FF2B5EF4-FFF2-40B4-BE49-F238E27FC236}">
                <a16:creationId xmlns:a16="http://schemas.microsoft.com/office/drawing/2014/main" id="{5D2B5604-750A-2D31-047B-CBC0BFA61258}"/>
              </a:ext>
            </a:extLst>
          </p:cNvPr>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pic>
        <p:nvPicPr>
          <p:cNvPr id="2050" name="Picture 2">
            <a:extLst>
              <a:ext uri="{FF2B5EF4-FFF2-40B4-BE49-F238E27FC236}">
                <a16:creationId xmlns:a16="http://schemas.microsoft.com/office/drawing/2014/main" id="{3AEFB0B9-F223-D224-CD5B-0DE5AA06E2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4205" y="913412"/>
            <a:ext cx="611505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746335"/>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API DESIGN OVERVIEW</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7652" y="1381203"/>
            <a:ext cx="11064240" cy="411480"/>
          </a:xfrm>
          <a:prstGeom prst="roundRect">
            <a:avLst>
              <a:gd name="adj" fmla="val 10000"/>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72184"/>
            <a:ext cx="7315200" cy="216534"/>
          </a:xfrm>
          <a:prstGeom prst="rect">
            <a:avLst/>
          </a:prstGeom>
          <a:noFill/>
        </p:spPr>
        <p:txBody>
          <a:bodyPr wrap="square" lIns="0" tIns="0" rIns="0" bIns="0" anchor="t">
            <a:spAutoFit/>
          </a:bodyPr>
          <a:lstStyle/>
          <a:p>
            <a:pPr algn="l">
              <a:lnSpc>
                <a:spcPct val="115000"/>
              </a:lnSpc>
            </a:pPr>
            <a:r>
              <a:rPr lang="en-US" sz="1300" b="1" dirty="0">
                <a:solidFill>
                  <a:srgbClr val="FFFFFF"/>
                </a:solidFill>
                <a:latin typeface="Calibri"/>
              </a:rPr>
              <a:t>Upload Image API</a:t>
            </a:r>
            <a:endParaRPr sz="1300" b="1" dirty="0">
              <a:solidFill>
                <a:srgbClr val="FFFFFF"/>
              </a:solidFill>
              <a:latin typeface="Calibri"/>
            </a:endParaRPr>
          </a:p>
        </p:txBody>
      </p:sp>
      <p:sp>
        <p:nvSpPr>
          <p:cNvPr id="10" name="Rounded Rectangle 9"/>
          <p:cNvSpPr/>
          <p:nvPr/>
        </p:nvSpPr>
        <p:spPr>
          <a:xfrm>
            <a:off x="617652" y="4023360"/>
            <a:ext cx="11064240" cy="411480"/>
          </a:xfrm>
          <a:prstGeom prst="roundRect">
            <a:avLst>
              <a:gd name="adj" fmla="val 10000"/>
            </a:avLst>
          </a:prstGeom>
          <a:solidFill>
            <a:srgbClr val="3BC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822960" y="4097973"/>
            <a:ext cx="7315200" cy="216534"/>
          </a:xfrm>
          <a:prstGeom prst="rect">
            <a:avLst/>
          </a:prstGeom>
          <a:noFill/>
        </p:spPr>
        <p:txBody>
          <a:bodyPr wrap="square" lIns="0" tIns="0" rIns="0" bIns="0" anchor="t">
            <a:spAutoFit/>
          </a:bodyPr>
          <a:lstStyle/>
          <a:p>
            <a:pPr algn="l">
              <a:lnSpc>
                <a:spcPct val="115000"/>
              </a:lnSpc>
            </a:pPr>
            <a:endParaRPr sz="1300" b="1" dirty="0">
              <a:solidFill>
                <a:srgbClr val="FFFFFF"/>
              </a:solidFill>
              <a:latin typeface="Calibri"/>
            </a:endParaRPr>
          </a:p>
        </p:txBody>
      </p:sp>
      <p:sp>
        <p:nvSpPr>
          <p:cNvPr id="29" name="TextBox 28"/>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11</a:t>
            </a:r>
          </a:p>
        </p:txBody>
      </p:sp>
      <p:sp>
        <p:nvSpPr>
          <p:cNvPr id="35" name="TextBox 34">
            <a:extLst>
              <a:ext uri="{FF2B5EF4-FFF2-40B4-BE49-F238E27FC236}">
                <a16:creationId xmlns:a16="http://schemas.microsoft.com/office/drawing/2014/main" id="{EF50BE75-784F-5261-C060-36ADC05F1DD4}"/>
              </a:ext>
            </a:extLst>
          </p:cNvPr>
          <p:cNvSpPr txBox="1"/>
          <p:nvPr/>
        </p:nvSpPr>
        <p:spPr>
          <a:xfrm>
            <a:off x="731520" y="4131208"/>
            <a:ext cx="7315200" cy="216534"/>
          </a:xfrm>
          <a:prstGeom prst="rect">
            <a:avLst/>
          </a:prstGeom>
          <a:noFill/>
        </p:spPr>
        <p:txBody>
          <a:bodyPr wrap="square" lIns="0" tIns="0" rIns="0" bIns="0" anchor="t">
            <a:spAutoFit/>
          </a:bodyPr>
          <a:lstStyle/>
          <a:p>
            <a:pPr algn="l">
              <a:lnSpc>
                <a:spcPct val="115000"/>
              </a:lnSpc>
            </a:pPr>
            <a:r>
              <a:rPr lang="en-US" sz="1300" b="1" dirty="0">
                <a:solidFill>
                  <a:srgbClr val="FFFFFF"/>
                </a:solidFill>
                <a:latin typeface="Calibri"/>
              </a:rPr>
              <a:t>Preview Image API</a:t>
            </a:r>
            <a:endParaRPr sz="1300" b="1" dirty="0">
              <a:solidFill>
                <a:srgbClr val="FFFFFF"/>
              </a:solidFill>
              <a:latin typeface="Calibri"/>
            </a:endParaRPr>
          </a:p>
        </p:txBody>
      </p:sp>
      <p:sp>
        <p:nvSpPr>
          <p:cNvPr id="43" name="Rectangle 42">
            <a:extLst>
              <a:ext uri="{FF2B5EF4-FFF2-40B4-BE49-F238E27FC236}">
                <a16:creationId xmlns:a16="http://schemas.microsoft.com/office/drawing/2014/main" id="{7C3301E5-2029-00F2-07CC-2135B6AFA4EE}"/>
              </a:ext>
            </a:extLst>
          </p:cNvPr>
          <p:cNvSpPr/>
          <p:nvPr/>
        </p:nvSpPr>
        <p:spPr>
          <a:xfrm>
            <a:off x="679762" y="1986519"/>
            <a:ext cx="11002130" cy="18430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IN" dirty="0"/>
              <a:t>Endpoint : /images/upload </a:t>
            </a:r>
          </a:p>
          <a:p>
            <a:r>
              <a:rPr lang="en-IN" dirty="0"/>
              <a:t>HTTP Method: POST</a:t>
            </a:r>
            <a:br>
              <a:rPr lang="en-IN" dirty="0"/>
            </a:br>
            <a:r>
              <a:rPr lang="en-IN" dirty="0"/>
              <a:t>Authentication : Azure Entra ID (JWT Token)</a:t>
            </a:r>
            <a:br>
              <a:rPr lang="en-IN" dirty="0"/>
            </a:br>
            <a:r>
              <a:rPr lang="en-IN" dirty="0"/>
              <a:t>Authorization : Admin, Uploader</a:t>
            </a:r>
            <a:br>
              <a:rPr lang="en-IN" dirty="0"/>
            </a:br>
            <a:r>
              <a:rPr lang="en-IN" dirty="0"/>
              <a:t>Security : HTTPS + JWT + RBAC </a:t>
            </a:r>
            <a:br>
              <a:rPr lang="en-IN" dirty="0"/>
            </a:br>
            <a:r>
              <a:rPr lang="en-IN" dirty="0"/>
              <a:t>Content-Type : application/</a:t>
            </a:r>
            <a:r>
              <a:rPr lang="en-IN" dirty="0" err="1"/>
              <a:t>json</a:t>
            </a:r>
            <a:endParaRPr lang="en-IN" dirty="0"/>
          </a:p>
        </p:txBody>
      </p:sp>
      <p:sp>
        <p:nvSpPr>
          <p:cNvPr id="45" name="Rectangle 44">
            <a:extLst>
              <a:ext uri="{FF2B5EF4-FFF2-40B4-BE49-F238E27FC236}">
                <a16:creationId xmlns:a16="http://schemas.microsoft.com/office/drawing/2014/main" id="{314E81C6-D442-1B73-AC97-5DBCF22C0E3F}"/>
              </a:ext>
            </a:extLst>
          </p:cNvPr>
          <p:cNvSpPr/>
          <p:nvPr/>
        </p:nvSpPr>
        <p:spPr>
          <a:xfrm>
            <a:off x="679762" y="4603516"/>
            <a:ext cx="11002130" cy="18430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IN" dirty="0"/>
              <a:t>Endpoint : /images/preview/{</a:t>
            </a:r>
            <a:r>
              <a:rPr lang="en-IN" dirty="0" err="1"/>
              <a:t>imageId</a:t>
            </a:r>
            <a:r>
              <a:rPr lang="en-IN" dirty="0"/>
              <a:t>}</a:t>
            </a:r>
          </a:p>
          <a:p>
            <a:r>
              <a:rPr lang="en-IN" dirty="0"/>
              <a:t>HTTP Method: GET</a:t>
            </a:r>
            <a:br>
              <a:rPr lang="en-IN" dirty="0"/>
            </a:br>
            <a:r>
              <a:rPr lang="en-IN" dirty="0"/>
              <a:t>Authentication : Azure Entra ID (JWT Token)</a:t>
            </a:r>
            <a:br>
              <a:rPr lang="en-IN" dirty="0"/>
            </a:br>
            <a:r>
              <a:rPr lang="en-IN" dirty="0"/>
              <a:t>Authorization : Admin, Uploader, Viewer</a:t>
            </a:r>
            <a:br>
              <a:rPr lang="en-IN" dirty="0"/>
            </a:br>
            <a:r>
              <a:rPr lang="en-IN" dirty="0"/>
              <a:t>Security : HTTPS + JWT + RBAC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D3A09-A8DE-2152-69A2-660A1695664F}"/>
            </a:ext>
          </a:extLst>
        </p:cNvPr>
        <p:cNvGrpSpPr/>
        <p:nvPr/>
      </p:nvGrpSpPr>
      <p:grpSpPr>
        <a:xfrm>
          <a:off x="0" y="0"/>
          <a:ext cx="0" cy="0"/>
          <a:chOff x="0" y="0"/>
          <a:chExt cx="0" cy="0"/>
        </a:xfrm>
      </p:grpSpPr>
      <p:sp>
        <p:nvSpPr>
          <p:cNvPr id="2" name="BgRect">
            <a:extLst>
              <a:ext uri="{FF2B5EF4-FFF2-40B4-BE49-F238E27FC236}">
                <a16:creationId xmlns:a16="http://schemas.microsoft.com/office/drawing/2014/main" id="{7BEA8BC8-0D3E-5E1D-3103-A028A79CD69A}"/>
              </a:ext>
            </a:extLst>
          </p:cNvPr>
          <p:cNvSpPr/>
          <p:nvPr/>
        </p:nvSpPr>
        <p:spPr>
          <a:xfrm>
            <a:off x="0" y="0"/>
            <a:ext cx="12192000" cy="6858000"/>
          </a:xfrm>
          <a:prstGeom prst="rect">
            <a:avLst/>
          </a:prstGeom>
          <a:solidFill>
            <a:srgbClr val="02082E"/>
          </a:solidFill>
          <a:ln>
            <a:noFill/>
          </a:ln>
        </p:spPr>
        <p:txBody>
          <a:bodyPr rtlCol="0" anchor="ctr"/>
          <a:lstStyle/>
          <a:p>
            <a:r>
              <a:rPr lang="en-US" dirty="0"/>
              <a:t>     </a:t>
            </a:r>
            <a:endParaRPr dirty="0"/>
          </a:p>
        </p:txBody>
      </p:sp>
      <p:sp>
        <p:nvSpPr>
          <p:cNvPr id="3" name="Title">
            <a:extLst>
              <a:ext uri="{FF2B5EF4-FFF2-40B4-BE49-F238E27FC236}">
                <a16:creationId xmlns:a16="http://schemas.microsoft.com/office/drawing/2014/main" id="{6FD70686-7B13-012C-0879-ABCEE157B495}"/>
              </a:ext>
            </a:extLst>
          </p:cNvPr>
          <p:cNvSpPr txBox="1"/>
          <p:nvPr/>
        </p:nvSpPr>
        <p:spPr>
          <a:xfrm>
            <a:off x="548640" y="408467"/>
            <a:ext cx="11094720" cy="433067"/>
          </a:xfrm>
          <a:prstGeom prst="rect">
            <a:avLst/>
          </a:prstGeom>
          <a:noFill/>
        </p:spPr>
        <p:txBody>
          <a:bodyPr wrap="square" lIns="0" tIns="0" rIns="0" bIns="0" anchor="t">
            <a:spAutoFit/>
          </a:bodyPr>
          <a:lstStyle/>
          <a:p>
            <a:pPr algn="l">
              <a:lnSpc>
                <a:spcPct val="115000"/>
              </a:lnSpc>
            </a:pPr>
            <a:r>
              <a:rPr lang="en-US" sz="2600" b="1" dirty="0">
                <a:solidFill>
                  <a:srgbClr val="FFFFFF"/>
                </a:solidFill>
                <a:latin typeface="Calibri"/>
              </a:rPr>
              <a:t>DATABASE – E-R DIAGRAM</a:t>
            </a:r>
            <a:endParaRPr sz="2600" b="1" dirty="0">
              <a:solidFill>
                <a:srgbClr val="FFFFFF"/>
              </a:solidFill>
              <a:latin typeface="Calibri"/>
            </a:endParaRPr>
          </a:p>
        </p:txBody>
      </p:sp>
      <p:sp>
        <p:nvSpPr>
          <p:cNvPr id="4" name="AccentBar">
            <a:extLst>
              <a:ext uri="{FF2B5EF4-FFF2-40B4-BE49-F238E27FC236}">
                <a16:creationId xmlns:a16="http://schemas.microsoft.com/office/drawing/2014/main" id="{A66DB13C-51C8-F13E-149F-460B88B163C0}"/>
              </a:ext>
            </a:extLst>
          </p:cNvPr>
          <p:cNvSpPr/>
          <p:nvPr/>
        </p:nvSpPr>
        <p:spPr>
          <a:xfrm>
            <a:off x="548640" y="1097280"/>
            <a:ext cx="502920" cy="38100"/>
          </a:xfrm>
          <a:prstGeom prst="rect">
            <a:avLst/>
          </a:prstGeom>
          <a:solidFill>
            <a:srgbClr val="1E88E5"/>
          </a:solidFill>
          <a:ln>
            <a:noFill/>
          </a:ln>
        </p:spPr>
        <p:txBody>
          <a:bodyPr/>
          <a:lstStyle/>
          <a:p>
            <a:endParaRPr/>
          </a:p>
        </p:txBody>
      </p:sp>
      <p:sp>
        <p:nvSpPr>
          <p:cNvPr id="10" name="Explain">
            <a:extLst>
              <a:ext uri="{FF2B5EF4-FFF2-40B4-BE49-F238E27FC236}">
                <a16:creationId xmlns:a16="http://schemas.microsoft.com/office/drawing/2014/main" id="{6C0FCFA4-7757-B33D-914F-A0D0C3B6602F}"/>
              </a:ext>
            </a:extLst>
          </p:cNvPr>
          <p:cNvSpPr txBox="1"/>
          <p:nvPr/>
        </p:nvSpPr>
        <p:spPr>
          <a:xfrm>
            <a:off x="548640" y="1250000"/>
            <a:ext cx="5079345" cy="3616311"/>
          </a:xfrm>
          <a:prstGeom prst="rect">
            <a:avLst/>
          </a:prstGeom>
          <a:noFill/>
        </p:spPr>
        <p:txBody>
          <a:bodyPr wrap="square" lIns="91440" tIns="45720" rIns="91440" bIns="45720">
            <a:spAutoFit/>
          </a:bodyPr>
          <a:lstStyle/>
          <a:p>
            <a:pPr algn="just">
              <a:lnSpc>
                <a:spcPct val="130000"/>
              </a:lnSpc>
            </a:pPr>
            <a:r>
              <a:rPr lang="en-IN" sz="1200" dirty="0">
                <a:solidFill>
                  <a:srgbClr val="E8ECF4"/>
                </a:solidFill>
                <a:latin typeface="Calibri"/>
              </a:rPr>
              <a:t>The Entity Relationship Diagram (ERD) illustrates the database design for the Document Upload Portal, where Azure Entra ID manages user authentication, authorization, roles, and group memberships, while Azure SQL Database stores only image metadata. The core entity, </a:t>
            </a:r>
            <a:r>
              <a:rPr lang="en-IN" sz="1200" dirty="0" err="1">
                <a:solidFill>
                  <a:srgbClr val="E8ECF4"/>
                </a:solidFill>
                <a:latin typeface="Calibri"/>
              </a:rPr>
              <a:t>Image_Details</a:t>
            </a:r>
            <a:r>
              <a:rPr lang="en-IN" sz="1200" dirty="0">
                <a:solidFill>
                  <a:srgbClr val="E8ECF4"/>
                </a:solidFill>
                <a:latin typeface="Calibri"/>
              </a:rPr>
              <a:t>, captures information such as image name, type, storage path, size, upload timestamp, and the Azure Entra ID </a:t>
            </a:r>
            <a:r>
              <a:rPr lang="en-IN" sz="1200" dirty="0" err="1">
                <a:solidFill>
                  <a:srgbClr val="E8ECF4"/>
                </a:solidFill>
                <a:latin typeface="Calibri"/>
              </a:rPr>
              <a:t>User_Id</a:t>
            </a:r>
            <a:r>
              <a:rPr lang="en-IN" sz="1200" dirty="0">
                <a:solidFill>
                  <a:srgbClr val="E8ECF4"/>
                </a:solidFill>
                <a:latin typeface="Calibri"/>
              </a:rPr>
              <a:t> of the uploader. Physical image files are stored in Azure Blob Storage, and the </a:t>
            </a:r>
            <a:r>
              <a:rPr lang="en-IN" sz="1200" dirty="0" err="1">
                <a:solidFill>
                  <a:srgbClr val="E8ECF4"/>
                </a:solidFill>
                <a:latin typeface="Calibri"/>
              </a:rPr>
              <a:t>Image_Path</a:t>
            </a:r>
            <a:r>
              <a:rPr lang="en-IN" sz="1200" dirty="0">
                <a:solidFill>
                  <a:srgbClr val="E8ECF4"/>
                </a:solidFill>
                <a:latin typeface="Calibri"/>
              </a:rPr>
              <a:t> column provides the logical reference to the stored file. The </a:t>
            </a:r>
            <a:r>
              <a:rPr lang="en-IN" sz="1200" dirty="0" err="1">
                <a:solidFill>
                  <a:srgbClr val="E8ECF4"/>
                </a:solidFill>
                <a:latin typeface="Calibri"/>
              </a:rPr>
              <a:t>User_Id</a:t>
            </a:r>
            <a:r>
              <a:rPr lang="en-IN" sz="1200" dirty="0">
                <a:solidFill>
                  <a:srgbClr val="E8ECF4"/>
                </a:solidFill>
                <a:latin typeface="Calibri"/>
              </a:rPr>
              <a:t> serves as a logical ownership reference, enabling Role-Based Access Control (RBAC) and image-level authorization without storing user data in the database. This simplified, cloud-native design ensures scalability, security, minimal data redundancy, and seamless integration with Azure identity and storage services.</a:t>
            </a:r>
          </a:p>
          <a:p>
            <a:pPr>
              <a:lnSpc>
                <a:spcPct val="130000"/>
              </a:lnSpc>
            </a:pPr>
            <a:endParaRPr lang="en-IN" sz="1200" dirty="0">
              <a:solidFill>
                <a:srgbClr val="E8ECF4"/>
              </a:solidFill>
              <a:latin typeface="Calibri"/>
            </a:endParaRPr>
          </a:p>
          <a:p>
            <a:pPr algn="l">
              <a:lnSpc>
                <a:spcPct val="130000"/>
              </a:lnSpc>
            </a:pPr>
            <a:endParaRPr lang="en-IN" sz="1050" dirty="0">
              <a:solidFill>
                <a:srgbClr val="E8ECF4"/>
              </a:solidFill>
              <a:latin typeface="Calibri"/>
            </a:endParaRPr>
          </a:p>
          <a:p>
            <a:pPr algn="l">
              <a:lnSpc>
                <a:spcPct val="130000"/>
              </a:lnSpc>
            </a:pPr>
            <a:endParaRPr sz="1050" b="0" dirty="0">
              <a:solidFill>
                <a:srgbClr val="E8ECF4"/>
              </a:solidFill>
              <a:latin typeface="Calibri"/>
            </a:endParaRPr>
          </a:p>
        </p:txBody>
      </p:sp>
      <p:sp>
        <p:nvSpPr>
          <p:cNvPr id="90" name="SlideNum">
            <a:extLst>
              <a:ext uri="{FF2B5EF4-FFF2-40B4-BE49-F238E27FC236}">
                <a16:creationId xmlns:a16="http://schemas.microsoft.com/office/drawing/2014/main" id="{0FB676FF-087B-22EA-663B-D0F23AD61025}"/>
              </a:ext>
            </a:extLst>
          </p:cNvPr>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8</a:t>
            </a:r>
          </a:p>
        </p:txBody>
      </p:sp>
      <p:sp>
        <p:nvSpPr>
          <p:cNvPr id="91" name="Copyright">
            <a:extLst>
              <a:ext uri="{FF2B5EF4-FFF2-40B4-BE49-F238E27FC236}">
                <a16:creationId xmlns:a16="http://schemas.microsoft.com/office/drawing/2014/main" id="{0047B1C0-34CD-98A3-5CD8-6BA577C6F9BC}"/>
              </a:ext>
            </a:extLst>
          </p:cNvPr>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pic>
        <p:nvPicPr>
          <p:cNvPr id="3074" name="Picture 2">
            <a:extLst>
              <a:ext uri="{FF2B5EF4-FFF2-40B4-BE49-F238E27FC236}">
                <a16:creationId xmlns:a16="http://schemas.microsoft.com/office/drawing/2014/main" id="{5A41DBE8-B0CC-A81A-DB29-515E461B39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6625" y="1116330"/>
            <a:ext cx="5729288" cy="477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5036932"/>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EB7DD-3117-D4FA-7E6D-17AF74A62F21}"/>
            </a:ext>
          </a:extLst>
        </p:cNvPr>
        <p:cNvGrpSpPr/>
        <p:nvPr/>
      </p:nvGrpSpPr>
      <p:grpSpPr>
        <a:xfrm>
          <a:off x="0" y="0"/>
          <a:ext cx="0" cy="0"/>
          <a:chOff x="0" y="0"/>
          <a:chExt cx="0" cy="0"/>
        </a:xfrm>
      </p:grpSpPr>
      <p:sp>
        <p:nvSpPr>
          <p:cNvPr id="2" name="BgRect">
            <a:extLst>
              <a:ext uri="{FF2B5EF4-FFF2-40B4-BE49-F238E27FC236}">
                <a16:creationId xmlns:a16="http://schemas.microsoft.com/office/drawing/2014/main" id="{529128AE-5984-6E61-180C-E2DEB8741E0A}"/>
              </a:ext>
            </a:extLst>
          </p:cNvPr>
          <p:cNvSpPr/>
          <p:nvPr/>
        </p:nvSpPr>
        <p:spPr>
          <a:xfrm>
            <a:off x="23004" y="0"/>
            <a:ext cx="12192000" cy="6858000"/>
          </a:xfrm>
          <a:prstGeom prst="rect">
            <a:avLst/>
          </a:prstGeom>
          <a:solidFill>
            <a:srgbClr val="02082E"/>
          </a:solidFill>
          <a:ln>
            <a:noFill/>
          </a:ln>
        </p:spPr>
        <p:txBody>
          <a:bodyPr rtlCol="0" anchor="ctr"/>
          <a:lstStyle/>
          <a:p>
            <a:r>
              <a:rPr lang="en-US" dirty="0"/>
              <a:t>     </a:t>
            </a:r>
            <a:endParaRPr dirty="0"/>
          </a:p>
        </p:txBody>
      </p:sp>
      <p:sp>
        <p:nvSpPr>
          <p:cNvPr id="3" name="Title">
            <a:extLst>
              <a:ext uri="{FF2B5EF4-FFF2-40B4-BE49-F238E27FC236}">
                <a16:creationId xmlns:a16="http://schemas.microsoft.com/office/drawing/2014/main" id="{E57AE4A8-D50B-B2C8-55A1-4470C62E1CE1}"/>
              </a:ext>
            </a:extLst>
          </p:cNvPr>
          <p:cNvSpPr txBox="1"/>
          <p:nvPr/>
        </p:nvSpPr>
        <p:spPr>
          <a:xfrm>
            <a:off x="548640" y="408467"/>
            <a:ext cx="11094720" cy="433067"/>
          </a:xfrm>
          <a:prstGeom prst="rect">
            <a:avLst/>
          </a:prstGeom>
          <a:noFill/>
        </p:spPr>
        <p:txBody>
          <a:bodyPr wrap="square" lIns="0" tIns="0" rIns="0" bIns="0" anchor="t">
            <a:spAutoFit/>
          </a:bodyPr>
          <a:lstStyle/>
          <a:p>
            <a:pPr>
              <a:lnSpc>
                <a:spcPct val="115000"/>
              </a:lnSpc>
            </a:pPr>
            <a:r>
              <a:rPr lang="en-IN" sz="2600" b="1" dirty="0">
                <a:solidFill>
                  <a:srgbClr val="FFFFFF"/>
                </a:solidFill>
              </a:rPr>
              <a:t>LOW-LEVEL DESIGN — CLASS DIAGRAM</a:t>
            </a:r>
          </a:p>
        </p:txBody>
      </p:sp>
      <p:sp>
        <p:nvSpPr>
          <p:cNvPr id="4" name="AccentBar">
            <a:extLst>
              <a:ext uri="{FF2B5EF4-FFF2-40B4-BE49-F238E27FC236}">
                <a16:creationId xmlns:a16="http://schemas.microsoft.com/office/drawing/2014/main" id="{5854B1F7-7261-101D-6ED1-14BEF930375C}"/>
              </a:ext>
            </a:extLst>
          </p:cNvPr>
          <p:cNvSpPr/>
          <p:nvPr/>
        </p:nvSpPr>
        <p:spPr>
          <a:xfrm>
            <a:off x="548640" y="1097280"/>
            <a:ext cx="502920" cy="38100"/>
          </a:xfrm>
          <a:prstGeom prst="rect">
            <a:avLst/>
          </a:prstGeom>
          <a:solidFill>
            <a:srgbClr val="1E88E5"/>
          </a:solidFill>
          <a:ln>
            <a:noFill/>
          </a:ln>
        </p:spPr>
        <p:txBody>
          <a:bodyPr/>
          <a:lstStyle/>
          <a:p>
            <a:endParaRPr/>
          </a:p>
        </p:txBody>
      </p:sp>
      <p:sp>
        <p:nvSpPr>
          <p:cNvPr id="90" name="SlideNum">
            <a:extLst>
              <a:ext uri="{FF2B5EF4-FFF2-40B4-BE49-F238E27FC236}">
                <a16:creationId xmlns:a16="http://schemas.microsoft.com/office/drawing/2014/main" id="{B26E75E1-22C6-AFF6-E3CA-22418BB2368F}"/>
              </a:ext>
            </a:extLst>
          </p:cNvPr>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8</a:t>
            </a:r>
          </a:p>
        </p:txBody>
      </p:sp>
      <p:sp>
        <p:nvSpPr>
          <p:cNvPr id="91" name="Copyright">
            <a:extLst>
              <a:ext uri="{FF2B5EF4-FFF2-40B4-BE49-F238E27FC236}">
                <a16:creationId xmlns:a16="http://schemas.microsoft.com/office/drawing/2014/main" id="{052050CC-17C0-AD91-9964-D5DE2452C3EF}"/>
              </a:ext>
            </a:extLst>
          </p:cNvPr>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pic>
        <p:nvPicPr>
          <p:cNvPr id="11" name="Picture 10">
            <a:extLst>
              <a:ext uri="{FF2B5EF4-FFF2-40B4-BE49-F238E27FC236}">
                <a16:creationId xmlns:a16="http://schemas.microsoft.com/office/drawing/2014/main" id="{2CF802C6-A131-F1A0-133A-ACDB6BD452AA}"/>
              </a:ext>
            </a:extLst>
          </p:cNvPr>
          <p:cNvPicPr>
            <a:picLocks noChangeAspect="1"/>
          </p:cNvPicPr>
          <p:nvPr/>
        </p:nvPicPr>
        <p:blipFill>
          <a:blip r:embed="rId2"/>
          <a:stretch>
            <a:fillRect/>
          </a:stretch>
        </p:blipFill>
        <p:spPr>
          <a:xfrm>
            <a:off x="457200" y="970658"/>
            <a:ext cx="11234468" cy="5686304"/>
          </a:xfrm>
          <a:prstGeom prst="rect">
            <a:avLst/>
          </a:prstGeom>
        </p:spPr>
      </p:pic>
    </p:spTree>
    <p:extLst>
      <p:ext uri="{BB962C8B-B14F-4D97-AF65-F5344CB8AC3E}">
        <p14:creationId xmlns:p14="http://schemas.microsoft.com/office/powerpoint/2010/main" val="2573207717"/>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a:p>
        </p:txBody>
      </p:sp>
      <p:sp>
        <p:nvSpPr>
          <p:cNvPr id="3" name="Title"/>
          <p:cNvSpPr txBox="1"/>
          <p:nvPr/>
        </p:nvSpPr>
        <p:spPr>
          <a:xfrm>
            <a:off x="457200" y="109908"/>
            <a:ext cx="11094720" cy="433067"/>
          </a:xfrm>
          <a:prstGeom prst="rect">
            <a:avLst/>
          </a:prstGeom>
          <a:noFill/>
        </p:spPr>
        <p:txBody>
          <a:bodyPr wrap="square" lIns="0" tIns="0" rIns="0" bIns="0" anchor="t">
            <a:spAutoFit/>
          </a:bodyPr>
          <a:lstStyle/>
          <a:p>
            <a:pPr>
              <a:lnSpc>
                <a:spcPct val="115000"/>
              </a:lnSpc>
            </a:pPr>
            <a:r>
              <a:rPr lang="en-IN" sz="2600" b="1" dirty="0">
                <a:solidFill>
                  <a:srgbClr val="FFFFFF"/>
                </a:solidFill>
              </a:rPr>
              <a:t>LOW-LEVEL DESIGN — </a:t>
            </a:r>
            <a:r>
              <a:rPr sz="2600" b="1" dirty="0">
                <a:solidFill>
                  <a:srgbClr val="FFFFFF"/>
                </a:solidFill>
                <a:latin typeface="Calibri"/>
              </a:rPr>
              <a:t>SEQUENCE </a:t>
            </a:r>
            <a:r>
              <a:rPr lang="en-US" sz="2600" b="1" dirty="0">
                <a:solidFill>
                  <a:srgbClr val="FFFFFF"/>
                </a:solidFill>
                <a:latin typeface="Calibri"/>
              </a:rPr>
              <a:t>DIAGRAM</a:t>
            </a:r>
            <a:endParaRPr sz="2600" b="1" dirty="0">
              <a:solidFill>
                <a:srgbClr val="FFFFFF"/>
              </a:solidFill>
              <a:latin typeface="Calibri"/>
            </a:endParaRP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CustomerSeqExplain"/>
          <p:cNvSpPr txBox="1"/>
          <p:nvPr/>
        </p:nvSpPr>
        <p:spPr>
          <a:xfrm>
            <a:off x="548640" y="1250000"/>
            <a:ext cx="3609292" cy="4987776"/>
          </a:xfrm>
          <a:prstGeom prst="rect">
            <a:avLst/>
          </a:prstGeom>
          <a:noFill/>
        </p:spPr>
        <p:txBody>
          <a:bodyPr wrap="square" lIns="91440" tIns="45720" rIns="91440" bIns="45720">
            <a:spAutoFit/>
          </a:bodyPr>
          <a:lstStyle/>
          <a:p>
            <a:pPr>
              <a:lnSpc>
                <a:spcPct val="130000"/>
              </a:lnSpc>
            </a:pPr>
            <a:r>
              <a:rPr lang="en-IN" sz="1150" dirty="0">
                <a:solidFill>
                  <a:srgbClr val="E8ECF4"/>
                </a:solidFill>
                <a:latin typeface="Calibri"/>
              </a:rPr>
              <a:t>The Document Upload Portal Sequence Diagram illustrates the complete end-to-end interaction flow for secure image upload and preview operations within a cloud-native Azure environment. The process begins with user authentication through Azure Entra ID, where OAuth 2.0/OpenID Connect is used to validate credentials and generate a JWT token containing role-based claims. During image upload and preview requests, the JWT token is validated by the Authentication and Authorization middleware, and RBAC policies determine user access permissions. The application retrieves secure configurations from Azure Key Vault using Managed Identity, stores image files in Azure Blob Storage, and persists image metadata in Azure SQL Database using the Repository Pattern. The solution incorporates centralized logging, telemetry, monitoring, and exception handling to provide observability, security, reliability, and operational visibility. The sequence demonstrates a scalable, secure, and enterprise-grade architecture aligned with .NET Core, Azure Cloud Native, and SOLID design principles.</a:t>
            </a:r>
          </a:p>
          <a:p>
            <a:pPr algn="l">
              <a:lnSpc>
                <a:spcPct val="130000"/>
              </a:lnSpc>
            </a:pPr>
            <a:endParaRPr sz="1600" dirty="0">
              <a:solidFill>
                <a:srgbClr val="E8ECF4"/>
              </a:solidFill>
              <a:latin typeface="Calibri"/>
            </a:endParaRPr>
          </a:p>
        </p:txBody>
      </p:sp>
      <p:sp>
        <p:nvSpPr>
          <p:cNvPr id="90" name="SlideNum"/>
          <p:cNvSpPr txBox="1"/>
          <p:nvPr/>
        </p:nvSpPr>
        <p:spPr>
          <a:xfrm>
            <a:off x="457200" y="6492240"/>
            <a:ext cx="548640" cy="228600"/>
          </a:xfrm>
          <a:prstGeom prst="rect">
            <a:avLst/>
          </a:prstGeom>
          <a:noFill/>
        </p:spPr>
        <p:txBody>
          <a:bodyPr wrap="square" lIns="0" tIns="0" rIns="0" bIns="0" anchor="t">
            <a:spAutoFit/>
          </a:bodyPr>
          <a:lstStyle/>
          <a:p>
            <a:r>
              <a:rPr sz="1000" b="0">
                <a:solidFill>
                  <a:srgbClr val="B8C6E3"/>
                </a:solidFill>
                <a:latin typeface="Calibri"/>
              </a:rPr>
              <a:t>14</a:t>
            </a:r>
          </a:p>
        </p:txBody>
      </p:sp>
      <p:sp>
        <p:nvSpPr>
          <p:cNvPr id="91" name="Copyright"/>
          <p:cNvSpPr txBox="1"/>
          <p:nvPr/>
        </p:nvSpPr>
        <p:spPr>
          <a:xfrm>
            <a:off x="1005840" y="6492240"/>
            <a:ext cx="7315200" cy="228600"/>
          </a:xfrm>
          <a:prstGeom prst="rect">
            <a:avLst/>
          </a:prstGeom>
          <a:noFill/>
        </p:spPr>
        <p:txBody>
          <a:bodyPr wrap="square" lIns="0" tIns="0" rIns="0" bIns="0" anchor="t">
            <a:spAutoFit/>
          </a:bodyPr>
          <a:lstStyle/>
          <a:p>
            <a:r>
              <a:rPr sz="900" b="0">
                <a:solidFill>
                  <a:srgbClr val="B8C6E3"/>
                </a:solidFill>
                <a:latin typeface="Calibri"/>
              </a:rPr>
              <a:t>© 2026 Cognizant | Confidential &amp; Proprietary</a:t>
            </a:r>
          </a:p>
        </p:txBody>
      </p:sp>
      <p:pic>
        <p:nvPicPr>
          <p:cNvPr id="6" name="Picture 5">
            <a:extLst>
              <a:ext uri="{FF2B5EF4-FFF2-40B4-BE49-F238E27FC236}">
                <a16:creationId xmlns:a16="http://schemas.microsoft.com/office/drawing/2014/main" id="{58E51251-4267-D114-E3A8-A2AD6BF267DB}"/>
              </a:ext>
            </a:extLst>
          </p:cNvPr>
          <p:cNvPicPr>
            <a:picLocks noChangeAspect="1"/>
          </p:cNvPicPr>
          <p:nvPr/>
        </p:nvPicPr>
        <p:blipFill>
          <a:blip r:embed="rId2"/>
          <a:stretch>
            <a:fillRect/>
          </a:stretch>
        </p:blipFill>
        <p:spPr>
          <a:xfrm>
            <a:off x="4422475" y="617795"/>
            <a:ext cx="7678085" cy="61030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a:p>
        </p:txBody>
      </p:sp>
      <p:sp>
        <p:nvSpPr>
          <p:cNvPr id="3" name="Title"/>
          <p:cNvSpPr txBox="1"/>
          <p:nvPr/>
        </p:nvSpPr>
        <p:spPr>
          <a:xfrm>
            <a:off x="548640" y="411480"/>
            <a:ext cx="1109472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COMPONENT DIAGRAM — AS-BUILT</a:t>
            </a: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Explain"/>
          <p:cNvSpPr txBox="1"/>
          <p:nvPr/>
        </p:nvSpPr>
        <p:spPr>
          <a:xfrm>
            <a:off x="548640" y="1250000"/>
            <a:ext cx="5450000" cy="3123932"/>
          </a:xfrm>
          <a:prstGeom prst="rect">
            <a:avLst/>
          </a:prstGeom>
          <a:noFill/>
        </p:spPr>
        <p:txBody>
          <a:bodyPr wrap="square" lIns="91440" tIns="45720" rIns="91440" bIns="45720">
            <a:spAutoFit/>
          </a:bodyPr>
          <a:lstStyle/>
          <a:p>
            <a:r>
              <a:rPr lang="en-IN" sz="1600" dirty="0">
                <a:solidFill>
                  <a:srgbClr val="E8ECF4"/>
                </a:solidFill>
                <a:latin typeface="Calibri"/>
              </a:rPr>
              <a:t>The Component Architecture Diagram illustrates the internal structure of the Document Upload Portal, highlighting the interaction between the .NET Core MVC Web Application, .NET Core Web API, security components, business services, repositories, and Azure platform services. The solution follows a layered monolithic architecture with clear separation of concerns, leveraging Azure Entra ID for authentication, RBAC for authorization, Repository Pattern for data access, Azure Blob Storage for image management, Azure SQL Database for metadata persistence, and Azure Key Vault for secure configuration management.</a:t>
            </a:r>
          </a:p>
          <a:p>
            <a:endParaRPr lang="en-IN" sz="1050" dirty="0">
              <a:solidFill>
                <a:srgbClr val="E8ECF4"/>
              </a:solidFill>
              <a:latin typeface="Calibri"/>
            </a:endParaRPr>
          </a:p>
          <a:p>
            <a:endParaRPr lang="en-IN" sz="1050" dirty="0">
              <a:solidFill>
                <a:srgbClr val="E8ECF4"/>
              </a:solidFill>
              <a:latin typeface="Calibri"/>
            </a:endParaRPr>
          </a:p>
        </p:txBody>
      </p:sp>
      <p:sp>
        <p:nvSpPr>
          <p:cNvPr id="90" name="SlideNum"/>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16</a:t>
            </a:r>
          </a:p>
        </p:txBody>
      </p:sp>
      <p:sp>
        <p:nvSpPr>
          <p:cNvPr id="91" name="Copyright"/>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pic>
        <p:nvPicPr>
          <p:cNvPr id="5122" name="Picture 2">
            <a:extLst>
              <a:ext uri="{FF2B5EF4-FFF2-40B4-BE49-F238E27FC236}">
                <a16:creationId xmlns:a16="http://schemas.microsoft.com/office/drawing/2014/main" id="{AC408D4C-B566-4578-C317-89C173A80E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840237"/>
            <a:ext cx="5729288" cy="453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a:p>
        </p:txBody>
      </p:sp>
      <p:sp>
        <p:nvSpPr>
          <p:cNvPr id="3" name="Title"/>
          <p:cNvSpPr txBox="1"/>
          <p:nvPr/>
        </p:nvSpPr>
        <p:spPr>
          <a:xfrm>
            <a:off x="548640" y="411480"/>
            <a:ext cx="3735813" cy="433067"/>
          </a:xfrm>
          <a:prstGeom prst="rect">
            <a:avLst/>
          </a:prstGeom>
          <a:noFill/>
        </p:spPr>
        <p:txBody>
          <a:bodyPr wrap="square" lIns="0" tIns="0" rIns="0" bIns="0" anchor="t">
            <a:spAutoFit/>
          </a:bodyPr>
          <a:lstStyle/>
          <a:p>
            <a:pPr algn="l">
              <a:lnSpc>
                <a:spcPct val="115000"/>
              </a:lnSpc>
            </a:pPr>
            <a:r>
              <a:rPr sz="2600" b="1" dirty="0">
                <a:solidFill>
                  <a:srgbClr val="FFFFFF"/>
                </a:solidFill>
                <a:latin typeface="Calibri"/>
              </a:rPr>
              <a:t>SECURITY &amp;</a:t>
            </a:r>
            <a:r>
              <a:rPr lang="en-US" sz="2600" b="1" dirty="0">
                <a:solidFill>
                  <a:srgbClr val="FFFFFF"/>
                </a:solidFill>
                <a:latin typeface="Calibri"/>
              </a:rPr>
              <a:t> Governance</a:t>
            </a:r>
            <a:endParaRPr sz="2600" b="1" dirty="0">
              <a:solidFill>
                <a:srgbClr val="FFFFFF"/>
              </a:solidFill>
              <a:latin typeface="Calibri"/>
            </a:endParaRP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Explain"/>
          <p:cNvSpPr txBox="1"/>
          <p:nvPr/>
        </p:nvSpPr>
        <p:spPr>
          <a:xfrm>
            <a:off x="548641" y="1250000"/>
            <a:ext cx="3540280" cy="4550926"/>
          </a:xfrm>
          <a:prstGeom prst="rect">
            <a:avLst/>
          </a:prstGeom>
          <a:noFill/>
        </p:spPr>
        <p:txBody>
          <a:bodyPr wrap="square" lIns="91440" tIns="45720" rIns="91440" bIns="45720">
            <a:spAutoFit/>
          </a:bodyPr>
          <a:lstStyle/>
          <a:p>
            <a:pPr algn="l">
              <a:lnSpc>
                <a:spcPct val="130000"/>
              </a:lnSpc>
            </a:pPr>
            <a:r>
              <a:rPr lang="en-IN" sz="1400" dirty="0">
                <a:solidFill>
                  <a:srgbClr val="E8ECF4"/>
                </a:solidFill>
                <a:latin typeface="Calibri"/>
              </a:rPr>
              <a:t>The Security &amp; Governance Architecture ensures secure access, data protection, operational monitoring, and compliance across the Document Upload Portal. Azure Entra ID provides centralized authentication and RBAC-based authorization, while Azure Application Gateway and WAF protect external access. Azure Key Vault secures application secrets using Managed Identity, and Azure Blob Storage and Azure SQL Database provide encrypted storage for images and metadata. Azure Monitor and Application Insights deliver centralized observability, auditability, and threat monitoring, ensuring a secure, scalable, and enterprise-compliant platform.</a:t>
            </a:r>
            <a:endParaRPr sz="1400" dirty="0">
              <a:solidFill>
                <a:srgbClr val="E8ECF4"/>
              </a:solidFill>
              <a:latin typeface="Calibri"/>
            </a:endParaRPr>
          </a:p>
        </p:txBody>
      </p:sp>
      <p:sp>
        <p:nvSpPr>
          <p:cNvPr id="90" name="SlideNum"/>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18</a:t>
            </a:r>
          </a:p>
        </p:txBody>
      </p:sp>
      <p:sp>
        <p:nvSpPr>
          <p:cNvPr id="91" name="Copyright"/>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pic>
        <p:nvPicPr>
          <p:cNvPr id="6" name="Picture 5">
            <a:extLst>
              <a:ext uri="{FF2B5EF4-FFF2-40B4-BE49-F238E27FC236}">
                <a16:creationId xmlns:a16="http://schemas.microsoft.com/office/drawing/2014/main" id="{0E92F092-AEE1-2DFD-2D43-4577BD0BDCB7}"/>
              </a:ext>
            </a:extLst>
          </p:cNvPr>
          <p:cNvPicPr>
            <a:picLocks noChangeAspect="1"/>
          </p:cNvPicPr>
          <p:nvPr/>
        </p:nvPicPr>
        <p:blipFill>
          <a:blip r:embed="rId2"/>
          <a:stretch>
            <a:fillRect/>
          </a:stretch>
        </p:blipFill>
        <p:spPr>
          <a:xfrm>
            <a:off x="4284453" y="92015"/>
            <a:ext cx="7677510" cy="66288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MONITORING &amp; LOGGING — STRATEGY</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57784" y="1417320"/>
            <a:ext cx="2212848" cy="4389120"/>
          </a:xfrm>
          <a:prstGeom prst="roundRect">
            <a:avLst>
              <a:gd name="adj" fmla="val 10000"/>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554480"/>
            <a:ext cx="2212848" cy="457200"/>
          </a:xfrm>
          <a:prstGeom prst="rect">
            <a:avLst/>
          </a:prstGeom>
          <a:noFill/>
        </p:spPr>
        <p:txBody>
          <a:bodyPr wrap="square" lIns="0" tIns="0" rIns="0" bIns="0" anchor="t">
            <a:spAutoFit/>
          </a:bodyPr>
          <a:lstStyle/>
          <a:p>
            <a:pPr algn="ctr">
              <a:lnSpc>
                <a:spcPct val="115000"/>
              </a:lnSpc>
            </a:pPr>
            <a:r>
              <a:rPr sz="1300" b="1">
                <a:solidFill>
                  <a:srgbClr val="FFFFFF"/>
                </a:solidFill>
                <a:latin typeface="Calibri"/>
              </a:rPr>
              <a:t>Telemetry sources</a:t>
            </a:r>
          </a:p>
        </p:txBody>
      </p:sp>
      <p:sp>
        <p:nvSpPr>
          <p:cNvPr id="7" name="TextBox 6"/>
          <p:cNvSpPr txBox="1"/>
          <p:nvPr/>
        </p:nvSpPr>
        <p:spPr>
          <a:xfrm>
            <a:off x="685800" y="2103120"/>
            <a:ext cx="1938528" cy="166584"/>
          </a:xfrm>
          <a:prstGeom prst="rect">
            <a:avLst/>
          </a:prstGeom>
          <a:noFill/>
        </p:spPr>
        <p:txBody>
          <a:bodyPr wrap="square" lIns="0" tIns="0" rIns="0" bIns="0" anchor="t">
            <a:spAutoFit/>
          </a:bodyPr>
          <a:lstStyle/>
          <a:p>
            <a:pPr algn="l">
              <a:lnSpc>
                <a:spcPct val="115000"/>
              </a:lnSpc>
            </a:pPr>
            <a:r>
              <a:rPr sz="1000" b="0" dirty="0">
                <a:solidFill>
                  <a:srgbClr val="E8ECF4"/>
                </a:solidFill>
                <a:latin typeface="Calibri"/>
              </a:rPr>
              <a:t>•  </a:t>
            </a:r>
            <a:r>
              <a:rPr lang="en-US" sz="1000" dirty="0" err="1">
                <a:solidFill>
                  <a:srgbClr val="E8ECF4"/>
                </a:solidFill>
                <a:latin typeface="Calibri"/>
              </a:rPr>
              <a:t>.Net</a:t>
            </a:r>
            <a:r>
              <a:rPr lang="en-US" sz="1000" dirty="0">
                <a:solidFill>
                  <a:srgbClr val="E8ECF4"/>
                </a:solidFill>
                <a:latin typeface="Calibri"/>
              </a:rPr>
              <a:t> Core</a:t>
            </a:r>
            <a:r>
              <a:rPr sz="1000" b="0" dirty="0">
                <a:solidFill>
                  <a:srgbClr val="E8ECF4"/>
                </a:solidFill>
                <a:latin typeface="Calibri"/>
              </a:rPr>
              <a:t> (browser)</a:t>
            </a:r>
          </a:p>
        </p:txBody>
      </p:sp>
      <p:sp>
        <p:nvSpPr>
          <p:cNvPr id="8" name="TextBox 7"/>
          <p:cNvSpPr txBox="1"/>
          <p:nvPr/>
        </p:nvSpPr>
        <p:spPr>
          <a:xfrm>
            <a:off x="685800" y="2514600"/>
            <a:ext cx="1938528" cy="457200"/>
          </a:xfrm>
          <a:prstGeom prst="rect">
            <a:avLst/>
          </a:prstGeom>
          <a:noFill/>
        </p:spPr>
        <p:txBody>
          <a:bodyPr wrap="square" lIns="0" tIns="0" rIns="0" bIns="0" anchor="t">
            <a:spAutoFit/>
          </a:bodyPr>
          <a:lstStyle/>
          <a:p>
            <a:pPr algn="l">
              <a:lnSpc>
                <a:spcPct val="115000"/>
              </a:lnSpc>
            </a:pPr>
            <a:r>
              <a:rPr sz="1000" b="0" dirty="0">
                <a:solidFill>
                  <a:srgbClr val="E8ECF4"/>
                </a:solidFill>
                <a:latin typeface="Calibri"/>
              </a:rPr>
              <a:t>•  .NET 8 API (</a:t>
            </a:r>
            <a:r>
              <a:rPr lang="en-IN" sz="1000" b="0" dirty="0" err="1">
                <a:solidFill>
                  <a:srgbClr val="E8ECF4"/>
                </a:solidFill>
                <a:latin typeface="Calibri"/>
              </a:rPr>
              <a:t>Serilog</a:t>
            </a:r>
            <a:r>
              <a:rPr sz="1000" b="0" dirty="0">
                <a:solidFill>
                  <a:srgbClr val="E8ECF4"/>
                </a:solidFill>
                <a:latin typeface="Calibri"/>
              </a:rPr>
              <a:t>)</a:t>
            </a:r>
          </a:p>
        </p:txBody>
      </p:sp>
      <p:sp>
        <p:nvSpPr>
          <p:cNvPr id="9" name="TextBox 8"/>
          <p:cNvSpPr txBox="1"/>
          <p:nvPr/>
        </p:nvSpPr>
        <p:spPr>
          <a:xfrm>
            <a:off x="685800" y="292608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Azure SQL diagnostics</a:t>
            </a:r>
          </a:p>
        </p:txBody>
      </p:sp>
      <p:sp>
        <p:nvSpPr>
          <p:cNvPr id="10" name="TextBox 9"/>
          <p:cNvSpPr txBox="1"/>
          <p:nvPr/>
        </p:nvSpPr>
        <p:spPr>
          <a:xfrm>
            <a:off x="685800" y="333756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App Service platform logs</a:t>
            </a:r>
          </a:p>
        </p:txBody>
      </p:sp>
      <p:cxnSp>
        <p:nvCxnSpPr>
          <p:cNvPr id="11" name="Connector 10"/>
          <p:cNvCxnSpPr/>
          <p:nvPr/>
        </p:nvCxnSpPr>
        <p:spPr>
          <a:xfrm>
            <a:off x="2770632" y="3611880"/>
            <a:ext cx="54864" cy="0"/>
          </a:xfrm>
          <a:prstGeom prst="bentConnector3">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40" y="1417320"/>
            <a:ext cx="2212848" cy="4389120"/>
          </a:xfrm>
          <a:prstGeom prst="roundRect">
            <a:avLst>
              <a:gd name="adj" fmla="val 10000"/>
            </a:avLst>
          </a:prstGeom>
          <a:solidFill>
            <a:srgbClr val="1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34640" y="1554480"/>
            <a:ext cx="2212848" cy="457200"/>
          </a:xfrm>
          <a:prstGeom prst="rect">
            <a:avLst/>
          </a:prstGeom>
          <a:noFill/>
        </p:spPr>
        <p:txBody>
          <a:bodyPr wrap="square" lIns="0" tIns="0" rIns="0" bIns="0" anchor="t">
            <a:spAutoFit/>
          </a:bodyPr>
          <a:lstStyle/>
          <a:p>
            <a:pPr algn="ctr">
              <a:lnSpc>
                <a:spcPct val="115000"/>
              </a:lnSpc>
            </a:pPr>
            <a:r>
              <a:rPr sz="1300" b="1">
                <a:solidFill>
                  <a:srgbClr val="FFFFFF"/>
                </a:solidFill>
                <a:latin typeface="Calibri"/>
              </a:rPr>
              <a:t>Collection</a:t>
            </a:r>
          </a:p>
        </p:txBody>
      </p:sp>
      <p:sp>
        <p:nvSpPr>
          <p:cNvPr id="14" name="TextBox 13"/>
          <p:cNvSpPr txBox="1"/>
          <p:nvPr/>
        </p:nvSpPr>
        <p:spPr>
          <a:xfrm>
            <a:off x="2971800" y="2103120"/>
            <a:ext cx="1938528" cy="457200"/>
          </a:xfrm>
          <a:prstGeom prst="rect">
            <a:avLst/>
          </a:prstGeom>
          <a:noFill/>
        </p:spPr>
        <p:txBody>
          <a:bodyPr wrap="square" lIns="0" tIns="0" rIns="0" bIns="0" anchor="t">
            <a:spAutoFit/>
          </a:bodyPr>
          <a:lstStyle/>
          <a:p>
            <a:pPr algn="l">
              <a:lnSpc>
                <a:spcPct val="115000"/>
              </a:lnSpc>
            </a:pPr>
            <a:r>
              <a:rPr sz="1000" b="0" dirty="0">
                <a:solidFill>
                  <a:srgbClr val="E8ECF4"/>
                </a:solidFill>
                <a:latin typeface="Calibri"/>
              </a:rPr>
              <a:t>•  Application Insights SDK (in-process)</a:t>
            </a:r>
          </a:p>
        </p:txBody>
      </p:sp>
      <p:sp>
        <p:nvSpPr>
          <p:cNvPr id="15" name="TextBox 14"/>
          <p:cNvSpPr txBox="1"/>
          <p:nvPr/>
        </p:nvSpPr>
        <p:spPr>
          <a:xfrm>
            <a:off x="2971800" y="251460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Serilog → App Insights sink</a:t>
            </a:r>
          </a:p>
        </p:txBody>
      </p:sp>
      <p:sp>
        <p:nvSpPr>
          <p:cNvPr id="16" name="TextBox 15"/>
          <p:cNvSpPr txBox="1"/>
          <p:nvPr/>
        </p:nvSpPr>
        <p:spPr>
          <a:xfrm>
            <a:off x="2971800" y="292608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Diagnostic settings on Azure SQL &amp; App Service</a:t>
            </a:r>
          </a:p>
        </p:txBody>
      </p:sp>
      <p:cxnSp>
        <p:nvCxnSpPr>
          <p:cNvPr id="17" name="Connector 16"/>
          <p:cNvCxnSpPr/>
          <p:nvPr/>
        </p:nvCxnSpPr>
        <p:spPr>
          <a:xfrm>
            <a:off x="5056632" y="3611880"/>
            <a:ext cx="54864" cy="0"/>
          </a:xfrm>
          <a:prstGeom prst="bentConnector3">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20640" y="1417320"/>
            <a:ext cx="2212848" cy="438912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554480"/>
            <a:ext cx="2212848" cy="457200"/>
          </a:xfrm>
          <a:prstGeom prst="rect">
            <a:avLst/>
          </a:prstGeom>
          <a:noFill/>
        </p:spPr>
        <p:txBody>
          <a:bodyPr wrap="square" lIns="0" tIns="0" rIns="0" bIns="0" anchor="t">
            <a:spAutoFit/>
          </a:bodyPr>
          <a:lstStyle/>
          <a:p>
            <a:pPr algn="ctr">
              <a:lnSpc>
                <a:spcPct val="115000"/>
              </a:lnSpc>
            </a:pPr>
            <a:r>
              <a:rPr sz="1300" b="1">
                <a:solidFill>
                  <a:srgbClr val="FFFFFF"/>
                </a:solidFill>
                <a:latin typeface="Calibri"/>
              </a:rPr>
              <a:t>Aggregation</a:t>
            </a:r>
          </a:p>
        </p:txBody>
      </p:sp>
      <p:sp>
        <p:nvSpPr>
          <p:cNvPr id="20" name="TextBox 19"/>
          <p:cNvSpPr txBox="1"/>
          <p:nvPr/>
        </p:nvSpPr>
        <p:spPr>
          <a:xfrm>
            <a:off x="5257800" y="210312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Application Insights (workspace-based)</a:t>
            </a:r>
          </a:p>
        </p:txBody>
      </p:sp>
      <p:sp>
        <p:nvSpPr>
          <p:cNvPr id="21" name="TextBox 20"/>
          <p:cNvSpPr txBox="1"/>
          <p:nvPr/>
        </p:nvSpPr>
        <p:spPr>
          <a:xfrm>
            <a:off x="5257800" y="251460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Log Analytics Workspace</a:t>
            </a:r>
          </a:p>
        </p:txBody>
      </p:sp>
      <p:sp>
        <p:nvSpPr>
          <p:cNvPr id="22" name="TextBox 21"/>
          <p:cNvSpPr txBox="1"/>
          <p:nvPr/>
        </p:nvSpPr>
        <p:spPr>
          <a:xfrm>
            <a:off x="5257800" y="2926080"/>
            <a:ext cx="1938528" cy="457200"/>
          </a:xfrm>
          <a:prstGeom prst="rect">
            <a:avLst/>
          </a:prstGeom>
          <a:noFill/>
        </p:spPr>
        <p:txBody>
          <a:bodyPr wrap="square" lIns="0" tIns="0" rIns="0" bIns="0" anchor="t">
            <a:spAutoFit/>
          </a:bodyPr>
          <a:lstStyle/>
          <a:p>
            <a:pPr algn="l">
              <a:lnSpc>
                <a:spcPct val="115000"/>
              </a:lnSpc>
            </a:pPr>
            <a:r>
              <a:rPr sz="1000" b="0" dirty="0">
                <a:solidFill>
                  <a:srgbClr val="E8ECF4"/>
                </a:solidFill>
                <a:latin typeface="Calibri"/>
              </a:rPr>
              <a:t>•  Retention: 90 d AI, 12 m LAW</a:t>
            </a:r>
          </a:p>
        </p:txBody>
      </p:sp>
      <p:cxnSp>
        <p:nvCxnSpPr>
          <p:cNvPr id="23" name="Connector 22"/>
          <p:cNvCxnSpPr/>
          <p:nvPr/>
        </p:nvCxnSpPr>
        <p:spPr>
          <a:xfrm>
            <a:off x="7342632" y="3611880"/>
            <a:ext cx="54864" cy="0"/>
          </a:xfrm>
          <a:prstGeom prst="bentConnector3">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406640" y="1417320"/>
            <a:ext cx="2212848" cy="4389120"/>
          </a:xfrm>
          <a:prstGeom prst="roundRect">
            <a:avLst>
              <a:gd name="adj" fmla="val 10000"/>
            </a:avLst>
          </a:prstGeom>
          <a:solidFill>
            <a:srgbClr val="3BC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06640" y="1554480"/>
            <a:ext cx="2212848" cy="457200"/>
          </a:xfrm>
          <a:prstGeom prst="rect">
            <a:avLst/>
          </a:prstGeom>
          <a:noFill/>
        </p:spPr>
        <p:txBody>
          <a:bodyPr wrap="square" lIns="0" tIns="0" rIns="0" bIns="0" anchor="t">
            <a:spAutoFit/>
          </a:bodyPr>
          <a:lstStyle/>
          <a:p>
            <a:pPr algn="ctr">
              <a:lnSpc>
                <a:spcPct val="115000"/>
              </a:lnSpc>
            </a:pPr>
            <a:r>
              <a:rPr sz="1300" b="1">
                <a:solidFill>
                  <a:srgbClr val="FFFFFF"/>
                </a:solidFill>
                <a:latin typeface="Calibri"/>
              </a:rPr>
              <a:t>Alerting</a:t>
            </a:r>
          </a:p>
        </p:txBody>
      </p:sp>
      <p:sp>
        <p:nvSpPr>
          <p:cNvPr id="26" name="TextBox 25"/>
          <p:cNvSpPr txBox="1"/>
          <p:nvPr/>
        </p:nvSpPr>
        <p:spPr>
          <a:xfrm>
            <a:off x="7543800" y="210312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Azure Monitor metric &amp; log alerts</a:t>
            </a:r>
          </a:p>
        </p:txBody>
      </p:sp>
      <p:sp>
        <p:nvSpPr>
          <p:cNvPr id="27" name="TextBox 26"/>
          <p:cNvSpPr txBox="1"/>
          <p:nvPr/>
        </p:nvSpPr>
        <p:spPr>
          <a:xfrm>
            <a:off x="7543800" y="251460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Action groups: Email today</a:t>
            </a:r>
          </a:p>
        </p:txBody>
      </p:sp>
      <p:sp>
        <p:nvSpPr>
          <p:cNvPr id="28" name="TextBox 27"/>
          <p:cNvSpPr txBox="1"/>
          <p:nvPr/>
        </p:nvSpPr>
        <p:spPr>
          <a:xfrm>
            <a:off x="7543800" y="292608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Teams / Slack / ITSM → roadmap</a:t>
            </a:r>
          </a:p>
        </p:txBody>
      </p:sp>
      <p:cxnSp>
        <p:nvCxnSpPr>
          <p:cNvPr id="29" name="Connector 28"/>
          <p:cNvCxnSpPr/>
          <p:nvPr/>
        </p:nvCxnSpPr>
        <p:spPr>
          <a:xfrm>
            <a:off x="9628632" y="3611880"/>
            <a:ext cx="54864" cy="0"/>
          </a:xfrm>
          <a:prstGeom prst="bentConnector3">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692640" y="1417320"/>
            <a:ext cx="2212848" cy="4389120"/>
          </a:xfrm>
          <a:prstGeom prst="roundRect">
            <a:avLst>
              <a:gd name="adj" fmla="val 10000"/>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692640" y="1554480"/>
            <a:ext cx="2212848" cy="457200"/>
          </a:xfrm>
          <a:prstGeom prst="rect">
            <a:avLst/>
          </a:prstGeom>
          <a:noFill/>
        </p:spPr>
        <p:txBody>
          <a:bodyPr wrap="square" lIns="0" tIns="0" rIns="0" bIns="0" anchor="t">
            <a:spAutoFit/>
          </a:bodyPr>
          <a:lstStyle/>
          <a:p>
            <a:pPr algn="ctr">
              <a:lnSpc>
                <a:spcPct val="115000"/>
              </a:lnSpc>
            </a:pPr>
            <a:r>
              <a:rPr sz="1300" b="1">
                <a:solidFill>
                  <a:srgbClr val="FFFFFF"/>
                </a:solidFill>
                <a:latin typeface="Calibri"/>
              </a:rPr>
              <a:t>Visualisation</a:t>
            </a:r>
          </a:p>
        </p:txBody>
      </p:sp>
      <p:sp>
        <p:nvSpPr>
          <p:cNvPr id="32" name="TextBox 31"/>
          <p:cNvSpPr txBox="1"/>
          <p:nvPr/>
        </p:nvSpPr>
        <p:spPr>
          <a:xfrm>
            <a:off x="9829800" y="210312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Azure Dashboards</a:t>
            </a:r>
          </a:p>
        </p:txBody>
      </p:sp>
      <p:sp>
        <p:nvSpPr>
          <p:cNvPr id="33" name="TextBox 32"/>
          <p:cNvSpPr txBox="1"/>
          <p:nvPr/>
        </p:nvSpPr>
        <p:spPr>
          <a:xfrm>
            <a:off x="9829800" y="251460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App Insights Workbooks</a:t>
            </a:r>
          </a:p>
        </p:txBody>
      </p:sp>
      <p:sp>
        <p:nvSpPr>
          <p:cNvPr id="34" name="TextBox 33"/>
          <p:cNvSpPr txBox="1"/>
          <p:nvPr/>
        </p:nvSpPr>
        <p:spPr>
          <a:xfrm>
            <a:off x="9829800" y="292608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Availability tests on /health</a:t>
            </a:r>
          </a:p>
        </p:txBody>
      </p:sp>
      <p:sp>
        <p:nvSpPr>
          <p:cNvPr id="35" name="TextBox 34"/>
          <p:cNvSpPr txBox="1"/>
          <p:nvPr/>
        </p:nvSpPr>
        <p:spPr>
          <a:xfrm>
            <a:off x="548640" y="6035040"/>
            <a:ext cx="11064240" cy="365760"/>
          </a:xfrm>
          <a:prstGeom prst="rect">
            <a:avLst/>
          </a:prstGeom>
          <a:noFill/>
        </p:spPr>
        <p:txBody>
          <a:bodyPr wrap="square" lIns="0" tIns="0" rIns="0" bIns="0" anchor="t">
            <a:spAutoFit/>
          </a:bodyPr>
          <a:lstStyle/>
          <a:p>
            <a:pPr algn="ctr">
              <a:lnSpc>
                <a:spcPct val="115000"/>
              </a:lnSpc>
            </a:pPr>
            <a:r>
              <a:rPr sz="1000" b="0">
                <a:solidFill>
                  <a:srgbClr val="B8C6E3"/>
                </a:solidFill>
                <a:latin typeface="Calibri"/>
              </a:rPr>
              <a:t>Correlation ID (X-Correlation-ID) propagated from SPA → API → Azure SQL; surfaced on every response and in every log line.</a:t>
            </a:r>
          </a:p>
        </p:txBody>
      </p:sp>
      <p:sp>
        <p:nvSpPr>
          <p:cNvPr id="36" name="TextBox 35"/>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19</a:t>
            </a:r>
          </a:p>
        </p:txBody>
      </p:sp>
      <p:sp>
        <p:nvSpPr>
          <p:cNvPr id="37" name="TextBox 36"/>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p:transition spd="slow">
    <p:comb/>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433067"/>
          </a:xfrm>
          <a:prstGeom prst="rect">
            <a:avLst/>
          </a:prstGeom>
          <a:noFill/>
        </p:spPr>
        <p:txBody>
          <a:bodyPr wrap="square" lIns="0" tIns="0" rIns="0" bIns="0" anchor="t">
            <a:spAutoFit/>
          </a:bodyPr>
          <a:lstStyle/>
          <a:p>
            <a:pPr algn="l">
              <a:lnSpc>
                <a:spcPct val="115000"/>
              </a:lnSpc>
            </a:pPr>
            <a:r>
              <a:rPr sz="2600" b="1" dirty="0">
                <a:solidFill>
                  <a:srgbClr val="FFFFFF"/>
                </a:solidFill>
                <a:latin typeface="Calibri"/>
              </a:rPr>
              <a:t>C</a:t>
            </a:r>
            <a:r>
              <a:rPr lang="en-US" sz="2600" b="1" dirty="0">
                <a:solidFill>
                  <a:srgbClr val="FFFFFF"/>
                </a:solidFill>
                <a:latin typeface="Calibri"/>
              </a:rPr>
              <a:t>ROSS CUTTING CONCERN</a:t>
            </a:r>
            <a:endParaRPr sz="2600" b="1" dirty="0">
              <a:solidFill>
                <a:srgbClr val="FFFFFF"/>
              </a:solidFill>
              <a:latin typeface="Calibri"/>
            </a:endParaRP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17320"/>
            <a:ext cx="5691134" cy="4116768"/>
          </a:xfrm>
          <a:prstGeom prst="rect">
            <a:avLst/>
          </a:prstGeom>
          <a:noFill/>
        </p:spPr>
        <p:txBody>
          <a:bodyPr wrap="square" lIns="0" tIns="0" rIns="0" bIns="0" anchor="t">
            <a:spAutoFit/>
          </a:bodyPr>
          <a:lstStyle/>
          <a:p>
            <a:pPr algn="just">
              <a:lnSpc>
                <a:spcPct val="120000"/>
              </a:lnSpc>
            </a:pPr>
            <a:r>
              <a:rPr lang="en-IN" sz="1600" dirty="0">
                <a:solidFill>
                  <a:srgbClr val="E8ECF4"/>
                </a:solidFill>
                <a:latin typeface="Calibri"/>
              </a:rPr>
              <a:t>Cross-Cutting Concerns ensure consistent security, reliability, performance, and operational excellence across the Document Upload Portal. The solution implements Authentication &amp; Authorization using Microsoft Entra ID, JWT, and RBAC; Logging &amp; Auditing for traceability; Exception Handling for resilient operations; Monitoring &amp; Alerting through Azure Monitor and Application Insights; Security controls including HTTPS, WAF, and encryption; Configuration &amp; Secret Management using Azure Key Vault and Managed Identity; Validation to enforce business and security rules; Performance Optimization through efficient resource utilization and caching strategies; and API Governance through versioning, rate limiting, and standardized API policies. Together, these capabilities provide a secure, scalable, maintainable, and enterprise-ready platform.</a:t>
            </a:r>
            <a:endParaRPr sz="1600" dirty="0">
              <a:solidFill>
                <a:srgbClr val="E8ECF4"/>
              </a:solidFill>
              <a:latin typeface="Calibri"/>
            </a:endParaRPr>
          </a:p>
        </p:txBody>
      </p:sp>
      <p:sp>
        <p:nvSpPr>
          <p:cNvPr id="6" name="TextBox 5"/>
          <p:cNvSpPr txBox="1"/>
          <p:nvPr/>
        </p:nvSpPr>
        <p:spPr>
          <a:xfrm>
            <a:off x="7041152" y="1155957"/>
            <a:ext cx="5007650" cy="3185487"/>
          </a:xfrm>
          <a:prstGeom prst="rect">
            <a:avLst/>
          </a:prstGeom>
          <a:noFill/>
        </p:spPr>
        <p:txBody>
          <a:bodyPr wrap="square" lIns="0" tIns="0">
            <a:spAutoFit/>
          </a:bodyPr>
          <a:lstStyle/>
          <a:p>
            <a:pPr algn="l">
              <a:lnSpc>
                <a:spcPct val="150000"/>
              </a:lnSpc>
            </a:pPr>
            <a:r>
              <a:rPr sz="2400" dirty="0">
                <a:solidFill>
                  <a:srgbClr val="E8ECF4"/>
                </a:solidFill>
                <a:latin typeface="Calibri"/>
              </a:rPr>
              <a:t>• </a:t>
            </a:r>
            <a:r>
              <a:rPr lang="en-IN" sz="2400" dirty="0">
                <a:solidFill>
                  <a:srgbClr val="E8ECF4"/>
                </a:solidFill>
                <a:latin typeface="Calibri"/>
              </a:rPr>
              <a:t>Authentication &amp; Authorization</a:t>
            </a:r>
          </a:p>
          <a:p>
            <a:pPr marL="171450" lvl="0" indent="-171450">
              <a:buFont typeface="Arial" panose="020B0604020202020204" pitchFamily="34" charset="0"/>
              <a:buChar char="•"/>
            </a:pPr>
            <a:r>
              <a:rPr lang="en-IN" sz="2400" dirty="0">
                <a:solidFill>
                  <a:srgbClr val="E8ECF4"/>
                </a:solidFill>
                <a:latin typeface="Calibri"/>
              </a:rPr>
              <a:t>Logging &amp; Auditing</a:t>
            </a:r>
          </a:p>
          <a:p>
            <a:pPr marL="171450" lvl="0" indent="-171450">
              <a:buFont typeface="Arial" panose="020B0604020202020204" pitchFamily="34" charset="0"/>
              <a:buChar char="•"/>
            </a:pPr>
            <a:r>
              <a:rPr lang="en-IN" sz="2400" dirty="0">
                <a:solidFill>
                  <a:srgbClr val="E8ECF4"/>
                </a:solidFill>
                <a:latin typeface="Calibri"/>
              </a:rPr>
              <a:t>Exception Handling</a:t>
            </a:r>
          </a:p>
          <a:p>
            <a:pPr marL="171450" lvl="0" indent="-171450">
              <a:buFont typeface="Arial" panose="020B0604020202020204" pitchFamily="34" charset="0"/>
              <a:buChar char="•"/>
            </a:pPr>
            <a:r>
              <a:rPr lang="en-IN" sz="2400" dirty="0">
                <a:solidFill>
                  <a:srgbClr val="E8ECF4"/>
                </a:solidFill>
                <a:latin typeface="Calibri"/>
              </a:rPr>
              <a:t>Monitoring &amp; Alerting</a:t>
            </a:r>
          </a:p>
          <a:p>
            <a:pPr marL="171450" lvl="0" indent="-171450">
              <a:buFont typeface="Arial" panose="020B0604020202020204" pitchFamily="34" charset="0"/>
              <a:buChar char="•"/>
            </a:pPr>
            <a:r>
              <a:rPr lang="en-IN" sz="2400" dirty="0">
                <a:solidFill>
                  <a:srgbClr val="E8ECF4"/>
                </a:solidFill>
                <a:latin typeface="Calibri"/>
              </a:rPr>
              <a:t>Security</a:t>
            </a:r>
          </a:p>
          <a:p>
            <a:pPr marL="171450" lvl="0" indent="-171450">
              <a:buFont typeface="Arial" panose="020B0604020202020204" pitchFamily="34" charset="0"/>
              <a:buChar char="•"/>
            </a:pPr>
            <a:r>
              <a:rPr lang="en-IN" sz="2400" dirty="0">
                <a:solidFill>
                  <a:srgbClr val="E8ECF4"/>
                </a:solidFill>
                <a:latin typeface="Calibri"/>
              </a:rPr>
              <a:t>Configuration &amp; Secret Management</a:t>
            </a:r>
          </a:p>
          <a:p>
            <a:pPr marL="171450" lvl="0" indent="-171450">
              <a:buFont typeface="Arial" panose="020B0604020202020204" pitchFamily="34" charset="0"/>
              <a:buChar char="•"/>
            </a:pPr>
            <a:r>
              <a:rPr lang="en-IN" sz="2400" dirty="0">
                <a:solidFill>
                  <a:srgbClr val="E8ECF4"/>
                </a:solidFill>
                <a:latin typeface="Calibri"/>
              </a:rPr>
              <a:t>Validation</a:t>
            </a:r>
          </a:p>
          <a:p>
            <a:pPr marL="171450" lvl="0" indent="-171450">
              <a:buFont typeface="Arial" panose="020B0604020202020204" pitchFamily="34" charset="0"/>
              <a:buChar char="•"/>
            </a:pPr>
            <a:r>
              <a:rPr lang="en-IN" sz="2400" dirty="0">
                <a:solidFill>
                  <a:srgbClr val="E8ECF4"/>
                </a:solidFill>
                <a:latin typeface="Calibri"/>
              </a:rPr>
              <a:t>API Governance</a:t>
            </a:r>
          </a:p>
        </p:txBody>
      </p:sp>
      <p:sp>
        <p:nvSpPr>
          <p:cNvPr id="8" name="TextBox 7"/>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25</a:t>
            </a:r>
          </a:p>
        </p:txBody>
      </p:sp>
      <p:sp>
        <p:nvSpPr>
          <p:cNvPr id="9" name="TextBox 8"/>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MONITORING &amp; LOGGING — SUMMARY</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10972800" cy="4275466"/>
          </a:xfrm>
          <a:prstGeom prst="rect">
            <a:avLst/>
          </a:prstGeom>
          <a:noFill/>
        </p:spPr>
        <p:txBody>
          <a:bodyPr wrap="square" lIns="0" tIns="0">
            <a:spAutoFit/>
          </a:bodyPr>
          <a:lstStyle/>
          <a:p>
            <a:pPr marL="285750" indent="-285750">
              <a:buFont typeface="Arial" panose="020B0604020202020204" pitchFamily="34" charset="0"/>
              <a:buChar char="•"/>
            </a:pPr>
            <a:r>
              <a:rPr lang="en-IN" sz="1600" dirty="0">
                <a:solidFill>
                  <a:srgbClr val="E8ECF4"/>
                </a:solidFill>
                <a:latin typeface="Calibri"/>
              </a:rPr>
              <a:t>Centralized Application Logging using Azure Application Insights to capture application events, API calls, exceptions, and user activities. </a:t>
            </a:r>
          </a:p>
          <a:p>
            <a:pPr marL="285750" indent="-285750">
              <a:buFont typeface="Arial" panose="020B0604020202020204" pitchFamily="34" charset="0"/>
              <a:buChar char="•"/>
            </a:pPr>
            <a:r>
              <a:rPr lang="en-IN" sz="1600" dirty="0">
                <a:solidFill>
                  <a:srgbClr val="E8ECF4"/>
                </a:solidFill>
                <a:latin typeface="Calibri"/>
              </a:rPr>
              <a:t>Real-Time Performance Monitoring to track API response times, image upload duration, request throughput, and application health. </a:t>
            </a:r>
          </a:p>
          <a:p>
            <a:pPr marL="285750" indent="-285750">
              <a:buFont typeface="Arial" panose="020B0604020202020204" pitchFamily="34" charset="0"/>
              <a:buChar char="•"/>
            </a:pPr>
            <a:r>
              <a:rPr lang="en-IN" sz="1600" dirty="0">
                <a:solidFill>
                  <a:srgbClr val="E8ECF4"/>
                </a:solidFill>
                <a:latin typeface="Calibri"/>
              </a:rPr>
              <a:t>Exception &amp; Error Tracking for proactive identification of upload failures, database connectivity issues, and image processing errors. </a:t>
            </a:r>
          </a:p>
          <a:p>
            <a:pPr marL="285750" indent="-285750">
              <a:buFont typeface="Arial" panose="020B0604020202020204" pitchFamily="34" charset="0"/>
              <a:buChar char="•"/>
            </a:pPr>
            <a:r>
              <a:rPr lang="en-IN" sz="1600" dirty="0">
                <a:solidFill>
                  <a:srgbClr val="E8ECF4"/>
                </a:solidFill>
                <a:latin typeface="Calibri"/>
              </a:rPr>
              <a:t>Infrastructure Monitoring using Azure Monitor to track App Service, Azure SQL Database, and Azure Storage performance metrics. </a:t>
            </a:r>
          </a:p>
          <a:p>
            <a:pPr marL="285750" indent="-285750">
              <a:buFont typeface="Arial" panose="020B0604020202020204" pitchFamily="34" charset="0"/>
              <a:buChar char="•"/>
            </a:pPr>
            <a:r>
              <a:rPr lang="en-IN" sz="1600" dirty="0">
                <a:solidFill>
                  <a:srgbClr val="E8ECF4"/>
                </a:solidFill>
                <a:latin typeface="Calibri"/>
              </a:rPr>
              <a:t>Security Audit Logging to record user authentication, authorization failures, RBAC access events, and suspicious activities for compliance and forensic analysis. </a:t>
            </a:r>
          </a:p>
          <a:p>
            <a:pPr marL="285750" indent="-285750">
              <a:buFont typeface="Arial" panose="020B0604020202020204" pitchFamily="34" charset="0"/>
              <a:buChar char="•"/>
            </a:pPr>
            <a:r>
              <a:rPr lang="en-IN" sz="1600" dirty="0">
                <a:solidFill>
                  <a:srgbClr val="E8ECF4"/>
                </a:solidFill>
                <a:latin typeface="Calibri"/>
              </a:rPr>
              <a:t>Alerting &amp; Notifications configured for critical events such as high error rates, application downtime, storage threshold breaches, and failed authentication attempts. </a:t>
            </a:r>
          </a:p>
          <a:p>
            <a:pPr marL="285750" indent="-285750">
              <a:buFont typeface="Arial" panose="020B0604020202020204" pitchFamily="34" charset="0"/>
              <a:buChar char="•"/>
            </a:pPr>
            <a:r>
              <a:rPr lang="en-IN" sz="1600" dirty="0">
                <a:solidFill>
                  <a:srgbClr val="E8ECF4"/>
                </a:solidFill>
                <a:latin typeface="Calibri"/>
              </a:rPr>
              <a:t>Distributed Request Tracing to track end-to-end transaction flow across UI, APIs, Azure Blob Storage, and Azure SQL Database for faster root cause analysis. </a:t>
            </a:r>
          </a:p>
          <a:p>
            <a:pPr marL="285750" indent="-285750">
              <a:buFont typeface="Arial" panose="020B0604020202020204" pitchFamily="34" charset="0"/>
              <a:buChar char="•"/>
            </a:pPr>
            <a:r>
              <a:rPr lang="en-IN" sz="1600" dirty="0">
                <a:solidFill>
                  <a:srgbClr val="E8ECF4"/>
                </a:solidFill>
                <a:latin typeface="Calibri"/>
              </a:rPr>
              <a:t>Log Analytics &amp; Dashboarding using Azure Monitor Workbooks and Log Analytics for operational insights, trend analysis, and capacity planning.</a:t>
            </a:r>
          </a:p>
          <a:p>
            <a:pPr algn="l">
              <a:lnSpc>
                <a:spcPct val="150000"/>
              </a:lnSpc>
            </a:pPr>
            <a:endParaRPr sz="1400" dirty="0">
              <a:solidFill>
                <a:srgbClr val="E8ECF4"/>
              </a:solidFill>
              <a:latin typeface="Calibri"/>
            </a:endParaRPr>
          </a:p>
        </p:txBody>
      </p:sp>
      <p:sp>
        <p:nvSpPr>
          <p:cNvPr id="6" name="TextBox 5"/>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20</a:t>
            </a:r>
          </a:p>
        </p:txBody>
      </p:sp>
      <p:sp>
        <p:nvSpPr>
          <p:cNvPr id="7" name="TextBox 6"/>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ight Triangle 3"/>
          <p:cNvSpPr/>
          <p:nvPr/>
        </p:nvSpPr>
        <p:spPr>
          <a:xfrm>
            <a:off x="6400800" y="0"/>
            <a:ext cx="5943600" cy="6858000"/>
          </a:xfrm>
          <a:prstGeom prst="rtTriangl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0"/>
            <a:ext cx="6400800" cy="1828800"/>
          </a:xfrm>
          <a:prstGeom prst="rect">
            <a:avLst/>
          </a:prstGeom>
          <a:noFill/>
        </p:spPr>
        <p:txBody>
          <a:bodyPr wrap="square" lIns="0" tIns="0" rIns="0" bIns="0" anchor="t">
            <a:spAutoFit/>
          </a:bodyPr>
          <a:lstStyle/>
          <a:p>
            <a:pPr algn="l">
              <a:lnSpc>
                <a:spcPct val="115000"/>
              </a:lnSpc>
            </a:pPr>
            <a:r>
              <a:rPr sz="6400" b="1">
                <a:solidFill>
                  <a:srgbClr val="FFFFFF"/>
                </a:solidFill>
                <a:latin typeface="Calibri"/>
              </a:rPr>
              <a:t>Thank you</a:t>
            </a:r>
          </a:p>
        </p:txBody>
      </p:sp>
      <p:sp>
        <p:nvSpPr>
          <p:cNvPr id="6" name="TextBox 5"/>
          <p:cNvSpPr txBox="1"/>
          <p:nvPr/>
        </p:nvSpPr>
        <p:spPr>
          <a:xfrm>
            <a:off x="731520" y="4023360"/>
            <a:ext cx="6400800" cy="266483"/>
          </a:xfrm>
          <a:prstGeom prst="rect">
            <a:avLst/>
          </a:prstGeom>
          <a:noFill/>
        </p:spPr>
        <p:txBody>
          <a:bodyPr wrap="square" lIns="0" tIns="0" rIns="0" bIns="0" anchor="t">
            <a:spAutoFit/>
          </a:bodyPr>
          <a:lstStyle/>
          <a:p>
            <a:pPr algn="l">
              <a:lnSpc>
                <a:spcPct val="115000"/>
              </a:lnSpc>
            </a:pPr>
            <a:r>
              <a:rPr lang="en-US" sz="1600" b="0" dirty="0">
                <a:solidFill>
                  <a:srgbClr val="E8ECF4"/>
                </a:solidFill>
                <a:latin typeface="Calibri"/>
              </a:rPr>
              <a:t>Shashi Shekhar </a:t>
            </a:r>
            <a:r>
              <a:rPr sz="1600" b="0" dirty="0">
                <a:solidFill>
                  <a:srgbClr val="E8ECF4"/>
                </a:solidFill>
                <a:latin typeface="Calibri"/>
              </a:rPr>
              <a:t>·  Technical Lead</a:t>
            </a:r>
          </a:p>
        </p:txBody>
      </p:sp>
      <p:sp>
        <p:nvSpPr>
          <p:cNvPr id="7" name="TextBox 6"/>
          <p:cNvSpPr txBox="1"/>
          <p:nvPr/>
        </p:nvSpPr>
        <p:spPr>
          <a:xfrm>
            <a:off x="731520" y="4480560"/>
            <a:ext cx="3466669" cy="233205"/>
          </a:xfrm>
          <a:prstGeom prst="rect">
            <a:avLst/>
          </a:prstGeom>
          <a:noFill/>
        </p:spPr>
        <p:txBody>
          <a:bodyPr wrap="square" lIns="0" tIns="0" rIns="0" bIns="0" anchor="t">
            <a:spAutoFit/>
          </a:bodyPr>
          <a:lstStyle/>
          <a:p>
            <a:pPr algn="l">
              <a:lnSpc>
                <a:spcPct val="115000"/>
              </a:lnSpc>
            </a:pPr>
            <a:r>
              <a:rPr lang="en-US" sz="1400" dirty="0">
                <a:solidFill>
                  <a:srgbClr val="B8C6E3"/>
                </a:solidFill>
                <a:latin typeface="Calibri"/>
              </a:rPr>
              <a:t>Shashi.Shekhar2</a:t>
            </a:r>
            <a:r>
              <a:rPr sz="1400" b="0" dirty="0">
                <a:solidFill>
                  <a:srgbClr val="B8C6E3"/>
                </a:solidFill>
                <a:latin typeface="Calibri"/>
              </a:rPr>
              <a:t>@cognizant.com</a:t>
            </a:r>
            <a:r>
              <a:rPr lang="en-US" sz="1400" b="0" dirty="0">
                <a:solidFill>
                  <a:srgbClr val="B8C6E3"/>
                </a:solidFill>
                <a:latin typeface="Calibri"/>
              </a:rPr>
              <a:t> </a:t>
            </a:r>
            <a:r>
              <a:rPr lang="en-IN" sz="1400" b="0" dirty="0">
                <a:solidFill>
                  <a:srgbClr val="B8C6E3"/>
                </a:solidFill>
                <a:latin typeface="Calibri"/>
              </a:rPr>
              <a:t>(2057793)</a:t>
            </a:r>
            <a:endParaRPr sz="1400" b="0" dirty="0">
              <a:solidFill>
                <a:srgbClr val="B8C6E3"/>
              </a:solidFill>
              <a:latin typeface="Calibri"/>
            </a:endParaRPr>
          </a:p>
        </p:txBody>
      </p:sp>
      <p:sp>
        <p:nvSpPr>
          <p:cNvPr id="8" name="TextBox 7"/>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26</a:t>
            </a:r>
          </a:p>
        </p:txBody>
      </p:sp>
      <p:sp>
        <p:nvSpPr>
          <p:cNvPr id="9" name="TextBox 8"/>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60C10A6240B1A4DB98310176FA9D86C" ma:contentTypeVersion="18" ma:contentTypeDescription="Create a new document." ma:contentTypeScope="" ma:versionID="760b7a26037ecb1d41fed66ae826f67f">
  <xsd:schema xmlns:xsd="http://www.w3.org/2001/XMLSchema" xmlns:xs="http://www.w3.org/2001/XMLSchema" xmlns:p="http://schemas.microsoft.com/office/2006/metadata/properties" xmlns:ns2="07219c1f-7b23-4481-a899-b2109f3b4f13" xmlns:ns3="7f3dbaaf-bdd2-4e22-941e-cdf59f830fb4" xmlns:ns4="3c35e321-f73a-4dae-ae38-a0459de24735" targetNamespace="http://schemas.microsoft.com/office/2006/metadata/properties" ma:root="true" ma:fieldsID="408ef9b91bdfea185f6fb2871211c7ce" ns2:_="" ns3:_="" ns4:_="">
    <xsd:import namespace="07219c1f-7b23-4481-a899-b2109f3b4f13"/>
    <xsd:import namespace="7f3dbaaf-bdd2-4e22-941e-cdf59f830fb4"/>
    <xsd:import namespace="3c35e321-f73a-4dae-ae38-a0459de2473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SearchPropertie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219c1f-7b23-4481-a899-b2109f3b4f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f3dbaaf-bdd2-4e22-941e-cdf59f830f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c35e321-f73a-4dae-ae38-a0459de24735"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36809012-9977-41cf-89e2-520e0a9f0248}" ma:internalName="TaxCatchAll" ma:showField="CatchAllData" ma:web="7f3dbaaf-bdd2-4e22-941e-cdf59f830f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7219c1f-7b23-4481-a899-b2109f3b4f13">
      <Terms xmlns="http://schemas.microsoft.com/office/infopath/2007/PartnerControls"/>
    </lcf76f155ced4ddcb4097134ff3c332f>
    <TaxCatchAll xmlns="3c35e321-f73a-4dae-ae38-a0459de24735" xsi:nil="true"/>
  </documentManagement>
</p:properties>
</file>

<file path=customXml/itemProps1.xml><?xml version="1.0" encoding="utf-8"?>
<ds:datastoreItem xmlns:ds="http://schemas.openxmlformats.org/officeDocument/2006/customXml" ds:itemID="{80A4934F-4671-48D3-B37D-EFB146A4B9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219c1f-7b23-4481-a899-b2109f3b4f13"/>
    <ds:schemaRef ds:uri="7f3dbaaf-bdd2-4e22-941e-cdf59f830fb4"/>
    <ds:schemaRef ds:uri="3c35e321-f73a-4dae-ae38-a0459de247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33CEEDE-684E-4542-95D4-7F8DEEFFFEDD}">
  <ds:schemaRefs>
    <ds:schemaRef ds:uri="http://schemas.microsoft.com/sharepoint/v3/contenttype/forms"/>
  </ds:schemaRefs>
</ds:datastoreItem>
</file>

<file path=customXml/itemProps3.xml><?xml version="1.0" encoding="utf-8"?>
<ds:datastoreItem xmlns:ds="http://schemas.openxmlformats.org/officeDocument/2006/customXml" ds:itemID="{77EF5969-CED1-431F-A153-EED19DE591CA}">
  <ds:schemaRefs>
    <ds:schemaRef ds:uri="http://schemas.microsoft.com/office/2006/metadata/properties"/>
    <ds:schemaRef ds:uri="http://schemas.microsoft.com/office/infopath/2007/PartnerControls"/>
    <ds:schemaRef ds:uri="07219c1f-7b23-4481-a899-b2109f3b4f13"/>
    <ds:schemaRef ds:uri="3c35e321-f73a-4dae-ae38-a0459de24735"/>
  </ds:schemaRefs>
</ds:datastoreItem>
</file>

<file path=docProps/app.xml><?xml version="1.0" encoding="utf-8"?>
<Properties xmlns="http://schemas.openxmlformats.org/officeDocument/2006/extended-properties" xmlns:vt="http://schemas.openxmlformats.org/officeDocument/2006/docPropsVTypes">
  <TotalTime>3714</TotalTime>
  <Words>2412</Words>
  <Application>Microsoft Office PowerPoint</Application>
  <PresentationFormat>Widescreen</PresentationFormat>
  <Paragraphs>188</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Shashi Shekhar</cp:lastModifiedBy>
  <cp:revision>41</cp:revision>
  <dcterms:created xsi:type="dcterms:W3CDTF">2013-01-27T09:14:16Z</dcterms:created>
  <dcterms:modified xsi:type="dcterms:W3CDTF">2026-06-17T21:33:58Z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0x010100560C10A6240B1A4DB98310176FA9D86C</vt:lpwstr>
  </property>
  <property fmtid="{D5CDD505-2E9C-101B-9397-08002B2CF9AE}" pid="3" name="MediaServiceImageTags">
    <vt:lpwstr/>
  </property>
</Properties>
</file>